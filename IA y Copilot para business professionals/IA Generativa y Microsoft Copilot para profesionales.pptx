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media/image21.svg" ContentType="image/svg"/>
  <Override PartName="/ppt/notesSlides/notesSlide7.xml" ContentType="application/vnd.openxmlformats-officedocument.presentationml.notesSlide+xml"/>
  <Override PartName="/ppt/media/image23.svg" ContentType="image/svg"/>
  <Override PartName="/ppt/media/image24.svg" ContentType="image/svg"/>
  <Override PartName="/ppt/media/image25.svg" ContentType="image/svg"/>
  <Override PartName="/ppt/media/image26.svg" ContentType="image/svg"/>
  <Override PartName="/ppt/media/image27.svg" ContentType="image/svg"/>
  <Override PartName="/ppt/media/image28.svg" ContentType="image/svg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5"/>
  </p:notesMasterIdLst>
  <p:sldIdLst>
    <p:sldId id="257" r:id="rId2"/>
    <p:sldId id="296" r:id="rId3"/>
    <p:sldId id="2147479800" r:id="rId4"/>
    <p:sldId id="279" r:id="rId5"/>
    <p:sldId id="260" r:id="rId6"/>
    <p:sldId id="2147479801" r:id="rId7"/>
    <p:sldId id="2147479802" r:id="rId8"/>
    <p:sldId id="2147482585" r:id="rId9"/>
    <p:sldId id="2147482588" r:id="rId10"/>
    <p:sldId id="2147482608" r:id="rId11"/>
    <p:sldId id="2147482589" r:id="rId12"/>
    <p:sldId id="2147478584" r:id="rId13"/>
    <p:sldId id="2147482609" r:id="rId14"/>
    <p:sldId id="2147479900" r:id="rId15"/>
    <p:sldId id="2147482596" r:id="rId16"/>
    <p:sldId id="2147482610" r:id="rId17"/>
    <p:sldId id="2147482590" r:id="rId18"/>
    <p:sldId id="2147482613" r:id="rId19"/>
    <p:sldId id="2147482600" r:id="rId20"/>
    <p:sldId id="2147482611" r:id="rId21"/>
    <p:sldId id="2147482614" r:id="rId22"/>
    <p:sldId id="2147482623" r:id="rId23"/>
    <p:sldId id="2147482619" r:id="rId24"/>
    <p:sldId id="2147482621" r:id="rId25"/>
    <p:sldId id="2147482620" r:id="rId26"/>
    <p:sldId id="2147482630" r:id="rId27"/>
    <p:sldId id="2147482631" r:id="rId28"/>
    <p:sldId id="2147482602" r:id="rId29"/>
    <p:sldId id="2147482592" r:id="rId30"/>
    <p:sldId id="288" r:id="rId31"/>
    <p:sldId id="2147482624" r:id="rId32"/>
    <p:sldId id="2147482591" r:id="rId33"/>
    <p:sldId id="2147482626" r:id="rId34"/>
    <p:sldId id="2147482612" r:id="rId35"/>
    <p:sldId id="2147482580" r:id="rId36"/>
    <p:sldId id="2147482601" r:id="rId37"/>
    <p:sldId id="2147482627" r:id="rId38"/>
    <p:sldId id="2147482628" r:id="rId39"/>
    <p:sldId id="294" r:id="rId40"/>
    <p:sldId id="2147482629" r:id="rId41"/>
    <p:sldId id="2147482603" r:id="rId42"/>
    <p:sldId id="2147482594" r:id="rId43"/>
    <p:sldId id="2147482595" r:id="rId44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D965D6C3-B9FA-4D3D-A351-6EFDCF75DBDD}">
          <p14:sldIdLst>
            <p14:sldId id="257"/>
            <p14:sldId id="296"/>
            <p14:sldId id="2147479800"/>
            <p14:sldId id="279"/>
          </p14:sldIdLst>
        </p14:section>
        <p14:section name="Intro a la IA generativa" id="{CD5E760E-D8FC-468C-B0AE-61EA21FEC47C}">
          <p14:sldIdLst>
            <p14:sldId id="260"/>
            <p14:sldId id="2147479801"/>
            <p14:sldId id="2147479802"/>
            <p14:sldId id="2147482585"/>
            <p14:sldId id="2147482588"/>
            <p14:sldId id="2147482608"/>
          </p14:sldIdLst>
        </p14:section>
        <p14:section name="M365 Copilot en acción" id="{00654798-0F2F-4D3B-ADA8-8EEF679E1C1B}">
          <p14:sldIdLst>
            <p14:sldId id="2147482589"/>
            <p14:sldId id="2147478584"/>
            <p14:sldId id="2147482609"/>
            <p14:sldId id="2147479900"/>
            <p14:sldId id="2147482596"/>
            <p14:sldId id="2147482610"/>
            <p14:sldId id="2147482590"/>
            <p14:sldId id="2147482613"/>
          </p14:sldIdLst>
        </p14:section>
        <p14:section name="El arte del prompting" id="{FC0D8D8F-B082-450B-8DC0-2F8F36D93C91}">
          <p14:sldIdLst>
            <p14:sldId id="2147482600"/>
            <p14:sldId id="2147482611"/>
            <p14:sldId id="2147482614"/>
            <p14:sldId id="2147482623"/>
            <p14:sldId id="2147482619"/>
            <p14:sldId id="2147482621"/>
            <p14:sldId id="2147482620"/>
            <p14:sldId id="2147482630"/>
            <p14:sldId id="2147482631"/>
            <p14:sldId id="2147482602"/>
          </p14:sldIdLst>
        </p14:section>
        <p14:section name="Multimodalidad en Copilot" id="{DB9E9850-0663-4545-B8AE-0B586BFA96C6}">
          <p14:sldIdLst>
            <p14:sldId id="2147482592"/>
            <p14:sldId id="288"/>
            <p14:sldId id="2147482624"/>
            <p14:sldId id="2147482591"/>
            <p14:sldId id="2147482626"/>
            <p14:sldId id="2147482612"/>
            <p14:sldId id="2147482580"/>
          </p14:sldIdLst>
        </p14:section>
        <p14:section name="Ética en el uso de la IA" id="{68B4B143-5D06-4580-93C2-C5D3DBC4A745}">
          <p14:sldIdLst>
            <p14:sldId id="2147482601"/>
            <p14:sldId id="2147482627"/>
            <p14:sldId id="2147482628"/>
            <p14:sldId id="294"/>
            <p14:sldId id="2147482629"/>
            <p14:sldId id="2147482603"/>
          </p14:sldIdLst>
        </p14:section>
        <p14:section name="Conclusion" id="{22929847-2A6F-4E17-8B5E-2D61DB933FC9}">
          <p14:sldIdLst>
            <p14:sldId id="2147482594"/>
            <p14:sldId id="21474825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150D5"/>
    <a:srgbClr val="EC55A0"/>
    <a:srgbClr val="7C3AED"/>
    <a:srgbClr val="3B82F6"/>
    <a:srgbClr val="0D9488"/>
    <a:srgbClr val="109C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00" autoAdjust="0"/>
    <p:restoredTop sz="82378" autoAdjust="0"/>
  </p:normalViewPr>
  <p:slideViewPr>
    <p:cSldViewPr snapToGrid="0">
      <p:cViewPr varScale="1">
        <p:scale>
          <a:sx n="127" d="100"/>
          <a:sy n="127" d="100"/>
        </p:scale>
        <p:origin x="1104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9A21E6-DD49-4AD4-A49B-C63125EF9D72}" type="datetimeFigureOut">
              <a:rPr lang="es-ES" smtClean="0"/>
              <a:t>07/06/2026</a:t>
            </a:fld>
            <a:endParaRPr lang="es-E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DE7C20-BC88-45D6-B320-F3AF01C8D59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2537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izeth/Labs/blob/main/IA%20y%20Copilot%20para%20business%20professionals/Lab%201%3A%20Primeros%20pasos%20con%20Microsoft%20365%20Copilot%20Chat.md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izeth/Labs/blob/main/IA%20y%20Copilot%20para%20business%20professionals/Lab%202%3A%20Creaci%C3%B3n%20de%20prompts%20efectivos%20con%20el%20marco%20RCTF.md" TargetMode="External"/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izeth/Labs/blob/main/IA%20y%20Copilot%20para%20business%20professionals/Lab%203%3A%20Crea%20contenido%20multimedia%20con%20%E2%80%9CCreate%E2%80%9D%20en%20Microsoft%20365%20Copilot%20Chat.md" TargetMode="External"/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izeth/Labs/blob/main/IA%20y%20Copilot%20para%20business%20professionals/Lab%204%3A%20%C3%89tica%20en%20la%20IA.md" TargetMode="External"/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Diapositiva de espera mientras se incorporan los participantes.</a:t>
            </a:r>
          </a:p>
          <a:p>
            <a:r>
              <a:rPr lang="es-ES"/>
              <a:t>Dar la bienvenida y confirmar que el curso trata sobre IA generativa y Microsoft Copilot para profesionales.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AE7D9C-7997-4B0E-99F1-D84FA7029492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55861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Presentación de la formadora: Carmela Quijano, Microsoft </a:t>
            </a:r>
            <a:r>
              <a:rPr lang="es-ES" dirty="0" err="1"/>
              <a:t>Certified</a:t>
            </a:r>
            <a:r>
              <a:rPr lang="es-ES" dirty="0"/>
              <a:t> Trainer.</a:t>
            </a:r>
          </a:p>
          <a:p>
            <a:r>
              <a:rPr lang="es-ES" dirty="0"/>
              <a:t>Más de 10 años de experiencia en formación en Power BI, Power </a:t>
            </a:r>
            <a:r>
              <a:rPr lang="es-ES" dirty="0" err="1"/>
              <a:t>Platform</a:t>
            </a:r>
            <a:r>
              <a:rPr lang="es-ES" dirty="0"/>
              <a:t>, </a:t>
            </a:r>
            <a:r>
              <a:rPr lang="es-ES" dirty="0" err="1"/>
              <a:t>Fabric</a:t>
            </a:r>
            <a:r>
              <a:rPr lang="es-ES" dirty="0"/>
              <a:t> y Azure.</a:t>
            </a:r>
          </a:p>
          <a:p>
            <a:r>
              <a:rPr lang="es-ES" dirty="0"/>
              <a:t>Especializada en datos: IA, data </a:t>
            </a:r>
            <a:r>
              <a:rPr lang="es-ES" dirty="0" err="1"/>
              <a:t>science</a:t>
            </a:r>
            <a:r>
              <a:rPr lang="es-ES" dirty="0"/>
              <a:t> y BI.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5F84DE-91BD-4FF3-806C-425FEE8B7025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017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Repasar horarios y descansos previstos.</a:t>
            </a:r>
          </a:p>
          <a:p>
            <a:r>
              <a:rPr lang="es-ES"/>
              <a:t>Recordar la etiqueta virtual: cámaras, micrófonos y cómo hacer preguntas.</a:t>
            </a:r>
          </a:p>
          <a:p>
            <a:r>
              <a:rPr lang="es-ES"/>
              <a:t>Mencionar la encuesta final de satisfacción, la estructura del curso y los recursos disponibles.</a:t>
            </a:r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97203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Presentar los cinco bloques del curso:</a:t>
            </a:r>
          </a:p>
          <a:p>
            <a:r>
              <a:rPr lang="es-ES"/>
              <a:t>1) Introducción a la IA generativa. 2) Microsoft 365 Copilot en acción. 3) El arte del prompting. 4) Multimodalidad en la IA. 5) Ética en el uso de la IA.</a:t>
            </a:r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482198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Transición al primer bloque: Introducción a la IA generativa.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E5671BD-0411-45FF-8531-FDACC0C9F18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6153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Definir IA como el conjunto de técnicas que imitan capacidades humanas: comprender lenguaje, ver imágenes, razonar y decidir.</a:t>
            </a:r>
          </a:p>
          <a:p>
            <a:r>
              <a:rPr lang="es-ES"/>
              <a:t>Explicar el ciclo de aprendizaje automático en cuatro pasos: 1) aprende de los datos, 2) crea un modelo, 3) responde en contexto, 4) mejora continuamente con uso y supervisión humana.</a:t>
            </a:r>
          </a:p>
          <a:p>
            <a:r>
              <a:rPr lang="es-ES"/>
              <a:t>Mensaje clave para los alumnos: la IA no "piensa", reconoce patrones estadísticos en grandes volúmenes de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6</a:t>
            </a:fld>
            <a:endParaRPr lang="es-E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AJUSTAR: Imágenes de qué se puede crear con IAG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85407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Tres </a:t>
            </a:r>
            <a:r>
              <a:rPr lang="es-ES" dirty="0"/>
              <a:t>grandes áreas </a:t>
            </a:r>
            <a:r>
              <a:rPr lang="es-ES"/>
              <a:t>profesionales</a:t>
            </a:r>
            <a:r>
              <a:rPr lang="es-ES" dirty="0"/>
              <a:t>: </a:t>
            </a:r>
            <a:r>
              <a:rPr lang="es-ES"/>
              <a:t>documentación (informes, emails, resúmenes), análisis (</a:t>
            </a:r>
            <a:r>
              <a:rPr lang="es-ES" dirty="0"/>
              <a:t>datos</a:t>
            </a:r>
            <a:r>
              <a:rPr lang="es-ES"/>
              <a:t>, gráficos, tendencias) y comunicación (traducción, </a:t>
            </a:r>
            <a:r>
              <a:rPr lang="es-ES" dirty="0"/>
              <a:t>tono </a:t>
            </a:r>
            <a:r>
              <a:rPr lang="es-ES"/>
              <a:t>adaptado</a:t>
            </a:r>
            <a:r>
              <a:rPr lang="es-ES" dirty="0"/>
              <a:t>, </a:t>
            </a:r>
            <a:r>
              <a:rPr lang="es-ES"/>
              <a:t>FAQs).</a:t>
            </a:r>
            <a:endParaRPr lang="es-ES" dirty="0"/>
          </a:p>
          <a:p>
            <a:r>
              <a:rPr lang="es-ES"/>
              <a:t>Preguntar</a:t>
            </a:r>
            <a:r>
              <a:rPr lang="es-ES" dirty="0"/>
              <a:t>: ¿</a:t>
            </a:r>
            <a:r>
              <a:rPr lang="es-ES"/>
              <a:t>en</a:t>
            </a:r>
            <a:r>
              <a:rPr lang="es-ES" dirty="0"/>
              <a:t> cuál de estas tres áreas perdéis más tiempo actualmente?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369BF-AAC2-935B-969F-1640B11F8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DF078B-068D-55B0-2693-A7AC22744E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DFF8B-DAA0-875C-EE75-2CE2F4A251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Cuatro áreas adicionales: marketing (posts, </a:t>
            </a:r>
            <a:r>
              <a:rPr lang="es-ES" dirty="0" err="1"/>
              <a:t>copys</a:t>
            </a:r>
            <a:r>
              <a:rPr lang="es-ES" dirty="0"/>
              <a:t>), RRHH (ofertas, onboarding), operaciones (automatización) y formación (material educativo).</a:t>
            </a:r>
          </a:p>
          <a:p>
            <a:r>
              <a:rPr lang="es-ES" dirty="0"/>
              <a:t>Mensaje clave: la IA no reemplaza al profesional, amplifica su capacidad.</a:t>
            </a:r>
          </a:p>
          <a:p>
            <a:endParaRPr lang="es-ES" dirty="0"/>
          </a:p>
          <a:p>
            <a:r>
              <a:rPr lang="es-ES" dirty="0"/>
              <a:t>Tabla: https://www.anthropic.com/research/labor-market-impacts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139EBF-F066-45E6-8E66-8269331735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8806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Comparar Shadow AI (herramientas no autorizadas) frente a Copilot empresarial.</a:t>
            </a:r>
          </a:p>
          <a:p>
            <a:r>
              <a:rPr lang="es-ES"/>
              <a:t>Riesgos de Shadow AI: fuga de datos, sin cumplimiento legal, datos que entrenan modelos externos.</a:t>
            </a:r>
          </a:p>
          <a:p>
            <a:r>
              <a:rPr lang="es-ES"/>
              <a:t>Copilot: datos seguros en tu entorno, cumple GDPR, control total para TI y tus datos nunca entrenan el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398065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Transición al segundo bloque: Microsoft 365 Copilot en acción.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B9107C-3FFB-44DE-9448-B3AEC06E96D5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23789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6179C-626E-B8BE-845D-2C9185562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B9AA94-336A-DB25-4E82-A8EABC5550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04EF0E-3C0B-084A-18DC-64E8187BFA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Diferenciar Copilot Chat (gratuito, chat web con IA) de Microsoft 365 Copilot (asistente completo integrado en apps M365).</a:t>
            </a:r>
          </a:p>
          <a:p>
            <a:r>
              <a:rPr lang="es-ES"/>
              <a:t>Copilot Chat: chat seguro con últimos modelos, agentes de pago por uso y controles de TI.</a:t>
            </a:r>
          </a:p>
          <a:p>
            <a:r>
              <a:rPr lang="es-ES"/>
              <a:t>M365 Copilot: todo lo anterior más chat fundamentado en datos de trabajo, agentes sin pago por consumo, Copilot en todas las apps y herramientas de administración avanzadas.</a:t>
            </a:r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E918389A-174A-E1C0-B7A5-EB38DA62AAEA}"/>
              </a:ext>
            </a:extLst>
          </p:cNvPr>
          <p:cNvSpPr>
            <a:spLocks noGrp="1"/>
          </p:cNvSpPr>
          <p:nvPr>
            <p:ph type="hdr" sz="quarter" idx="6"/>
          </p:nvPr>
        </p:nvSpPr>
        <p:spPr/>
        <p:txBody>
          <a:bodyPr/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Sans Text" pitchFamily="2" charset="0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0394C-1BE6-7872-5367-012C1AC39EA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571500" marR="0" lvl="0" indent="0" algn="l" defTabSz="914099" rtl="0" eaLnBrk="0" fontAlgn="auto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400" b="0" i="0" strike="noStrike" cap="none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/>
                  <a:tileRect l="-100000" t="-100000"/>
                </a:gradFill>
                <a:effectLst/>
                <a:latin typeface="Segoe Sans Text"/>
                <a:ea typeface="Segoe Sans Text"/>
                <a:cs typeface="Segoe Sans Text"/>
              </a:rPr>
              <a:t>© Microsoft Corporation. Todos los derechos reservados. MICROSOFT NO OFRECE NINGUNA GARANTÍA, YA SEA EXPRESA, IMPLÍCITA O REGLAMENTARIA, RESPECTO A LA INFORMACIÓN DE ESTA PRESENTACIÓN.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61AFA84-1788-3EF7-96EF-E6446BDF0E5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r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7DB6565-EEE0-442A-8DC8-09FA435478BA}" type="datetime8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Sans Text" pitchFamily="2" charset="0"/>
                <a:ea typeface="+mn-ea"/>
                <a:cs typeface="+mn-cs"/>
              </a:rPr>
              <a:pPr marL="0" marR="0" lvl="0" indent="0" algn="r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6/7/2026 8:12 PM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Sans Text" pitchFamily="2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8F8C78-70C5-9DFE-A47B-E3F62797B1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4008EB6-D09E-4580-8CD6-DDB1451194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Sans Text" pitchFamily="2" charset="0"/>
                <a:ea typeface="+mn-ea"/>
                <a:cs typeface="+mn-cs"/>
              </a:rPr>
              <a:pPr marL="0" marR="0" lvl="0" indent="0" algn="r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Sans Text" pitchFamily="2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25982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Repasar el cuadro comparativo entre la versión básica (gratuita) y la versión con licencia de Microsoft 365 Copilot.</a:t>
            </a:r>
          </a:p>
          <a:p>
            <a:r>
              <a:rPr lang="es-ES"/>
              <a:t>Versión básica: chat web con los últimos LLM, búsqueda en la web, carga de archivos, generación de imágenes y contenido, agentes de pago por uso y protección de datos empresariales.</a:t>
            </a:r>
          </a:p>
          <a:p>
            <a:r>
              <a:rPr lang="es-ES"/>
              <a:t>Versión con licencia: todo lo anterior más chat fundamentado en los datos de la organización, Copilot integrado en Word, Excel, PowerPoint, Outlook y Teams, agentes sin pago por consumo y administración y análisis avanzados.</a:t>
            </a:r>
          </a:p>
          <a:p>
            <a:r>
              <a:rPr lang="es-ES"/>
              <a:t>Advertir: algunas funcionalidades pueden estar restringidas según la política de seguridad de cada organización.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13</a:t>
            </a:fld>
            <a:endParaRPr lang="es-E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Dos formas de acceder a Copilot Chat en web: directamente en m365.cloud.microsoft o desde el icono de Copilot en Microsoft Edge.</a:t>
            </a:r>
          </a:p>
          <a:p>
            <a:r>
              <a:rPr lang="es-ES"/>
              <a:t>Iniciar sesión con la cuenta profesional.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s-ES" sz="400" b="0" i="0" strike="noStrike" cap="none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/>
                  <a:tileRect l="-100000" t="-100000"/>
                </a:gradFill>
                <a:effectLst/>
                <a:latin typeface="Segoe UI"/>
                <a:ea typeface="Segoe UI"/>
                <a:cs typeface="Segoe UI"/>
              </a:rPr>
              <a:t>© Microsoft Corporation. Todos los derechos reservados. MICROSOFT NO OFRECE NINGUNA GARANTÍA, EXPRESA, IMPLÍCITA O REGLAMENTARIA, RESPECTO A LA INFORMACIÓN DE ESTA PRESENTACIÓN.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486BA7-839C-4D2B-BD52-EF0BBA8433FD}" type="datetime8">
              <a:rPr lang="en-US" smtClean="0"/>
              <a:t>6/7/2026 8:12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6017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Acceso desde escritorio (Teams o app Microsoft 365 en Windows/macOS) y desde móvil (app Microsoft 365 Copilot en iOS/Android).</a:t>
            </a:r>
          </a:p>
          <a:p>
            <a:r>
              <a:rPr lang="es-ES"/>
              <a:t>La experiencia es la misma en todas las plataformas.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256F82A-437E-42E5-B08A-AE2E32932C84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407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Recorrer la interfaz de Copilot Chat por zonas: menú de agentes, botón de nuevo chat, historial de conversaciones, cuadro de prompt, dictado, añadir contenido (archivos e imágenes), galería de prompts, prompts sugeridos y páginas de Copilot.</a:t>
            </a:r>
          </a:p>
          <a:p>
            <a:r>
              <a:rPr lang="es-ES"/>
              <a:t>Sugerencia didáctica: hacer una demo en vivo abriendo Copilot Chat y señalando cada elemento sobre la pantalla.</a:t>
            </a:r>
          </a:p>
          <a:p>
            <a:r>
              <a:rPr lang="es-ES"/>
              <a:t>Animar a los alumnos a explorar la galería de prompts y a guardar los suyos para reutilizarlos.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16</a:t>
            </a:fld>
            <a:endParaRPr lang="es-E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48539-FE48-2AC9-C805-EDBCBF13C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626CB2-34C2-02A7-A55F-A6F65ECFF0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76EF7E-742D-B013-44CB-53F0EA0E69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hlinkClick r:id="rId3"/>
              </a:rPr>
              <a:t>Labs/IA y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para </a:t>
            </a:r>
            <a:r>
              <a:rPr lang="es-ES" dirty="0" err="1">
                <a:hlinkClick r:id="rId3"/>
              </a:rPr>
              <a:t>business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professionals</a:t>
            </a:r>
            <a:r>
              <a:rPr lang="es-ES" dirty="0">
                <a:hlinkClick r:id="rId3"/>
              </a:rPr>
              <a:t>/Lab 1: Primeros pasos con Microsoft 365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Chat.md at </a:t>
            </a:r>
            <a:r>
              <a:rPr lang="es-ES" dirty="0" err="1">
                <a:hlinkClick r:id="rId3"/>
              </a:rPr>
              <a:t>main</a:t>
            </a:r>
            <a:r>
              <a:rPr lang="es-ES" dirty="0">
                <a:hlinkClick r:id="rId3"/>
              </a:rPr>
              <a:t> · </a:t>
            </a:r>
            <a:r>
              <a:rPr lang="es-ES" dirty="0" err="1">
                <a:hlinkClick r:id="rId3"/>
              </a:rPr>
              <a:t>quizeth</a:t>
            </a:r>
            <a:r>
              <a:rPr lang="es-ES" dirty="0">
                <a:hlinkClick r:id="rId3"/>
              </a:rPr>
              <a:t>/Labs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6A42B5-73E9-9667-40A0-D40FC798D2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4190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Capacidades reservadas a los usuarios con licencia Microsoft 365 Copilot: Agentes (sin pago por uso) y Work mode (chat fundamentado en los datos de la organización).</a:t>
            </a:r>
          </a:p>
          <a:p>
            <a:r>
              <a:rPr lang="es-ES"/>
              <a:t>Agentes: asistentes especializados que combinan LLM, instrucciones, conocimiento y acciones para resolver tareas concretas. Pueden venir del marketplace de Microsoft, crearse con Copilot Studio o ser publicados por TI.</a:t>
            </a:r>
          </a:p>
          <a:p>
            <a:r>
              <a:rPr lang="es-ES"/>
              <a:t>Work mode: acceso a correos, archivos, chats y reuniones a través de Microsoft Graph, páginas de Copilot para colaborar en tiempo real y Copilot integrado en Word, Excel, PowerPoint y Outlook.</a:t>
            </a:r>
          </a:p>
          <a:p>
            <a:r>
              <a:rPr lang="es-ES"/>
              <a:t>Recordar: todas estas capacidades respetan los permisos existentes de cada usuario en Microsoft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18</a:t>
            </a:fld>
            <a:endParaRPr lang="es-E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Transición al tercer bloque: El arte del </a:t>
            </a:r>
            <a:r>
              <a:rPr lang="es-ES" dirty="0" err="1"/>
              <a:t>prompting</a:t>
            </a:r>
            <a:r>
              <a:rPr lang="es-E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E79DC54-3EA6-4423-976D-0AB4DA0D8698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24830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Definir prompt como la entrada que damos al LLM: una pregunta, un comando o incluso un comentario informal para iniciar una conversación.</a:t>
            </a:r>
          </a:p>
          <a:p>
            <a:r>
              <a:rPr lang="es-ES"/>
              <a:t>Diferenciar dos tipos: prompts de sistema, que fijan el comportamiento, el tono y las restricciones del modelo, y prompts de usuario, que son la consulta concreta.</a:t>
            </a:r>
          </a:p>
          <a:p>
            <a:r>
              <a:rPr lang="es-ES"/>
              <a:t>Recorrer los ejemplos en pantalla para mostrar la diferencia entre uno y otro.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20</a:t>
            </a:fld>
            <a:endParaRPr lang="es-E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Tres palancas para personalizar Copilot sin tener que repetir el contexto en cada prompt:</a:t>
            </a:r>
          </a:p>
          <a:p>
            <a:r>
              <a:rPr lang="es-ES"/>
              <a:t>1) Instrucciones personalizadas: definen tono, formato, idioma y reglas de comportamiento que se aplican en segundo plano en cada conversación.</a:t>
            </a:r>
          </a:p>
          <a:p>
            <a:r>
              <a:rPr lang="es-ES"/>
              <a:t>2) Perfil de trabajo: contexto organizacional (rol, departamento, área de expertise) que Copilot usa para adaptar las respuestas.</a:t>
            </a:r>
          </a:p>
          <a:p>
            <a:r>
              <a:rPr lang="es-ES"/>
              <a:t>3) Recuerdos guardados: datos y hechos que Copilot recuerda entre conversaciones, como proyectos activos o preferencias.</a:t>
            </a:r>
          </a:p>
          <a:p>
            <a:r>
              <a:rPr lang="es-ES"/>
              <a:t>Ruta para los alumnos: Configuración → Personalización → Instrucciones personalizadas.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21</a:t>
            </a:fld>
            <a:endParaRPr lang="es-E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Explicar cómo Copilot mantiene el contexto turno a turno dentro de una misma conversación: prompt del usuario, contexto resumido del historial reciente, generación combinando ambos y respuesta que se añade al historial.</a:t>
            </a:r>
          </a:p>
          <a:p>
            <a:r>
              <a:rPr lang="es-ES"/>
              <a:t>Contexto entre sesiones: las conversaciones se guardan hasta 18 meses y se pueden retomar, renombrar o eliminar desde el panel lateral.</a:t>
            </a:r>
          </a:p>
          <a:p>
            <a:r>
              <a:rPr lang="es-ES"/>
              <a:t>Recomendación práctica: abrir un nuevo chat cuando se cambia de tema para no contaminar el contexto con conversaciones anteriores.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22</a:t>
            </a:fld>
            <a:endParaRPr lang="es-E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Presentar el framework RCTF como receta básica para construir un buen prompt: Rol, Contexto, Tarea, Formato.</a:t>
            </a:r>
          </a:p>
          <a:p>
            <a:r>
              <a:rPr lang="es-ES"/>
              <a:t>Rol: qué papel debe asumir la IA (analista, redactor, formador, etc.).</a:t>
            </a:r>
          </a:p>
          <a:p>
            <a:r>
              <a:rPr lang="es-ES"/>
              <a:t>Contexto: por qué lo necesitamos y quién está implicado.</a:t>
            </a:r>
          </a:p>
          <a:p>
            <a:r>
              <a:rPr lang="es-ES"/>
              <a:t>Tarea: qué queremos exactamente que haga.</a:t>
            </a:r>
          </a:p>
          <a:p>
            <a:r>
              <a:rPr lang="es-ES"/>
              <a:t>Formato: cómo debe entregar la respuesta (extensión, tono, estructura).</a:t>
            </a:r>
          </a:p>
          <a:p>
            <a:r>
              <a:rPr lang="es-ES"/>
              <a:t>Recorrer el ejemplo de inteligencia competitiva sobre Contoso para identificar cada componente.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23</a:t>
            </a:fld>
            <a:endParaRPr lang="es-E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Recorrer las buenas prácticas: ser claro y específico, proporcionar ejemplos y detalles, hacerlo ameno y cercano, ser cortés, escribir de forma legible, pedir comentarios, verificar la precisión e iterar y refinar.</a:t>
            </a:r>
          </a:p>
          <a:p>
            <a:r>
              <a:rPr lang="es-ES"/>
              <a:t>Recorrer las prácticas a evitar: ser impreciso, abusar de la jerga, solicitar contenido inapropiado o poco ético, dar instrucciones contradictorias y cambiar de tema bruscamente.</a:t>
            </a:r>
          </a:p>
          <a:p>
            <a:r>
              <a:rPr lang="es-ES"/>
              <a:t>Idea para reforzar con los alumnos: tratar la primera respuesta como un borrador, no como un resultado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24</a:t>
            </a:fld>
            <a:endParaRPr lang="es-E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Definir superprompt: prompt denso con múltiples instrucciones en un solo mensaje que incluye rol, contexto, formato, ejemplos y restricciones.</a:t>
            </a:r>
          </a:p>
          <a:p>
            <a:r>
              <a:rPr lang="es-ES"/>
              <a:t>Ideal para tareas complejas donde queremos un buen resultado a la primera y reducir la necesidad de iterar.</a:t>
            </a:r>
          </a:p>
          <a:p>
            <a:r>
              <a:rPr lang="es-ES"/>
              <a:t>Recorrer el ejemplo de campaña de café sostenible e identificar cómo aparecen los cuatro componentes del marco RCTF.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25</a:t>
            </a:fld>
            <a:endParaRPr lang="es-E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Definir Chain of Thoughts: técnica que pide al modelo razonar "paso a paso" antes de dar una respuesta.</a:t>
            </a:r>
          </a:p>
          <a:p>
            <a:r>
              <a:rPr lang="es-ES"/>
              <a:t>Útil en razonamiento lógico, matemático o en decisiones con varias variables, porque reduce errores en problemas multi-paso y hace visible el proceso de razonamiento.</a:t>
            </a:r>
          </a:p>
          <a:p>
            <a:r>
              <a:rPr lang="es-ES"/>
              <a:t>Recorrer el ejemplo de comparación de tres proveedores y mostrar cómo el modelo explicita coste, plazo y riesgo antes de la recomendación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26</a:t>
            </a:fld>
            <a:endParaRPr lang="es-E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Comparativa rápida: Superprompts maximizan la precisión del resultado final mediante instrucciones densas; Chain of Thoughts mejora la calidad del razonamiento haciéndolo explícito.</a:t>
            </a:r>
          </a:p>
          <a:p>
            <a:r>
              <a:rPr lang="es-ES"/>
              <a:t>Cuándo usar cada uno: Superprompts para creación de contenido y tareas estructuradas; Chain of Thoughts para lógica, matemáticas y toma de decisiones.</a:t>
            </a:r>
          </a:p>
          <a:p>
            <a:r>
              <a:rPr lang="es-ES"/>
              <a:t>Mencionar que existen más técnicas (Few-shot, Zero-shot, Role Prompting, Self-Consistency, Tree of Thoughts, ReAct) que los alumnos pueden explorar después del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27</a:t>
            </a:fld>
            <a:endParaRPr lang="es-E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891E1-8573-1AE3-69E8-96FB07583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37EFCF-5687-CAFC-8F1D-633F9C958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FE93E7-7F33-EB0B-6619-79DEBC4CC3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hlinkClick r:id="rId3"/>
              </a:rPr>
              <a:t>Labs/IA y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para </a:t>
            </a:r>
            <a:r>
              <a:rPr lang="es-ES" dirty="0" err="1">
                <a:hlinkClick r:id="rId3"/>
              </a:rPr>
              <a:t>business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professionals</a:t>
            </a:r>
            <a:r>
              <a:rPr lang="es-ES" dirty="0">
                <a:hlinkClick r:id="rId3"/>
              </a:rPr>
              <a:t>/Lab 2: Creación de </a:t>
            </a:r>
            <a:r>
              <a:rPr lang="es-ES" dirty="0" err="1">
                <a:hlinkClick r:id="rId3"/>
              </a:rPr>
              <a:t>prompts</a:t>
            </a:r>
            <a:r>
              <a:rPr lang="es-ES" dirty="0">
                <a:hlinkClick r:id="rId3"/>
              </a:rPr>
              <a:t> efectivos con el marco RCTF.md at </a:t>
            </a:r>
            <a:r>
              <a:rPr lang="es-ES" dirty="0" err="1">
                <a:hlinkClick r:id="rId3"/>
              </a:rPr>
              <a:t>main</a:t>
            </a:r>
            <a:r>
              <a:rPr lang="es-ES" dirty="0">
                <a:hlinkClick r:id="rId3"/>
              </a:rPr>
              <a:t> · </a:t>
            </a:r>
            <a:r>
              <a:rPr lang="es-ES" dirty="0" err="1">
                <a:hlinkClick r:id="rId3"/>
              </a:rPr>
              <a:t>quizeth</a:t>
            </a:r>
            <a:r>
              <a:rPr lang="es-ES" dirty="0">
                <a:hlinkClick r:id="rId3"/>
              </a:rPr>
              <a:t>/Labs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63E37B-B87A-2682-B318-E59E980F0C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63258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Transición al cuarto bloque: Multimodalidad en la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DD86BD-3A4F-48A1-8617-F761F6AC5B46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9776838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Tres pilares del contenido multimodal: texto (informes, traducciones), imágenes y video (Microsoft </a:t>
            </a:r>
            <a:r>
              <a:rPr lang="es-ES" dirty="0" err="1"/>
              <a:t>Designer</a:t>
            </a:r>
            <a:r>
              <a:rPr lang="es-ES" dirty="0"/>
              <a:t> y </a:t>
            </a:r>
            <a:r>
              <a:rPr lang="es-ES" dirty="0" err="1"/>
              <a:t>Create</a:t>
            </a:r>
            <a:r>
              <a:rPr lang="es-ES" dirty="0"/>
              <a:t> en </a:t>
            </a:r>
            <a:r>
              <a:rPr lang="es-ES" dirty="0" err="1"/>
              <a:t>Copilot</a:t>
            </a:r>
            <a:r>
              <a:rPr lang="es-ES" dirty="0"/>
              <a:t> Chat) y voz y audio (transcripción, audio sintético).</a:t>
            </a:r>
          </a:p>
          <a:p>
            <a:r>
              <a:rPr lang="es-ES" dirty="0"/>
              <a:t>El poder real está en combinar los tres: un informe (texto) con gráficos generados (imagen) y un resumen en audio (voz), todo en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Funcionalidad Create en Copilot Chat: generar documentos Word, presentaciones, hojas de cálculo, imágenes, gráficos y vídeos directamente desde el chat.</a:t>
            </a:r>
          </a:p>
          <a:p>
            <a:r>
              <a:rPr lang="es-ES"/>
              <a:t>Consejo: ser detallado en las descripciones (estilo, colores, composición) e iterar generando varias versiones.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4676D7-10F8-4B45-9B62-99DBBFEA35C9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2296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5B65A-F813-193B-7C7A-94721A2B7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7F1AEE-CA28-ABF6-59D6-E46CAA88B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EC7787-C10B-B810-D7B2-DE8A2A099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s-ES" dirty="0">
                <a:hlinkClick r:id="rId3"/>
              </a:rPr>
              <a:t>Labs/IA y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para </a:t>
            </a:r>
            <a:r>
              <a:rPr lang="es-ES" dirty="0" err="1">
                <a:hlinkClick r:id="rId3"/>
              </a:rPr>
              <a:t>business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professionals</a:t>
            </a:r>
            <a:r>
              <a:rPr lang="es-ES" dirty="0">
                <a:hlinkClick r:id="rId3"/>
              </a:rPr>
              <a:t>/Lab 3: Crea contenido multimedia con “</a:t>
            </a:r>
            <a:r>
              <a:rPr lang="es-ES" dirty="0" err="1">
                <a:hlinkClick r:id="rId3"/>
              </a:rPr>
              <a:t>Create</a:t>
            </a:r>
            <a:r>
              <a:rPr lang="es-ES" dirty="0">
                <a:hlinkClick r:id="rId3"/>
              </a:rPr>
              <a:t>” en Microsoft 365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Chat.md at </a:t>
            </a:r>
            <a:r>
              <a:rPr lang="es-ES" dirty="0" err="1">
                <a:hlinkClick r:id="rId3"/>
              </a:rPr>
              <a:t>main</a:t>
            </a:r>
            <a:r>
              <a:rPr lang="es-ES" dirty="0">
                <a:hlinkClick r:id="rId3"/>
              </a:rPr>
              <a:t> · </a:t>
            </a:r>
            <a:r>
              <a:rPr lang="es-ES" dirty="0" err="1">
                <a:hlinkClick r:id="rId3"/>
              </a:rPr>
              <a:t>quizeth</a:t>
            </a:r>
            <a:r>
              <a:rPr lang="es-ES" dirty="0">
                <a:hlinkClick r:id="rId3"/>
              </a:rPr>
              <a:t>/Labs</a:t>
            </a:r>
            <a:endParaRPr lang="en-US" sz="1200" dirty="0">
              <a:solidFill>
                <a:srgbClr val="1E293B"/>
              </a:solidFill>
              <a:latin typeface="Segoe U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E74D3-D228-C50F-D12F-D3B4573051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20125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Copilot Voice: capacidad de conversar con Copilot mediante reconocimiento y síntesis de voz.</a:t>
            </a:r>
          </a:p>
          <a:p>
            <a:r>
              <a:rPr lang="es-ES"/>
              <a:t>Casos de uso típicos: dictar prompts en lugar de escribirlos, escuchar respuestas largas mientras se hace otra tarea y mejorar la accesibilidad de la herramienta.</a:t>
            </a:r>
          </a:p>
          <a:p>
            <a:r>
              <a:rPr lang="es-ES"/>
              <a:t>Recordar: esta capacidad requiere licencia Microsoft 365 Copilot y respeta los permisos existentes del usuario en Microsoft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33</a:t>
            </a:fld>
            <a:endParaRPr lang="es-E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Los Brand Kits aplican colores, tipografías y logotipos corporativos automáticamente a todo el contenido generado en Copilot Chat.</a:t>
            </a:r>
          </a:p>
          <a:p>
            <a:r>
              <a:rPr lang="es-ES"/>
              <a:t>Beneficios principales: consistencia de marca garantizada, ahorro de tiempo y costes de diseño, escalado a toda la organización, gobierno centralizado de la identidad visual y comunicación más profesional y confiable.</a:t>
            </a:r>
          </a:p>
          <a:p>
            <a:r>
              <a:rPr lang="es-ES"/>
              <a:t>Buena práctica organizativa: los kits se definen una sola vez por el equipo de marca y se reflejan automáticamente en todo el contenido que generen los empleados.</a:t>
            </a:r>
          </a:p>
          <a:p>
            <a:r>
              <a:rPr lang="es-ES"/>
              <a:t>Recordar: requiere licencia Microsoft 365 Copilot y respeta los permisos del usuario en Microsoft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34</a:t>
            </a:fld>
            <a:endParaRPr lang="es-E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Copilot integrado en cinco aplicaciones M365:</a:t>
            </a:r>
          </a:p>
          <a:p>
            <a:r>
              <a:rPr lang="es-ES"/>
              <a:t>Word: borradores y resúmenes. Excel: análisis con lenguaje natural y fórmulas. PowerPoint: presentaciones desde temas o documentos. Outlook: resumen de hilos y borradores. Teams: actas automáticas y resúmenes en tiempo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3A66DF-6829-47AC-9166-9BD558901155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22150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Transición al quinto y último bloque: Ética en el uso de la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A185519-DCBB-4D8B-A063-A62618B221A9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903946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La IA generativa ya forma parte del día a día de millones de profesionales; lo que hoy parece un atajo puede tener consecuencias reales mañana.</a:t>
            </a:r>
          </a:p>
          <a:p>
            <a:r>
              <a:rPr lang="es-ES"/>
              <a:t>Tres ideas para apoyar la reflexión con los alumnos: afecta a personas reales (clientes, compañeros, comunidades), construye o destruye confianza en nuestro trabajo y nuestra marca, y define la cultura del mañana (los hábitos de hoy fijan el uso futuro de la IA).</a:t>
            </a:r>
          </a:p>
          <a:p>
            <a:r>
              <a:rPr lang="es-ES"/>
              <a:t>Tono: este bloque no es una lista de prohibiciones, es una invitación a aplicar criterio profesional.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37</a:t>
            </a:fld>
            <a:endParaRPr lang="es-E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6D1F8-3FAD-F3C7-B55D-11D4C0F9C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3D2B9-6290-6E8B-E77E-12B103311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3E7F75-E590-2861-7CC0-6CCC189BF6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Tres </a:t>
            </a:r>
            <a:r>
              <a:rPr lang="es-ES"/>
              <a:t>casos </a:t>
            </a:r>
            <a:r>
              <a:rPr lang="es-ES" dirty="0"/>
              <a:t>reales </a:t>
            </a:r>
            <a:r>
              <a:rPr lang="es-ES"/>
              <a:t>de mal uso de IA generativa</a:t>
            </a:r>
            <a:r>
              <a:rPr lang="es-ES" dirty="0"/>
              <a:t>:</a:t>
            </a:r>
          </a:p>
          <a:p>
            <a:r>
              <a:rPr lang="es-ES"/>
              <a:t>Mata v. Avianca</a:t>
            </a:r>
            <a:r>
              <a:rPr lang="es-ES" dirty="0"/>
              <a:t>: </a:t>
            </a:r>
            <a:r>
              <a:rPr lang="es-ES"/>
              <a:t>abogado sancionado </a:t>
            </a:r>
            <a:r>
              <a:rPr lang="es-ES" dirty="0"/>
              <a:t>con </a:t>
            </a:r>
            <a:r>
              <a:rPr lang="es-ES"/>
              <a:t>5 000 $ por citas judiciales inventadas por ChatGPT</a:t>
            </a:r>
            <a:r>
              <a:rPr lang="es-ES" dirty="0"/>
              <a:t>. </a:t>
            </a:r>
            <a:r>
              <a:rPr lang="es-ES"/>
              <a:t>Samsung: datos confidenciales expuestos al usar ChatGPT internamente</a:t>
            </a:r>
            <a:r>
              <a:rPr lang="es-ES" dirty="0"/>
              <a:t>. </a:t>
            </a:r>
            <a:r>
              <a:rPr lang="es-ES"/>
              <a:t>CNET: artículos de </a:t>
            </a:r>
            <a:r>
              <a:rPr lang="es-ES" dirty="0"/>
              <a:t>IA</a:t>
            </a:r>
            <a:r>
              <a:rPr lang="es-ES"/>
              <a:t> con errores graves que destruyeron la credibilidad del medio</a:t>
            </a:r>
            <a:r>
              <a:rPr lang="es-E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316489-77B9-A44D-6384-7BF998CD45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81515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Seis </a:t>
            </a:r>
            <a:r>
              <a:rPr lang="es-ES" dirty="0"/>
              <a:t>principios de IA </a:t>
            </a:r>
            <a:r>
              <a:rPr lang="es-ES"/>
              <a:t>responsable </a:t>
            </a:r>
            <a:r>
              <a:rPr lang="es-ES" dirty="0"/>
              <a:t>de </a:t>
            </a:r>
            <a:r>
              <a:rPr lang="es-ES"/>
              <a:t>Microsoft aplicados al uso </a:t>
            </a:r>
            <a:r>
              <a:rPr lang="es-ES" dirty="0"/>
              <a:t>profesional</a:t>
            </a:r>
            <a:r>
              <a:rPr lang="es-ES"/>
              <a:t>:</a:t>
            </a:r>
            <a:endParaRPr lang="es-ES" dirty="0"/>
          </a:p>
          <a:p>
            <a:r>
              <a:rPr lang="es-ES" dirty="0"/>
              <a:t>Equidad: </a:t>
            </a:r>
            <a:r>
              <a:rPr lang="es-ES"/>
              <a:t>revisar </a:t>
            </a:r>
            <a:r>
              <a:rPr lang="es-ES" dirty="0"/>
              <a:t>sesgos. </a:t>
            </a:r>
            <a:r>
              <a:rPr lang="es-ES"/>
              <a:t>Fiabilidad: validar resultados críticos</a:t>
            </a:r>
            <a:r>
              <a:rPr lang="es-ES" dirty="0"/>
              <a:t>.</a:t>
            </a:r>
            <a:r>
              <a:rPr lang="es-ES"/>
              <a:t> </a:t>
            </a:r>
            <a:r>
              <a:rPr lang="es-ES" dirty="0"/>
              <a:t>Privacidad: no </a:t>
            </a:r>
            <a:r>
              <a:rPr lang="es-ES"/>
              <a:t>compartir </a:t>
            </a:r>
            <a:r>
              <a:rPr lang="es-ES" dirty="0"/>
              <a:t>datos confidenciales con IA </a:t>
            </a:r>
            <a:r>
              <a:rPr lang="es-ES"/>
              <a:t>pública. Inclusión: soluciones accesibles para todos</a:t>
            </a:r>
            <a:r>
              <a:rPr lang="es-ES" dirty="0"/>
              <a:t>. </a:t>
            </a:r>
            <a:r>
              <a:rPr lang="es-ES"/>
              <a:t>Transparencia: informar cuando se usa IA</a:t>
            </a:r>
            <a:r>
              <a:rPr lang="es-ES" dirty="0"/>
              <a:t>.</a:t>
            </a:r>
            <a:r>
              <a:rPr lang="es-ES"/>
              <a:t> </a:t>
            </a:r>
            <a:r>
              <a:rPr lang="es-ES" dirty="0"/>
              <a:t>Responsabilidad: tú </a:t>
            </a:r>
            <a:r>
              <a:rPr lang="es-ES"/>
              <a:t>validas el </a:t>
            </a:r>
            <a:r>
              <a:rPr lang="es-ES" dirty="0"/>
              <a:t>resultado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Eliminar “mediante técnicas como RLHF”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0307794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FFEDA-0636-FBE6-EAA2-A9CEF81F1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A35084-D652-BA25-94BD-44BA1D2EB8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F999F5-3189-137F-608F-C01A3B3E1C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hlinkClick r:id="rId3"/>
              </a:rPr>
              <a:t>Labs/IA y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para </a:t>
            </a:r>
            <a:r>
              <a:rPr lang="es-ES" dirty="0" err="1">
                <a:hlinkClick r:id="rId3"/>
              </a:rPr>
              <a:t>business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professionals</a:t>
            </a:r>
            <a:r>
              <a:rPr lang="es-ES" dirty="0">
                <a:hlinkClick r:id="rId3"/>
              </a:rPr>
              <a:t>/Lab 4: Ética en la IA.md at </a:t>
            </a:r>
            <a:r>
              <a:rPr lang="es-ES" dirty="0" err="1">
                <a:hlinkClick r:id="rId3"/>
              </a:rPr>
              <a:t>main</a:t>
            </a:r>
            <a:r>
              <a:rPr lang="es-ES" dirty="0">
                <a:hlinkClick r:id="rId3"/>
              </a:rPr>
              <a:t> · </a:t>
            </a:r>
            <a:r>
              <a:rPr lang="es-ES" dirty="0" err="1">
                <a:hlinkClick r:id="rId3"/>
              </a:rPr>
              <a:t>quizeth</a:t>
            </a:r>
            <a:r>
              <a:rPr lang="es-ES" dirty="0">
                <a:hlinkClick r:id="rId3"/>
              </a:rPr>
              <a:t>/Labs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D3DAEC-BA8C-8D10-BBB8-0C17D0F03C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25828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Recapitular los cinco bloques: IA generativa, </a:t>
            </a:r>
            <a:r>
              <a:rPr lang="es-ES" dirty="0" err="1"/>
              <a:t>Copilot</a:t>
            </a:r>
            <a:r>
              <a:rPr lang="es-ES" dirty="0"/>
              <a:t> en acción, </a:t>
            </a:r>
            <a:r>
              <a:rPr lang="es-ES" dirty="0" err="1"/>
              <a:t>prompting</a:t>
            </a:r>
            <a:r>
              <a:rPr lang="es-ES" dirty="0"/>
              <a:t>, multimodalidad y ética.</a:t>
            </a:r>
          </a:p>
          <a:p>
            <a:r>
              <a:rPr lang="es-ES" dirty="0"/>
              <a:t>Abrir turno de preguntas finales y resolver dudas pendientes.</a:t>
            </a:r>
            <a:br>
              <a:rPr lang="es-ES" dirty="0"/>
            </a:br>
            <a:br>
              <a:rPr lang="es-ES" dirty="0"/>
            </a:br>
            <a:r>
              <a:rPr lang="es-ES" dirty="0"/>
              <a:t>Enlace al repositorio:</a:t>
            </a:r>
            <a:br>
              <a:rPr lang="es-ES" dirty="0"/>
            </a:br>
            <a:r>
              <a:rPr lang="es-ES" dirty="0"/>
              <a:t>https://github.com/quizeth/Labs/tree/12f073802b84f5f383e84d92b4daddeba5fc33c7/IA%20y%20Copilot%20para%20business%20professionals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003773-3C95-4BD1-BCBA-47F0F6B05EF7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2051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Pedir a los participantes que completen la encuesta de satisfacción.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s-ES" dirty="0"/>
            </a:br>
            <a:r>
              <a:rPr lang="es-ES" dirty="0"/>
              <a:t>Recordad que solo las puntuaciones 9 y 10 representan 'Satisfecho’. </a:t>
            </a:r>
            <a:r>
              <a:rPr lang="es-ES"/>
              <a:t>¡Gracias </a:t>
            </a:r>
            <a:r>
              <a:rPr lang="es-ES" dirty="0"/>
              <a:t>por la participación!</a:t>
            </a:r>
            <a:br>
              <a:rPr lang="es-ES" dirty="0"/>
            </a:br>
            <a:br>
              <a:rPr lang="es-ES" dirty="0"/>
            </a:b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Enlace de la encuesta:</a:t>
            </a:r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43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421209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7FFFC-55F6-09D0-AD82-710EBF9DF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F2DB7C-213A-4339-85C3-513EB663B7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A109D4-3B09-CAEF-1B2E-5CB05AE2D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07/06/2026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CCD46F-F0BB-5657-E992-03109D33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D99C63-2994-A9CE-8F1E-53992A227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01760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80FC8-9623-2328-779E-A2879008C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076BB2-2AC6-151A-C2D9-B4EEFD305A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DEE88F-C4CA-829C-7B81-4CDF19964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07/06/2026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5831D7-BD0E-3C3E-FB71-A0DA499B3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765822-D3F0-79EF-67CF-4970BD94C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66082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91643-E346-2DAB-CACC-34336C603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B1DFA-0CEF-A119-DF37-52428A00D0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959024-2AAC-9386-3B8A-D0520744B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07/06/2026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83AF98-A8DB-FDBF-7EEC-62CCB50F4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6BB2E8-F3BF-5047-F09B-E77087D33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0727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BE449-3C51-4B35-3D93-F6B9C903C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6DF847-EF1A-1B5C-DC17-FD6F44525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7758C7-4FF6-8132-2DA1-E329555EFF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B29F62-41AA-A470-D344-EB5D85D5E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07/06/2026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135213-8D71-9D61-8843-283D20BEAC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E04FF7-45F7-1EAA-A710-71C9FD1D3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852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75568-E0CA-48B9-87B9-78EF8BA37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2FF685-F934-5FFC-9886-D08C94E2B9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8D51E7-CC91-5E8D-8106-F6D58A6973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1D58A-CE8A-472F-7CB6-8C2B088E08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734F3-57FB-0E01-B7B2-7FE1DC4E13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A9FE65-C161-4EA8-05FB-7303FCF65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07/06/2026</a:t>
            </a:fld>
            <a:endParaRPr lang="es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9B746A-FBE6-F987-EE00-7DDB20172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BAB132-6787-52D5-3697-AA3202B39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172269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020F0-3288-F7A3-C204-B7519AC23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16E3D3-C5C0-980D-53B0-D2632C1C5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07/06/2026</a:t>
            </a:fld>
            <a:endParaRPr lang="es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98D12D-1C81-D77D-9475-37FC5937A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A66257-2BE7-DC85-1ADA-7B646903D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85464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A00A74-94BE-CA38-FF2C-FE9566779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07/06/2026</a:t>
            </a:fld>
            <a:endParaRPr lang="es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77FD66-9418-4590-FD47-8400E0EF3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692828-43C5-533C-0C69-F1046824E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85816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1B456-F3B7-8A96-8FD7-AB9650D77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62E38-4AB5-BA71-40F5-42D5FAEFCE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6197CD-D22F-99F7-6A04-DF3C2D5D0E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0119D-6300-AAEB-6C45-BD3F3A829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07/06/2026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AA3EEB-CDD1-D58F-DAAA-84010CFDC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ABD5B3-8C16-D6B9-C43B-6C7690A99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62284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53ADD-BB82-6156-05CD-C644AC5AD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2229DA-FEE3-4869-7554-264104603A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C07CFE-A2CA-CA1F-313A-BFE880C68D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DE781F-5029-9340-F3FA-94F36AF37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07/06/2026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3F66E5-FB3D-1832-6B57-76422465A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479F86-34B9-E929-C38B-CB696CEAA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6012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06492-C96D-0A97-A6B2-CA4A9309A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CEF399-3AFE-EC21-08D6-F5CF9ED0AA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D38A11-76DF-6314-5414-3AD23F6CD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07/06/2026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2DD36B-7DF2-ADB8-DA0F-66182A1E9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2A0011-41A3-66BD-A486-29DC49097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366755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9A4538-FE44-032F-67D6-4D7A814F9B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A7F24D-F60A-356B-F4E8-248E93D935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D12688-1FFB-D9F5-9ABF-F47BF072A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07/06/2026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3982E-BCE4-8CD5-D28F-14094C611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8C6A8-1F63-B421-1F7F-4AE813AAD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729240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1_Cover 3 - No Logo Bad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Motif 4 B"/>
          <p:cNvPicPr>
            <a:picLocks noChangeAspect="1"/>
          </p:cNvPicPr>
          <p:nvPr userDrawn="1"/>
        </p:nvPicPr>
        <p:blipFill>
          <a:blip r:embed="rId2"/>
          <a:srcRect l="21022" t="15844" r="7538" b="1300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/Users/alexrassool/Documents/Microsoft/Microsoft - 181505 - MCT - Microsoft Trainer Community/Export/Badges/PNG/Certified Trainer/MCT-badge-certified trainer-logo.pngMCT-badge-certified trainer-logo"/>
          <p:cNvPicPr>
            <a:picLocks noChangeAspect="1"/>
          </p:cNvPicPr>
          <p:nvPr userDrawn="1"/>
        </p:nvPicPr>
        <p:blipFill>
          <a:blip r:embed="rId3"/>
          <a:srcRect t="12" b="12"/>
          <a:stretch>
            <a:fillRect/>
          </a:stretch>
        </p:blipFill>
        <p:spPr>
          <a:xfrm>
            <a:off x="9497695" y="0"/>
            <a:ext cx="2694305" cy="2697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0729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7341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lumn Bulle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525736-DEE8-4391-8135-23DE0640053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200" y="1436688"/>
            <a:ext cx="5219700" cy="369332"/>
          </a:xfrm>
        </p:spPr>
        <p:txBody>
          <a:bodyPr anchor="t"/>
          <a:lstStyle>
            <a:lvl1pPr marL="0" indent="0">
              <a:spcBef>
                <a:spcPct val="0"/>
              </a:spcBef>
              <a:buNone/>
              <a:defRPr sz="24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8E90344-0294-48E2-AAF0-601BB99500E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84200" y="2084388"/>
            <a:ext cx="5219700" cy="1175706"/>
          </a:xfrm>
        </p:spPr>
        <p:txBody>
          <a:bodyPr>
            <a:spAutoFit/>
          </a:bodyPr>
          <a:lstStyle>
            <a:lvl1pPr marL="171450" indent="-171450">
              <a:defRPr lang="en-US" sz="2000"/>
            </a:lvl1pPr>
            <a:lvl2pPr marL="342900" indent="-171450">
              <a:defRPr lang="en-US" sz="1400"/>
            </a:lvl2pPr>
            <a:lvl3pPr marL="514350" indent="-171450">
              <a:defRPr lang="en-US" sz="1100"/>
            </a:lvl3pPr>
            <a:lvl4pPr marL="666750" indent="-152400">
              <a:defRPr lang="en-US" sz="1050"/>
            </a:lvl4pPr>
            <a:lvl5pPr marL="793750" indent="-120650">
              <a:defRPr lang="en-US" sz="1050"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4F729D4-B1F1-45F2-A06A-40234B19C8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97625" y="1436688"/>
            <a:ext cx="5219700" cy="369332"/>
          </a:xfrm>
        </p:spPr>
        <p:txBody>
          <a:bodyPr anchor="t"/>
          <a:lstStyle>
            <a:lvl1pPr marL="0" indent="0">
              <a:spcBef>
                <a:spcPct val="0"/>
              </a:spcBef>
              <a:buNone/>
              <a:defRPr sz="24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F896FB-325C-4849-B372-8DF0D6C056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97625" y="2084388"/>
            <a:ext cx="5219700" cy="1175706"/>
          </a:xfrm>
        </p:spPr>
        <p:txBody>
          <a:bodyPr>
            <a:spAutoFit/>
          </a:bodyPr>
          <a:lstStyle>
            <a:lvl1pPr marL="171450" indent="-171450">
              <a:defRPr lang="en-US" sz="2000"/>
            </a:lvl1pPr>
            <a:lvl2pPr marL="342900" indent="-171450">
              <a:defRPr lang="en-US" sz="1400"/>
            </a:lvl2pPr>
            <a:lvl3pPr marL="514350" indent="-171450">
              <a:defRPr lang="en-US" sz="1100"/>
            </a:lvl3pPr>
            <a:lvl4pPr marL="685800" indent="-136525">
              <a:defRPr lang="en-US" sz="1050"/>
            </a:lvl4pPr>
            <a:lvl5pPr marL="793750" indent="-120650">
              <a:defRPr lang="en-US" sz="1050"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9449867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0EE32E-EE9B-31F8-53AF-89794FE37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F2EC7F-43FE-1688-9622-E0DC1F7EBE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353266-69F1-FFB3-4066-A39F138486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812B37-756D-428A-8FAB-64BE3724C99B}" type="datetimeFigureOut">
              <a:rPr lang="es-ES" smtClean="0"/>
              <a:t>07/06/2026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979E4-9940-ABF3-B838-BF7D35BE94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45A49-68B4-7B97-506B-E905B4A1E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6750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lexmind.co/product/pl-500-microsoft-power-rpa-developer/" TargetMode="External"/><Relationship Id="rId13" Type="http://schemas.openxmlformats.org/officeDocument/2006/relationships/image" Target="../media/image12.png"/><Relationship Id="rId3" Type="http://schemas.openxmlformats.org/officeDocument/2006/relationships/notesSlide" Target="../notesSlides/notesSlide2.xml"/><Relationship Id="rId7" Type="http://schemas.openxmlformats.org/officeDocument/2006/relationships/image" Target="../media/image7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slideLayout" Target="../slideLayouts/slideLayout12.xml"/><Relationship Id="rId16" Type="http://schemas.openxmlformats.org/officeDocument/2006/relationships/image" Target="../media/image15.png"/><Relationship Id="rId1" Type="http://schemas.openxmlformats.org/officeDocument/2006/relationships/tags" Target="../tags/tag1.xml"/><Relationship Id="rId6" Type="http://schemas.openxmlformats.org/officeDocument/2006/relationships/image" Target="../media/image6.png"/><Relationship Id="rId11" Type="http://schemas.openxmlformats.org/officeDocument/2006/relationships/image" Target="../media/image10.png"/><Relationship Id="rId5" Type="http://schemas.openxmlformats.org/officeDocument/2006/relationships/image" Target="../media/image5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4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31.png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0.pn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10" Type="http://schemas.openxmlformats.org/officeDocument/2006/relationships/image" Target="../media/image28.svg"/><Relationship Id="rId4" Type="http://schemas.openxmlformats.org/officeDocument/2006/relationships/image" Target="../media/image22.png"/><Relationship Id="rId9" Type="http://schemas.openxmlformats.org/officeDocument/2006/relationships/image" Target="../media/image27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32.png"/><Relationship Id="rId4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4.jpg"/><Relationship Id="rId4" Type="http://schemas.openxmlformats.org/officeDocument/2006/relationships/image" Target="../media/image33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m365.cloud.microsoft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0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39.png"/><Relationship Id="rId4" Type="http://schemas.openxmlformats.org/officeDocument/2006/relationships/image" Target="../media/image38.gi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hyperlink" Target="https://github.com/quizeth/Labs/blob/main/IA%20y%20Copilot%20para%20business%20professionals/Lab%201%3A%20Primeros%20pasos%20con%20Microsoft%20365%20Copilot%20Chat.md" TargetMode="External"/><Relationship Id="rId4" Type="http://schemas.openxmlformats.org/officeDocument/2006/relationships/image" Target="../media/image4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4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4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hyperlink" Target="https://github.com/quizeth/Labs/blob/main/IA%20y%20Copilot%20para%20business%20professionals/Lab%202%3A%20Creaci%C3%B3n%20de%20prompts%20efectivos%20con%20el%20marco%20RCTF.md" TargetMode="External"/><Relationship Id="rId4" Type="http://schemas.openxmlformats.org/officeDocument/2006/relationships/image" Target="../media/image42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github.com/quizeth/Labs/blob/main/IA%20y%20Copilot%20para%20business%20professionals/Lab%203%3A%20Crea%20contenido%20multimedia%20con%20%E2%80%9CCreate%E2%80%9D%20en%20Microsoft%20365%20Copilot%20Chat.md" TargetMode="External"/><Relationship Id="rId4" Type="http://schemas.openxmlformats.org/officeDocument/2006/relationships/image" Target="../media/image4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yn06H7DbIEg?feature=oembed" TargetMode="External"/><Relationship Id="rId5" Type="http://schemas.openxmlformats.org/officeDocument/2006/relationships/image" Target="../media/image49.jpeg"/><Relationship Id="rId4" Type="http://schemas.openxmlformats.org/officeDocument/2006/relationships/image" Target="../media/image2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2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32.png"/><Relationship Id="rId4" Type="http://schemas.openxmlformats.org/officeDocument/2006/relationships/image" Target="../media/image5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hyperlink" Target="https://github.com/quizeth/Labs/blob/main/IA%20y%20Copilot%20para%20business%20professionals/Lab%204%3A%20%C3%89tica%20en%20la%20IA.md" TargetMode="External"/><Relationship Id="rId4" Type="http://schemas.openxmlformats.org/officeDocument/2006/relationships/image" Target="../media/image4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CEB290-0268-3E82-F6C0-D603DC45C3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0662" y="4267832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IA </a:t>
            </a:r>
            <a:r>
              <a:rPr lang="en-US" sz="2800" dirty="0" err="1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Generativa</a:t>
            </a:r>
            <a: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y </a:t>
            </a:r>
            <a:b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</a:br>
            <a: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Copilot </a:t>
            </a:r>
            <a:b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</a:br>
            <a: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para </a:t>
            </a:r>
            <a:r>
              <a:rPr lang="en-US" sz="2800" dirty="0" err="1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profesionales</a:t>
            </a:r>
            <a:endParaRPr lang="es-ES" sz="2800" dirty="0">
              <a:solidFill>
                <a:schemeClr val="tx2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C41FFC-98DE-D88F-0E7B-C6C97F2B6D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90966" y="3428999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es-ES" sz="200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Mayo 2026</a:t>
            </a:r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469" y="1815319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4" name="Subtitle 2">
            <a:extLst>
              <a:ext uri="{FF2B5EF4-FFF2-40B4-BE49-F238E27FC236}">
                <a16:creationId xmlns:a16="http://schemas.microsoft.com/office/drawing/2014/main" id="{64D74986-6B0E-D8DD-FDC1-77E27A1E2E0F}"/>
              </a:ext>
            </a:extLst>
          </p:cNvPr>
          <p:cNvSpPr txBox="1">
            <a:spLocks/>
          </p:cNvSpPr>
          <p:nvPr/>
        </p:nvSpPr>
        <p:spPr>
          <a:xfrm>
            <a:off x="7164708" y="-5979"/>
            <a:ext cx="4805691" cy="8388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E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Empezamos en unos minutos</a:t>
            </a:r>
          </a:p>
        </p:txBody>
      </p:sp>
    </p:spTree>
    <p:extLst>
      <p:ext uri="{BB962C8B-B14F-4D97-AF65-F5344CB8AC3E}">
        <p14:creationId xmlns:p14="http://schemas.microsoft.com/office/powerpoint/2010/main" val="299094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31">
            <a:extLst>
              <a:ext uri="{FF2B5EF4-FFF2-40B4-BE49-F238E27FC236}">
                <a16:creationId xmlns:a16="http://schemas.microsoft.com/office/drawing/2014/main" id="{B8D389C8-C806-03B3-F660-39704F891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69505" y="3951859"/>
            <a:ext cx="1127593" cy="1127593"/>
          </a:xfrm>
          <a:prstGeom prst="rect">
            <a:avLst/>
          </a:prstGeom>
        </p:spPr>
      </p:pic>
      <p:pic>
        <p:nvPicPr>
          <p:cNvPr id="4" name="Picture Placeholder 24">
            <a:extLst>
              <a:ext uri="{FF2B5EF4-FFF2-40B4-BE49-F238E27FC236}">
                <a16:creationId xmlns:a16="http://schemas.microsoft.com/office/drawing/2014/main" id="{17869151-E73C-4257-09FC-700E09F86F0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3" b="73"/>
          <a:stretch/>
        </p:blipFill>
        <p:spPr>
          <a:xfrm>
            <a:off x="1753305" y="5331080"/>
            <a:ext cx="1081088" cy="1079500"/>
          </a:xfrm>
          <a:prstGeom prst="rect">
            <a:avLst/>
          </a:prstGeom>
        </p:spPr>
      </p:pic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1252373A-E3D0-D9AE-EED1-6FCDA50038F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503" r="24732"/>
          <a:stretch>
            <a:fillRect/>
          </a:stretch>
        </p:blipFill>
        <p:spPr>
          <a:xfrm>
            <a:off x="315215" y="5330580"/>
            <a:ext cx="1062215" cy="1080000"/>
          </a:xfrm>
          <a:prstGeom prst="rect">
            <a:avLst/>
          </a:prstGeom>
        </p:spPr>
      </p:pic>
      <p:pic>
        <p:nvPicPr>
          <p:cNvPr id="6" name="Picture Placeholder 16" descr="A blue and white logo with white text  Description automatically generated">
            <a:extLst>
              <a:ext uri="{FF2B5EF4-FFF2-40B4-BE49-F238E27FC236}">
                <a16:creationId xmlns:a16="http://schemas.microsoft.com/office/drawing/2014/main" id="{8C93F2BC-25B4-AD6A-E31D-E1E25B70B33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837473B0-CC2E-450A-ABE3-18F120FF3D39}">
                <a1611:picAttrSrcUrl xmlns:a1611="http://schemas.microsoft.com/office/drawing/2016/11/main" r:id="rId8"/>
              </a:ext>
            </a:extLst>
          </a:blip>
          <a:srcRect t="73" b="73"/>
          <a:stretch>
            <a:fillRect/>
          </a:stretch>
        </p:blipFill>
        <p:spPr>
          <a:xfrm>
            <a:off x="4111660" y="3990300"/>
            <a:ext cx="1081087" cy="1079500"/>
          </a:xfrm>
          <a:prstGeom prst="rect">
            <a:avLst/>
          </a:prstGeom>
        </p:spPr>
      </p:pic>
      <p:pic>
        <p:nvPicPr>
          <p:cNvPr id="7" name="Picture Placeholder 14">
            <a:extLst>
              <a:ext uri="{FF2B5EF4-FFF2-40B4-BE49-F238E27FC236}">
                <a16:creationId xmlns:a16="http://schemas.microsoft.com/office/drawing/2014/main" id="{6DCB166C-7BDC-2C35-0F5D-06D2352BDBA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2654303" y="3967558"/>
            <a:ext cx="1079500" cy="1079500"/>
          </a:xfrm>
          <a:prstGeom prst="rect">
            <a:avLst/>
          </a:prstGeom>
        </p:spPr>
      </p:pic>
      <p:pic>
        <p:nvPicPr>
          <p:cNvPr id="8" name="Picture Placeholder 27">
            <a:extLst>
              <a:ext uri="{FF2B5EF4-FFF2-40B4-BE49-F238E27FC236}">
                <a16:creationId xmlns:a16="http://schemas.microsoft.com/office/drawing/2014/main" id="{1FDCE873-4863-2ED3-3166-05A3E4EB4CEE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821566" y="5283012"/>
            <a:ext cx="1079500" cy="1079500"/>
          </a:xfrm>
          <a:prstGeom prst="rect">
            <a:avLst/>
          </a:prstGeom>
        </p:spPr>
      </p:pic>
      <p:pic>
        <p:nvPicPr>
          <p:cNvPr id="9" name="Picture Placeholder 22">
            <a:extLst>
              <a:ext uri="{FF2B5EF4-FFF2-40B4-BE49-F238E27FC236}">
                <a16:creationId xmlns:a16="http://schemas.microsoft.com/office/drawing/2014/main" id="{8B582A76-4F7C-D287-D913-6B7BC85749A6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160654" y="3999952"/>
            <a:ext cx="1079500" cy="1079500"/>
          </a:xfrm>
          <a:prstGeom prst="rect">
            <a:avLst/>
          </a:prstGeom>
        </p:spPr>
      </p:pic>
      <p:pic>
        <p:nvPicPr>
          <p:cNvPr id="11" name="Picture 6" descr="Azure Exam Certificate now available for Download - Microsoft Q&amp;A">
            <a:extLst>
              <a:ext uri="{FF2B5EF4-FFF2-40B4-BE49-F238E27FC236}">
                <a16:creationId xmlns:a16="http://schemas.microsoft.com/office/drawing/2014/main" id="{A787D9A0-E1D1-BFBA-C024-3833A05E9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0978" y="5331732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6">
            <a:extLst>
              <a:ext uri="{FF2B5EF4-FFF2-40B4-BE49-F238E27FC236}">
                <a16:creationId xmlns:a16="http://schemas.microsoft.com/office/drawing/2014/main" id="{C9BE0A39-D2B3-2236-56BA-4E86398F6B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/>
          <a:srcRect/>
          <a:stretch/>
        </p:blipFill>
        <p:spPr bwMode="auto">
          <a:xfrm>
            <a:off x="10846728" y="5331732"/>
            <a:ext cx="1080000" cy="1078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6">
            <a:extLst>
              <a:ext uri="{FF2B5EF4-FFF2-40B4-BE49-F238E27FC236}">
                <a16:creationId xmlns:a16="http://schemas.microsoft.com/office/drawing/2014/main" id="{F4D2CAF0-FCAE-16DD-5EB3-E4E5B1F35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/>
          <a:srcRect/>
          <a:stretch/>
        </p:blipFill>
        <p:spPr bwMode="auto">
          <a:xfrm>
            <a:off x="9351021" y="5331732"/>
            <a:ext cx="1045664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0" descr="Curso PL-900: Microsoft Power Platform Fundamentals | PUE">
            <a:extLst>
              <a:ext uri="{FF2B5EF4-FFF2-40B4-BE49-F238E27FC236}">
                <a16:creationId xmlns:a16="http://schemas.microsoft.com/office/drawing/2014/main" id="{A47611EB-1922-D0AE-B630-02FD9E2F8A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0935" y="5331732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Placeholder 22">
            <a:extLst>
              <a:ext uri="{FF2B5EF4-FFF2-40B4-BE49-F238E27FC236}">
                <a16:creationId xmlns:a16="http://schemas.microsoft.com/office/drawing/2014/main" id="{AB78E5C7-EDAA-8927-E476-B2DA6FE74CC8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525904" y="3967558"/>
            <a:ext cx="1079500" cy="1079500"/>
          </a:xfrm>
          <a:prstGeom prst="rect">
            <a:avLst/>
          </a:prstGeom>
          <a:noFill/>
        </p:spPr>
      </p:pic>
      <p:pic>
        <p:nvPicPr>
          <p:cNvPr id="16" name="Picture 15" descr="Como he conseguido mi certificación Azure Developer Associate | Vicen Moreno">
            <a:extLst>
              <a:ext uri="{FF2B5EF4-FFF2-40B4-BE49-F238E27FC236}">
                <a16:creationId xmlns:a16="http://schemas.microsoft.com/office/drawing/2014/main" id="{79C017A9-A178-2AB8-632F-A7CF88946C1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248802" y="5283013"/>
            <a:ext cx="1079499" cy="1079499"/>
          </a:xfrm>
          <a:prstGeom prst="rect">
            <a:avLst/>
          </a:prstGeom>
        </p:spPr>
      </p:pic>
      <p:sp>
        <p:nvSpPr>
          <p:cNvPr id="17" name="Rounded Rectangle 3_1">
            <a:extLst>
              <a:ext uri="{FF2B5EF4-FFF2-40B4-BE49-F238E27FC236}">
                <a16:creationId xmlns:a16="http://schemas.microsoft.com/office/drawing/2014/main" id="{9C0C8499-9354-BF50-BD40-299FDE2CD005}"/>
              </a:ext>
            </a:extLst>
          </p:cNvPr>
          <p:cNvSpPr/>
          <p:nvPr/>
        </p:nvSpPr>
        <p:spPr>
          <a:xfrm>
            <a:off x="264300" y="362446"/>
            <a:ext cx="9341103" cy="3414641"/>
          </a:xfrm>
          <a:prstGeom prst="roundRect">
            <a:avLst>
              <a:gd name="adj" fmla="val 3632"/>
            </a:avLst>
          </a:prstGeom>
          <a:noFill/>
          <a:ln>
            <a:noFill/>
          </a:ln>
          <a:effectLst>
            <a:outerShdw blurRad="127000" dist="38100" dir="8100000" sx="101000" sy="101000" algn="tr" rotWithShape="0">
              <a:srgbClr val="E2E8F0">
                <a:alpha val="6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/>
          <a:p>
            <a:pPr lvl="0" defTabSz="932742">
              <a:spcBef>
                <a:spcPts val="1200"/>
              </a:spcBef>
              <a:spcAft>
                <a:spcPct val="0"/>
              </a:spcAft>
              <a:defRPr/>
            </a:pPr>
            <a:r>
              <a:rPr lang="es-ES" sz="36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/>
                <a:cs typeface="Segoe UI Semibold" panose="020B0702040204020203" pitchFamily="34" charset="0"/>
              </a:rPr>
              <a:t>Carmela Quijano</a:t>
            </a:r>
          </a:p>
          <a:p>
            <a:pPr marL="0" marR="0" lvl="0" indent="0" defTabSz="932742" eaLnBrk="1" fontAlgn="auto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b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Microsoft </a:t>
            </a:r>
            <a:r>
              <a:rPr lang="es-ES" b="0" strike="noStrike" cap="none" baseline="0" dirty="0" err="1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Certified</a:t>
            </a:r>
            <a:r>
              <a:rPr lang="es-ES" b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Trainer</a:t>
            </a:r>
            <a:endParaRPr lang="es-ES" sz="16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 marL="285750" lvl="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Más de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10 años </a:t>
            </a: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de experiencia en formación</a:t>
            </a:r>
          </a:p>
          <a:p>
            <a:pPr marL="285750" lvl="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Microsoft </a:t>
            </a:r>
            <a:r>
              <a:rPr lang="es-ES" sz="1600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Certified</a:t>
            </a: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Trainer desde 2022</a:t>
            </a:r>
          </a:p>
          <a:p>
            <a:pPr marL="285750" lvl="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Especializada en datos: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data </a:t>
            </a:r>
            <a:r>
              <a:rPr lang="es-ES" sz="16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science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, IA y </a:t>
            </a:r>
            <a:r>
              <a:rPr lang="es-ES" sz="16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business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 </a:t>
            </a:r>
            <a:r>
              <a:rPr lang="es-ES" sz="16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intelligence</a:t>
            </a:r>
            <a:endParaRPr lang="es-ES" sz="16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 marL="28575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endParaRPr lang="es-ES" sz="1600" b="1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 lvl="0" defTabSz="932742">
              <a:spcBef>
                <a:spcPts val="1200"/>
              </a:spcBef>
              <a:spcAft>
                <a:spcPct val="0"/>
              </a:spcAft>
              <a:defRPr/>
            </a:pPr>
            <a:r>
              <a:rPr lang="es-ES" sz="1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LinkedIn: </a:t>
            </a:r>
            <a:r>
              <a:rPr lang="es-ES" sz="1400" b="1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www.linkedin.com/in/c-quijano</a:t>
            </a: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75360" y="487680"/>
            <a:ext cx="1024128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Logística</a:t>
            </a:r>
            <a:endParaRPr lang="en-US" sz="36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975360" y="155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5" name="Shape 2"/>
          <p:cNvSpPr/>
          <p:nvPr/>
        </p:nvSpPr>
        <p:spPr>
          <a:xfrm>
            <a:off x="2100360" y="1850000"/>
            <a:ext cx="750000" cy="75000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6" name="Text 3"/>
          <p:cNvSpPr/>
          <p:nvPr/>
        </p:nvSpPr>
        <p:spPr>
          <a:xfrm>
            <a:off x="2100360" y="185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175360" y="2800000"/>
            <a:ext cx="26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Horario</a:t>
            </a:r>
            <a:r>
              <a:rPr lang="en-US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y </a:t>
            </a:r>
            <a:r>
              <a:rPr lang="en-US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descansos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4596000" y="155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 dirty="0"/>
          </a:p>
        </p:txBody>
      </p:sp>
      <p:sp>
        <p:nvSpPr>
          <p:cNvPr id="11" name="Shape 8"/>
          <p:cNvSpPr/>
          <p:nvPr/>
        </p:nvSpPr>
        <p:spPr>
          <a:xfrm>
            <a:off x="5721000" y="1850000"/>
            <a:ext cx="750000" cy="7500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12" name="Text 9"/>
          <p:cNvSpPr/>
          <p:nvPr/>
        </p:nvSpPr>
        <p:spPr>
          <a:xfrm>
            <a:off x="5721000" y="185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4796000" y="2800000"/>
            <a:ext cx="26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Etiqueta virtual y preguntas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8216640" y="155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7" name="Shape 14"/>
          <p:cNvSpPr/>
          <p:nvPr/>
        </p:nvSpPr>
        <p:spPr>
          <a:xfrm>
            <a:off x="9341640" y="1850000"/>
            <a:ext cx="750000" cy="75000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18" name="Text 15"/>
          <p:cNvSpPr/>
          <p:nvPr/>
        </p:nvSpPr>
        <p:spPr>
          <a:xfrm>
            <a:off x="9341640" y="185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8416640" y="2800000"/>
            <a:ext cx="26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Encuesta</a:t>
            </a:r>
            <a:r>
              <a:rPr lang="en-US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final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9" name="Graphic 8" descr="Online meeting outline">
            <a:extLst>
              <a:ext uri="{FF2B5EF4-FFF2-40B4-BE49-F238E27FC236}">
                <a16:creationId xmlns:a16="http://schemas.microsoft.com/office/drawing/2014/main" id="{FEFDFA4D-8BF9-F1A8-C9D9-05E73C59FD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26000" y="1955000"/>
            <a:ext cx="540000" cy="540000"/>
          </a:xfrm>
          <a:prstGeom prst="rect">
            <a:avLst/>
          </a:prstGeom>
        </p:spPr>
      </p:pic>
      <p:pic>
        <p:nvPicPr>
          <p:cNvPr id="15" name="Graphic 14" descr="Clock outline">
            <a:extLst>
              <a:ext uri="{FF2B5EF4-FFF2-40B4-BE49-F238E27FC236}">
                <a16:creationId xmlns:a16="http://schemas.microsoft.com/office/drawing/2014/main" id="{9B94C19B-CC53-9EA0-2A58-810F117A5D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5360" y="1955000"/>
            <a:ext cx="540000" cy="540000"/>
          </a:xfrm>
          <a:prstGeom prst="rect">
            <a:avLst/>
          </a:prstGeom>
        </p:spPr>
      </p:pic>
      <p:pic>
        <p:nvPicPr>
          <p:cNvPr id="21" name="Graphic 20" descr="Clipboard outline">
            <a:extLst>
              <a:ext uri="{FF2B5EF4-FFF2-40B4-BE49-F238E27FC236}">
                <a16:creationId xmlns:a16="http://schemas.microsoft.com/office/drawing/2014/main" id="{9AFEA27D-C3AE-82AD-D489-DF4597CBF4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46640" y="1940000"/>
            <a:ext cx="540000" cy="540000"/>
          </a:xfrm>
          <a:prstGeom prst="rect">
            <a:avLst/>
          </a:prstGeom>
        </p:spPr>
      </p:pic>
      <p:sp>
        <p:nvSpPr>
          <p:cNvPr id="30" name="Shape 30"/>
          <p:cNvSpPr/>
          <p:nvPr/>
        </p:nvSpPr>
        <p:spPr>
          <a:xfrm>
            <a:off x="2785680" y="390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31" name="Shape 31"/>
          <p:cNvSpPr/>
          <p:nvPr/>
        </p:nvSpPr>
        <p:spPr>
          <a:xfrm>
            <a:off x="3910680" y="4200000"/>
            <a:ext cx="750000" cy="75000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32" name="Text 32"/>
          <p:cNvSpPr/>
          <p:nvPr/>
        </p:nvSpPr>
        <p:spPr>
          <a:xfrm>
            <a:off x="3910680" y="420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800" dirty="0">
                <a:solidFill>
                  <a:srgbClr val="FFFFFF"/>
                </a:solidFill>
                <a:latin typeface="Segoe UI Semibold" panose="020B0702040204020203" pitchFamily="34" charset="0"/>
              </a:rPr>
              <a:t>≡</a:t>
            </a:r>
            <a:endParaRPr lang="en-US" sz="2800" dirty="0"/>
          </a:p>
        </p:txBody>
      </p:sp>
      <p:sp>
        <p:nvSpPr>
          <p:cNvPr id="33" name="Text 33"/>
          <p:cNvSpPr/>
          <p:nvPr/>
        </p:nvSpPr>
        <p:spPr>
          <a:xfrm>
            <a:off x="2885680" y="5050000"/>
            <a:ext cx="28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18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Estructura del curso</a:t>
            </a:r>
            <a:endParaRPr lang="en-US" sz="18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0" name="Shape 40"/>
          <p:cNvSpPr/>
          <p:nvPr/>
        </p:nvSpPr>
        <p:spPr>
          <a:xfrm>
            <a:off x="6406320" y="390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41" name="Shape 41"/>
          <p:cNvSpPr/>
          <p:nvPr/>
        </p:nvSpPr>
        <p:spPr>
          <a:xfrm>
            <a:off x="7531320" y="4200000"/>
            <a:ext cx="750000" cy="750000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42" name="Text 42"/>
          <p:cNvSpPr/>
          <p:nvPr/>
        </p:nvSpPr>
        <p:spPr>
          <a:xfrm>
            <a:off x="7531320" y="420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800">
                <a:solidFill>
                  <a:srgbClr val="FFFFFF"/>
                </a:solidFill>
                <a:latin typeface="Segoe UI Semibold" panose="020B0702040204020203" pitchFamily="34" charset="0"/>
              </a:rPr>
              <a:t>☆</a:t>
            </a:r>
            <a:endParaRPr lang="en-US" sz="2800"/>
          </a:p>
        </p:txBody>
      </p:sp>
      <p:sp>
        <p:nvSpPr>
          <p:cNvPr id="43" name="Text 43"/>
          <p:cNvSpPr/>
          <p:nvPr/>
        </p:nvSpPr>
        <p:spPr>
          <a:xfrm>
            <a:off x="6506320" y="5050000"/>
            <a:ext cx="28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18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Recursos</a:t>
            </a:r>
            <a:endParaRPr lang="en-US" sz="180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2D49DD92-8BE1-CCFF-F7F5-61C512782B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0"/>
          <p:cNvSpPr/>
          <p:nvPr/>
        </p:nvSpPr>
        <p:spPr>
          <a:xfrm>
            <a:off x="323718" y="155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1" name="Bg1"/>
          <p:cNvSpPr/>
          <p:nvPr/>
        </p:nvSpPr>
        <p:spPr>
          <a:xfrm>
            <a:off x="323718" y="247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2" name="Bg2"/>
          <p:cNvSpPr/>
          <p:nvPr/>
        </p:nvSpPr>
        <p:spPr>
          <a:xfrm>
            <a:off x="323718" y="339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3" name="Bg3"/>
          <p:cNvSpPr/>
          <p:nvPr/>
        </p:nvSpPr>
        <p:spPr>
          <a:xfrm>
            <a:off x="323718" y="431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4" name="Bg4"/>
          <p:cNvSpPr/>
          <p:nvPr/>
        </p:nvSpPr>
        <p:spPr>
          <a:xfrm>
            <a:off x="323718" y="523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5" name="Pill0"/>
          <p:cNvSpPr txBox="1"/>
          <p:nvPr/>
        </p:nvSpPr>
        <p:spPr>
          <a:xfrm>
            <a:off x="481143" y="173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0D9488"/>
              </a:gs>
              <a:gs pos="80000">
                <a:srgbClr val="0D9488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1</a:t>
            </a:r>
          </a:p>
        </p:txBody>
      </p:sp>
      <p:sp>
        <p:nvSpPr>
          <p:cNvPr id="16" name="Pill1"/>
          <p:cNvSpPr txBox="1"/>
          <p:nvPr/>
        </p:nvSpPr>
        <p:spPr>
          <a:xfrm>
            <a:off x="481143" y="265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85000">
                <a:srgbClr val="0D9488"/>
              </a:gs>
              <a:gs pos="15000">
                <a:srgbClr val="3B82F6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2</a:t>
            </a:r>
          </a:p>
        </p:txBody>
      </p:sp>
      <p:sp>
        <p:nvSpPr>
          <p:cNvPr id="17" name="Pill2"/>
          <p:cNvSpPr txBox="1"/>
          <p:nvPr/>
        </p:nvSpPr>
        <p:spPr>
          <a:xfrm>
            <a:off x="481143" y="357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3B82F6"/>
              </a:gs>
              <a:gs pos="80000">
                <a:srgbClr val="3B82F6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3</a:t>
            </a:r>
          </a:p>
        </p:txBody>
      </p:sp>
      <p:sp>
        <p:nvSpPr>
          <p:cNvPr id="18" name="Pill3"/>
          <p:cNvSpPr txBox="1"/>
          <p:nvPr/>
        </p:nvSpPr>
        <p:spPr>
          <a:xfrm>
            <a:off x="481143" y="449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85000">
                <a:srgbClr val="3B82F6"/>
              </a:gs>
              <a:gs pos="15000">
                <a:srgbClr val="7C3AED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4</a:t>
            </a:r>
          </a:p>
        </p:txBody>
      </p:sp>
      <p:sp>
        <p:nvSpPr>
          <p:cNvPr id="19" name="Pill4"/>
          <p:cNvSpPr txBox="1"/>
          <p:nvPr/>
        </p:nvSpPr>
        <p:spPr>
          <a:xfrm>
            <a:off x="481143" y="541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7C3AED"/>
              </a:gs>
              <a:gs pos="80000">
                <a:srgbClr val="7C3AED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5</a:t>
            </a:r>
          </a:p>
        </p:txBody>
      </p:sp>
      <p:sp>
        <p:nvSpPr>
          <p:cNvPr id="20" name="Text0"/>
          <p:cNvSpPr txBox="1">
            <a:spLocks/>
          </p:cNvSpPr>
          <p:nvPr/>
        </p:nvSpPr>
        <p:spPr>
          <a:xfrm>
            <a:off x="1371600" y="155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Introducción a la IA generativa</a:t>
            </a:r>
          </a:p>
        </p:txBody>
      </p:sp>
      <p:sp>
        <p:nvSpPr>
          <p:cNvPr id="21" name="Text1"/>
          <p:cNvSpPr txBox="1">
            <a:spLocks/>
          </p:cNvSpPr>
          <p:nvPr/>
        </p:nvSpPr>
        <p:spPr>
          <a:xfrm>
            <a:off x="1371600" y="247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Microsoft 365 Copilot en acción</a:t>
            </a:r>
          </a:p>
        </p:txBody>
      </p:sp>
      <p:sp>
        <p:nvSpPr>
          <p:cNvPr id="22" name="Text2"/>
          <p:cNvSpPr txBox="1">
            <a:spLocks/>
          </p:cNvSpPr>
          <p:nvPr/>
        </p:nvSpPr>
        <p:spPr>
          <a:xfrm>
            <a:off x="1371600" y="339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El arte del </a:t>
            </a:r>
            <a:r>
              <a:rPr lang="es-ES" sz="2400" i="1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prompting</a:t>
            </a:r>
            <a:endParaRPr lang="es-ES" sz="2400" i="1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3" name="Text3"/>
          <p:cNvSpPr txBox="1">
            <a:spLocks/>
          </p:cNvSpPr>
          <p:nvPr/>
        </p:nvSpPr>
        <p:spPr>
          <a:xfrm>
            <a:off x="1371600" y="431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Multimodalidad en M365 </a:t>
            </a:r>
            <a:r>
              <a:rPr lang="es-ES" sz="2400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Copilot</a:t>
            </a:r>
            <a:endParaRPr lang="es-ES" sz="24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4" name="Text4"/>
          <p:cNvSpPr txBox="1">
            <a:spLocks/>
          </p:cNvSpPr>
          <p:nvPr/>
        </p:nvSpPr>
        <p:spPr>
          <a:xfrm>
            <a:off x="1371600" y="523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Ética en el uso de la IA</a:t>
            </a: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975360" y="487680"/>
            <a:ext cx="1024128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23399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1EADCAF8-8823-4E89-8612-21029831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8CA07B2-0819-4B62-9425-7A52BBDD7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A02BEE4-A5D4-40AF-882D-49D34B086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0F5843EB-154F-4459-8954-BB1DF64BB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75905135-55D9-431B-8D5A-4C5C92B1F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9B732812-A0BB-4324-B390-DFEF26C109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01FEC055-6F76-4E20-BC93-76C2F58EA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74CD21D-122E-4F3D-82AF-F4A37C278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5A7FF51F-3820-41BE-8690-7E758ECFA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5EAD889-EA4D-485F-BA9C-F6473A432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FCA85409-FC2D-1185-3F7A-C13DFC057F98}"/>
              </a:ext>
            </a:extLst>
          </p:cNvPr>
          <p:cNvSpPr txBox="1">
            <a:spLocks/>
          </p:cNvSpPr>
          <p:nvPr/>
        </p:nvSpPr>
        <p:spPr>
          <a:xfrm>
            <a:off x="3045368" y="204366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Introducción</a:t>
            </a: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a la IA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generativa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188661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opB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tle"/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32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¿Qué es la inteligencia artificial?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ED932D9-E9D0-A20F-B735-6E08CE96BABE}"/>
              </a:ext>
            </a:extLst>
          </p:cNvPr>
          <p:cNvGrpSpPr/>
          <p:nvPr/>
        </p:nvGrpSpPr>
        <p:grpSpPr>
          <a:xfrm>
            <a:off x="1084655" y="1494390"/>
            <a:ext cx="10266529" cy="620000"/>
            <a:chOff x="1196000" y="1670836"/>
            <a:chExt cx="10266529" cy="620000"/>
          </a:xfrm>
        </p:grpSpPr>
        <p:sp>
          <p:nvSpPr>
            <p:cNvPr id="4" name="SummaryBar"/>
            <p:cNvSpPr/>
            <p:nvPr/>
          </p:nvSpPr>
          <p:spPr>
            <a:xfrm>
              <a:off x="1221249" y="1670836"/>
              <a:ext cx="10241280" cy="6200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D9488"/>
                </a:gs>
                <a:gs pos="100000">
                  <a:srgbClr val="14A8BC"/>
                </a:gs>
              </a:gsLst>
              <a:lin ang="0" scaled="1"/>
            </a:gradFill>
            <a:ln>
              <a:noFill/>
            </a:ln>
            <a:effectLst>
              <a:outerShdw blurRad="101600" dist="25400" dir="5400000" algn="bl" rotWithShape="0">
                <a:srgbClr val="000000">
                  <a:alpha val="12000"/>
                </a:srgbClr>
              </a:outerShdw>
            </a:effectLst>
          </p:spPr>
          <p:txBody>
            <a:bodyPr wrap="square" lIns="0" tIns="0" rIns="0" bIns="0" anchor="ctr"/>
            <a:lstStyle/>
            <a:p>
              <a:endParaRPr lang="es-ES" dirty="0"/>
            </a:p>
          </p:txBody>
        </p:sp>
        <p:sp>
          <p:nvSpPr>
            <p:cNvPr id="5" name="SummaryText"/>
            <p:cNvSpPr/>
            <p:nvPr/>
          </p:nvSpPr>
          <p:spPr>
            <a:xfrm>
              <a:off x="1196000" y="1670836"/>
              <a:ext cx="9800000" cy="620000"/>
            </a:xfrm>
            <a:prstGeom prst="roundRect">
              <a:avLst/>
            </a:prstGeom>
            <a:noFill/>
            <a:ln/>
          </p:spPr>
          <p:txBody>
            <a:bodyPr wrap="square" lIns="0" tIns="0" rIns="0" bIns="0" anchor="ctr"/>
            <a:lstStyle/>
            <a:p>
              <a:pPr algn="ctr"/>
              <a:r>
                <a:rPr lang="es-ES" sz="2000" b="1" dirty="0">
                  <a:solidFill>
                    <a:srgbClr val="FFFFFF"/>
                  </a:solidFill>
                  <a:latin typeface="Segoe UI Semibold"/>
                  <a:cs typeface="Segoe UI Semibold"/>
                </a:rPr>
                <a:t>Imita capacidades humanas</a:t>
              </a:r>
              <a:endParaRPr lang="es-ES" sz="1600" b="1" dirty="0">
                <a:solidFill>
                  <a:srgbClr val="D6F4F0"/>
                </a:solidFill>
                <a:latin typeface="Segoe UI"/>
                <a:cs typeface="Segoe UI"/>
              </a:endParaRPr>
            </a:p>
            <a:p>
              <a:pPr algn="ctr"/>
              <a:r>
                <a:rPr lang="es-ES" sz="1600" dirty="0">
                  <a:solidFill>
                    <a:srgbClr val="D6F4F0"/>
                  </a:solidFill>
                  <a:latin typeface="Segoe UI"/>
                  <a:cs typeface="Segoe UI"/>
                </a:rPr>
                <a:t>Entiende lenguaje, ve imágenes, razona y toma decisiones como una persona.</a:t>
              </a:r>
            </a:p>
          </p:txBody>
        </p:sp>
      </p:grpSp>
      <p:sp>
        <p:nvSpPr>
          <p:cNvPr id="21" name="Desc1"/>
          <p:cNvSpPr/>
          <p:nvPr/>
        </p:nvSpPr>
        <p:spPr>
          <a:xfrm>
            <a:off x="1104964" y="4241994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Descubre patrones y relaciones en grandes volúmenes de información.</a:t>
            </a:r>
          </a:p>
        </p:txBody>
      </p:sp>
      <p:sp>
        <p:nvSpPr>
          <p:cNvPr id="23" name="Desc2"/>
          <p:cNvSpPr/>
          <p:nvPr/>
        </p:nvSpPr>
        <p:spPr>
          <a:xfrm>
            <a:off x="3665284" y="4241994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Condensa el conocimiento en un modelo reutilizable para nuevas tareas.</a:t>
            </a:r>
          </a:p>
        </p:txBody>
      </p:sp>
      <p:sp>
        <p:nvSpPr>
          <p:cNvPr id="25" name="Desc3"/>
          <p:cNvSpPr/>
          <p:nvPr/>
        </p:nvSpPr>
        <p:spPr>
          <a:xfrm>
            <a:off x="6225604" y="4241994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Genera texto, imágenes o recomendaciones adaptadas a cada pregunta.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27A344D-77A6-7F16-2CA8-30486CB280A6}"/>
              </a:ext>
            </a:extLst>
          </p:cNvPr>
          <p:cNvGrpSpPr/>
          <p:nvPr/>
        </p:nvGrpSpPr>
        <p:grpSpPr>
          <a:xfrm>
            <a:off x="1097280" y="2901671"/>
            <a:ext cx="9997440" cy="1590000"/>
            <a:chOff x="1104964" y="2901671"/>
            <a:chExt cx="9997440" cy="1590000"/>
          </a:xfrm>
        </p:grpSpPr>
        <p:sp>
          <p:nvSpPr>
            <p:cNvPr id="100" name="Conn1"/>
            <p:cNvSpPr/>
            <p:nvPr/>
          </p:nvSpPr>
          <p:spPr>
            <a:xfrm>
              <a:off x="262896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1" name="Conn2"/>
            <p:cNvSpPr/>
            <p:nvPr/>
          </p:nvSpPr>
          <p:spPr>
            <a:xfrm>
              <a:off x="518928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2" name="Conn3"/>
            <p:cNvSpPr/>
            <p:nvPr/>
          </p:nvSpPr>
          <p:spPr>
            <a:xfrm>
              <a:off x="774960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Circle1"/>
            <p:cNvSpPr/>
            <p:nvPr/>
          </p:nvSpPr>
          <p:spPr>
            <a:xfrm>
              <a:off x="1897444" y="2901671"/>
              <a:ext cx="731520" cy="731520"/>
            </a:xfrm>
            <a:prstGeom prst="ellipse">
              <a:avLst/>
            </a:prstGeom>
            <a:solidFill>
              <a:srgbClr val="0D9488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1</a:t>
              </a:r>
            </a:p>
          </p:txBody>
        </p:sp>
        <p:sp>
          <p:nvSpPr>
            <p:cNvPr id="11" name="Circle2"/>
            <p:cNvSpPr/>
            <p:nvPr/>
          </p:nvSpPr>
          <p:spPr>
            <a:xfrm>
              <a:off x="4457764" y="2901671"/>
              <a:ext cx="731520" cy="731520"/>
            </a:xfrm>
            <a:prstGeom prst="ellipse">
              <a:avLst/>
            </a:prstGeom>
            <a:solidFill>
              <a:srgbClr val="3B82F6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2</a:t>
              </a:r>
            </a:p>
          </p:txBody>
        </p:sp>
        <p:sp>
          <p:nvSpPr>
            <p:cNvPr id="12" name="Circle3"/>
            <p:cNvSpPr/>
            <p:nvPr/>
          </p:nvSpPr>
          <p:spPr>
            <a:xfrm>
              <a:off x="7018084" y="2901671"/>
              <a:ext cx="731520" cy="731520"/>
            </a:xfrm>
            <a:prstGeom prst="ellipse">
              <a:avLst/>
            </a:prstGeom>
            <a:solidFill>
              <a:srgbClr val="5B5BEC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3</a:t>
              </a:r>
            </a:p>
          </p:txBody>
        </p:sp>
        <p:sp>
          <p:nvSpPr>
            <p:cNvPr id="13" name="Circle4"/>
            <p:cNvSpPr/>
            <p:nvPr/>
          </p:nvSpPr>
          <p:spPr>
            <a:xfrm>
              <a:off x="9578404" y="2901671"/>
              <a:ext cx="731520" cy="731520"/>
            </a:xfrm>
            <a:prstGeom prst="ellipse">
              <a:avLst/>
            </a:prstGeom>
            <a:solidFill>
              <a:srgbClr val="7C3AED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4</a:t>
              </a:r>
            </a:p>
          </p:txBody>
        </p:sp>
        <p:sp>
          <p:nvSpPr>
            <p:cNvPr id="40" name="Icon1"/>
            <p:cNvSpPr/>
            <p:nvPr/>
          </p:nvSpPr>
          <p:spPr>
            <a:xfrm>
              <a:off x="2487684" y="2941671"/>
              <a:ext cx="380000" cy="380000"/>
            </a:xfrm>
            <a:prstGeom prst="cloud">
              <a:avLst/>
            </a:prstGeom>
            <a:solidFill>
              <a:srgbClr val="FFFFFF"/>
            </a:solidFill>
            <a:ln w="19050">
              <a:solidFill>
                <a:srgbClr val="0D9488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1" name="Icon2"/>
            <p:cNvSpPr/>
            <p:nvPr/>
          </p:nvSpPr>
          <p:spPr>
            <a:xfrm>
              <a:off x="5048004" y="2941671"/>
              <a:ext cx="380000" cy="380000"/>
            </a:xfrm>
            <a:prstGeom prst="gear6">
              <a:avLst/>
            </a:prstGeom>
            <a:solidFill>
              <a:srgbClr val="FFFFFF"/>
            </a:solidFill>
            <a:ln w="19050">
              <a:solidFill>
                <a:srgbClr val="3B82F6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2" name="Icon3"/>
            <p:cNvSpPr/>
            <p:nvPr/>
          </p:nvSpPr>
          <p:spPr>
            <a:xfrm>
              <a:off x="7608324" y="2941671"/>
              <a:ext cx="380000" cy="380000"/>
            </a:xfrm>
            <a:prstGeom prst="wedgeRoundRectCallout">
              <a:avLst>
                <a:gd name="adj1" fmla="val -40000"/>
                <a:gd name="adj2" fmla="val 60000"/>
                <a:gd name="adj3" fmla="val 16667"/>
              </a:avLst>
            </a:prstGeom>
            <a:solidFill>
              <a:srgbClr val="FFFFFF"/>
            </a:solidFill>
            <a:ln w="19050">
              <a:solidFill>
                <a:srgbClr val="5B5BEC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3" name="Icon4"/>
            <p:cNvSpPr/>
            <p:nvPr/>
          </p:nvSpPr>
          <p:spPr>
            <a:xfrm>
              <a:off x="10168644" y="2941671"/>
              <a:ext cx="380000" cy="380000"/>
            </a:xfrm>
            <a:prstGeom prst="circularArrow">
              <a:avLst/>
            </a:prstGeom>
            <a:solidFill>
              <a:schemeClr val="bg1"/>
            </a:solidFill>
            <a:ln w="19050">
              <a:solidFill>
                <a:srgbClr val="7C3AED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0" name="Title1"/>
            <p:cNvSpPr/>
            <p:nvPr/>
          </p:nvSpPr>
          <p:spPr>
            <a:xfrm>
              <a:off x="110496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Aprende de los datos</a:t>
              </a:r>
            </a:p>
          </p:txBody>
        </p:sp>
        <p:sp>
          <p:nvSpPr>
            <p:cNvPr id="22" name="Title2"/>
            <p:cNvSpPr/>
            <p:nvPr/>
          </p:nvSpPr>
          <p:spPr>
            <a:xfrm>
              <a:off x="366528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Crea un modelo</a:t>
              </a:r>
            </a:p>
          </p:txBody>
        </p:sp>
        <p:sp>
          <p:nvSpPr>
            <p:cNvPr id="24" name="Title3"/>
            <p:cNvSpPr/>
            <p:nvPr/>
          </p:nvSpPr>
          <p:spPr>
            <a:xfrm>
              <a:off x="622560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Responde en contexto</a:t>
              </a:r>
            </a:p>
          </p:txBody>
        </p:sp>
        <p:sp>
          <p:nvSpPr>
            <p:cNvPr id="26" name="Title4"/>
            <p:cNvSpPr/>
            <p:nvPr/>
          </p:nvSpPr>
          <p:spPr>
            <a:xfrm>
              <a:off x="87859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Mejora continuamente</a:t>
              </a:r>
            </a:p>
          </p:txBody>
        </p:sp>
      </p:grpSp>
      <p:sp>
        <p:nvSpPr>
          <p:cNvPr id="27" name="Desc4"/>
          <p:cNvSpPr/>
          <p:nvPr/>
        </p:nvSpPr>
        <p:spPr>
          <a:xfrm>
            <a:off x="8785924" y="4241994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Se ajusta con uso y supervisión humana para ser más precisa y útil.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9971B32-F349-AC5D-CF23-88554C261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1278" y="5267817"/>
            <a:ext cx="2412564" cy="1422612"/>
            <a:chOff x="5032337" y="4376775"/>
            <a:chExt cx="2412564" cy="1422612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D0CD678-DCCD-2F32-506D-097DCBD666F1}"/>
                </a:ext>
              </a:extLst>
            </p:cNvPr>
            <p:cNvGrpSpPr/>
            <p:nvPr/>
          </p:nvGrpSpPr>
          <p:grpSpPr>
            <a:xfrm>
              <a:off x="5032337" y="4376775"/>
              <a:ext cx="1829966" cy="1059457"/>
              <a:chOff x="7196417" y="2730064"/>
              <a:chExt cx="1829966" cy="1059457"/>
            </a:xfrm>
          </p:grpSpPr>
          <p:pic>
            <p:nvPicPr>
              <p:cNvPr id="18" name="Graphic 17" descr="Gears with solid fill">
                <a:extLst>
                  <a:ext uri="{FF2B5EF4-FFF2-40B4-BE49-F238E27FC236}">
                    <a16:creationId xmlns:a16="http://schemas.microsoft.com/office/drawing/2014/main" id="{48101D0B-3EE0-67FB-E4FF-5D59C5181E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196417" y="2730064"/>
                <a:ext cx="1059457" cy="1059457"/>
              </a:xfrm>
              <a:prstGeom prst="round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91C30A39-9843-8375-FC9C-CA481C5AD904}"/>
                      </a:ext>
                    </a:extLst>
                  </p:cNvPr>
                  <p:cNvSpPr txBox="1"/>
                  <p:nvPr/>
                </p:nvSpPr>
                <p:spPr>
                  <a:xfrm>
                    <a:off x="7936187" y="3253216"/>
                    <a:ext cx="1090196" cy="340519"/>
                  </a:xfrm>
                  <a:prstGeom prst="round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marL="0" marR="0" lvl="0" indent="0" defTabSz="91440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s-ES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kumimoji="0" lang="es-ES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white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0" lang="es-ES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white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kumimoji="0" lang="es-ES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s-ES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kumimoji="0" lang="es-ES" sz="20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</a:endParaRPr>
                  </a:p>
                </p:txBody>
              </p:sp>
            </mc:Choice>
            <mc:Fallback xmlns="">
              <p:sp>
                <p:nvSpPr>
                  <p:cNvPr id="68" name="TextBox 67">
                    <a:extLst>
                      <a:ext uri="{FF2B5EF4-FFF2-40B4-BE49-F238E27FC236}">
                        <a16:creationId xmlns:a16="http://schemas.microsoft.com/office/drawing/2014/main" id="{11222B60-02CF-845A-D90A-C20CCFDA87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36187" y="3253216"/>
                    <a:ext cx="1090196" cy="340519"/>
                  </a:xfrm>
                  <a:prstGeom prst="roundRect">
                    <a:avLst/>
                  </a:prstGeom>
                  <a:blipFill>
                    <a:blip r:embed="rId11"/>
                    <a:stretch>
                      <a:fillRect l="-6145" r="-3352" b="-25000"/>
                    </a:stretch>
                  </a:blipFill>
                </p:spPr>
                <p:txBody>
                  <a:bodyPr/>
                  <a:lstStyle/>
                  <a:p>
                    <a:r>
                      <a:rPr lang="es-E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BB76692-6315-1887-7687-1B4A9C71F0EE}"/>
                </a:ext>
              </a:extLst>
            </p:cNvPr>
            <p:cNvSpPr txBox="1"/>
            <p:nvPr/>
          </p:nvSpPr>
          <p:spPr>
            <a:xfrm>
              <a:off x="5284794" y="5458868"/>
              <a:ext cx="2160107" cy="340519"/>
            </a:xfrm>
            <a:prstGeom prst="round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lang="es-ES" sz="1400" b="0" i="0" strike="noStrike" cap="none" baseline="0">
                  <a:solidFill>
                    <a:srgbClr val="FFFFFF"/>
                  </a:solidFill>
                  <a:effectLst/>
                  <a:latin typeface="Segoe UI"/>
                  <a:ea typeface="Segoe UI"/>
                  <a:cs typeface="Segoe UI"/>
                </a:rPr>
                <a:t>Aprendizaje automático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23399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1FF67-0E86-68C6-DB2C-D9CAA4F95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LLMBar"/>
          <p:cNvSpPr/>
          <p:nvPr/>
        </p:nvSpPr>
        <p:spPr>
          <a:xfrm>
            <a:off x="962400" y="1488031"/>
            <a:ext cx="10267200" cy="6192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s-ES" dirty="0"/>
          </a:p>
        </p:txBody>
      </p:sp>
      <p:pic>
        <p:nvPicPr>
          <p:cNvPr id="2" name="TopBar">
            <a:extLst>
              <a:ext uri="{FF2B5EF4-FFF2-40B4-BE49-F238E27FC236}">
                <a16:creationId xmlns:a16="http://schemas.microsoft.com/office/drawing/2014/main" id="{3F68237D-A50B-355F-E1EE-18F6E6A7FF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tle">
            <a:extLst>
              <a:ext uri="{FF2B5EF4-FFF2-40B4-BE49-F238E27FC236}">
                <a16:creationId xmlns:a16="http://schemas.microsoft.com/office/drawing/2014/main" id="{467301CA-B03A-A378-6A19-48F3F22C7652}"/>
              </a:ext>
            </a:extLst>
          </p:cNvPr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3200" b="1" dirty="0">
                <a:latin typeface="Segoe UI Semibold"/>
                <a:ea typeface="Segoe UI Semibold"/>
                <a:cs typeface="Segoe UI Semibold"/>
              </a:rPr>
              <a:t>¿Qué es la inteligencia artificial </a:t>
            </a:r>
            <a:r>
              <a:rPr lang="es-ES" sz="3200" dirty="0">
                <a:gradFill>
                  <a:gsLst>
                    <a:gs pos="0">
                      <a:srgbClr val="0D9488"/>
                    </a:gs>
                    <a:gs pos="50000">
                      <a:srgbClr val="3B82F6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Segoe UI Semibold"/>
                <a:ea typeface="Segoe UI Semibold"/>
                <a:cs typeface="Segoe UI Semibold"/>
              </a:rPr>
              <a:t>generativa</a:t>
            </a:r>
            <a:r>
              <a:rPr lang="es-ES" sz="3200" b="1" dirty="0">
                <a:latin typeface="Segoe UI Semibold"/>
                <a:ea typeface="Segoe UI Semibold"/>
                <a:cs typeface="Segoe UI Semibold"/>
              </a:rPr>
              <a:t>?</a:t>
            </a:r>
          </a:p>
        </p:txBody>
      </p:sp>
      <p:sp>
        <p:nvSpPr>
          <p:cNvPr id="500" name="LLMStepDesc"/>
          <p:cNvSpPr/>
          <p:nvPr/>
        </p:nvSpPr>
        <p:spPr>
          <a:xfrm>
            <a:off x="1452790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Modelo entrenado con enormes cantidades de texto que aprende patrones del lenguaje y genera respuestas con coherencia.</a:t>
            </a:r>
          </a:p>
        </p:txBody>
      </p:sp>
      <p:sp>
        <p:nvSpPr>
          <p:cNvPr id="5" name="SummaryText">
            <a:extLst>
              <a:ext uri="{FF2B5EF4-FFF2-40B4-BE49-F238E27FC236}">
                <a16:creationId xmlns:a16="http://schemas.microsoft.com/office/drawing/2014/main" id="{512CA3B5-C808-898C-5F73-DE99B7BA4541}"/>
              </a:ext>
            </a:extLst>
          </p:cNvPr>
          <p:cNvSpPr/>
          <p:nvPr/>
        </p:nvSpPr>
        <p:spPr>
          <a:xfrm>
            <a:off x="962400" y="1494390"/>
            <a:ext cx="10267200" cy="619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2000" b="1" dirty="0">
                <a:solidFill>
                  <a:srgbClr val="FFFFFF"/>
                </a:solidFill>
                <a:latin typeface="Segoe UI Semibold"/>
                <a:cs typeface="Segoe UI Semibold"/>
              </a:rPr>
              <a:t>LLM (Large </a:t>
            </a:r>
            <a:r>
              <a:rPr lang="es-ES" sz="2000" b="1" dirty="0" err="1">
                <a:solidFill>
                  <a:srgbClr val="FFFFFF"/>
                </a:solidFill>
                <a:latin typeface="Segoe UI Semibold"/>
                <a:cs typeface="Segoe UI Semibold"/>
              </a:rPr>
              <a:t>Language</a:t>
            </a:r>
            <a:r>
              <a:rPr lang="es-ES" sz="2000" b="1" dirty="0">
                <a:solidFill>
                  <a:srgbClr val="FFFFFF"/>
                </a:solidFill>
                <a:latin typeface="Segoe UI Semibold"/>
                <a:cs typeface="Segoe UI Semibold"/>
              </a:rPr>
              <a:t> Model)</a:t>
            </a:r>
            <a:endParaRPr lang="es-ES" sz="1600" b="1" dirty="0">
              <a:solidFill>
                <a:srgbClr val="D6F4F0"/>
              </a:solidFill>
              <a:latin typeface="Segoe UI"/>
              <a:cs typeface="Segoe UI"/>
            </a:endParaRPr>
          </a:p>
          <a:p>
            <a:pPr algn="ctr"/>
            <a:r>
              <a:rPr lang="es-ES" sz="1600" dirty="0">
                <a:solidFill>
                  <a:schemeClr val="bg1">
                    <a:lumMod val="95000"/>
                  </a:schemeClr>
                </a:solidFill>
                <a:latin typeface="Segoe UI"/>
                <a:cs typeface="Segoe UI"/>
              </a:rPr>
              <a:t>Modelo entrenado con enormes textos que predice y genera lenguaje natural.</a:t>
            </a:r>
          </a:p>
        </p:txBody>
      </p:sp>
      <p:sp>
        <p:nvSpPr>
          <p:cNvPr id="25" name="Desc3">
            <a:extLst>
              <a:ext uri="{FF2B5EF4-FFF2-40B4-BE49-F238E27FC236}">
                <a16:creationId xmlns:a16="http://schemas.microsoft.com/office/drawing/2014/main" id="{C1ECC5B9-CF5D-0195-24F6-75CB29DC508F}"/>
              </a:ext>
            </a:extLst>
          </p:cNvPr>
          <p:cNvSpPr/>
          <p:nvPr/>
        </p:nvSpPr>
        <p:spPr>
          <a:xfrm>
            <a:off x="5424082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Convierte tu instrucción en una intención clara y un contexto para responder.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6090BC-0859-DC11-CAE0-AC703F56E730}"/>
              </a:ext>
            </a:extLst>
          </p:cNvPr>
          <p:cNvGrpSpPr/>
          <p:nvPr/>
        </p:nvGrpSpPr>
        <p:grpSpPr>
          <a:xfrm>
            <a:off x="1518196" y="2776062"/>
            <a:ext cx="8717280" cy="1724240"/>
            <a:chOff x="2385124" y="2767431"/>
            <a:chExt cx="8717280" cy="1724240"/>
          </a:xfrm>
        </p:grpSpPr>
        <p:sp>
          <p:nvSpPr>
            <p:cNvPr id="101" name="Conn2">
              <a:extLst>
                <a:ext uri="{FF2B5EF4-FFF2-40B4-BE49-F238E27FC236}">
                  <a16:creationId xmlns:a16="http://schemas.microsoft.com/office/drawing/2014/main" id="{E297F6B4-1355-8498-5CB0-86B28F6EA5D6}"/>
                </a:ext>
              </a:extLst>
            </p:cNvPr>
            <p:cNvSpPr/>
            <p:nvPr/>
          </p:nvSpPr>
          <p:spPr>
            <a:xfrm>
              <a:off x="4043364" y="3241712"/>
              <a:ext cx="2974720" cy="45719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 dirty="0"/>
            </a:p>
          </p:txBody>
        </p:sp>
        <p:sp>
          <p:nvSpPr>
            <p:cNvPr id="102" name="Conn3">
              <a:extLst>
                <a:ext uri="{FF2B5EF4-FFF2-40B4-BE49-F238E27FC236}">
                  <a16:creationId xmlns:a16="http://schemas.microsoft.com/office/drawing/2014/main" id="{930D69FB-86DC-3C94-ACF9-FA29BF3406D7}"/>
                </a:ext>
              </a:extLst>
            </p:cNvPr>
            <p:cNvSpPr/>
            <p:nvPr/>
          </p:nvSpPr>
          <p:spPr>
            <a:xfrm>
              <a:off x="774960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01" name="LLMStepCircle"/>
            <p:cNvSpPr/>
            <p:nvPr/>
          </p:nvSpPr>
          <p:spPr>
            <a:xfrm>
              <a:off x="3043364" y="2767431"/>
              <a:ext cx="1000000" cy="1000000"/>
            </a:xfrm>
            <a:prstGeom prst="ellipse">
              <a:avLst/>
            </a:prstGeom>
            <a:gradFill>
              <a:gsLst>
                <a:gs pos="0">
                  <a:srgbClr val="3B82F6"/>
                </a:gs>
                <a:gs pos="100000">
                  <a:srgbClr val="7C3AED"/>
                </a:gs>
              </a:gsLst>
              <a:lin ang="2700000" scaled="1"/>
            </a:gradFill>
            <a:ln>
              <a:noFill/>
            </a:ln>
            <a:effectLst>
              <a:outerShdw blurRad="80000" dist="20000" dir="5400000" algn="bl" rotWithShape="0">
                <a:srgbClr val="000000">
                  <a:alpha val="20000"/>
                </a:srgbClr>
              </a:outerShdw>
            </a:effectLst>
          </p:spPr>
          <p:txBody>
            <a:bodyPr wrap="none" lIns="0" tIns="0" rIns="0" bIns="0" anchor="ctr"/>
            <a:lstStyle/>
            <a:p>
              <a:endParaRPr lang="es-ES"/>
            </a:p>
          </p:txBody>
        </p:sp>
        <p:pic>
          <p:nvPicPr>
            <p:cNvPr id="600" name="BrainGearsIcon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43364" y="2967431"/>
              <a:ext cx="600000" cy="600000"/>
            </a:xfrm>
            <a:prstGeom prst="rect">
              <a:avLst/>
            </a:prstGeom>
          </p:spPr>
        </p:pic>
        <p:sp>
          <p:nvSpPr>
            <p:cNvPr id="12" name="Circle3">
              <a:extLst>
                <a:ext uri="{FF2B5EF4-FFF2-40B4-BE49-F238E27FC236}">
                  <a16:creationId xmlns:a16="http://schemas.microsoft.com/office/drawing/2014/main" id="{FA2052A9-832D-2EFD-5740-85BCB649F69F}"/>
                </a:ext>
              </a:extLst>
            </p:cNvPr>
            <p:cNvSpPr/>
            <p:nvPr/>
          </p:nvSpPr>
          <p:spPr>
            <a:xfrm>
              <a:off x="7018084" y="2901671"/>
              <a:ext cx="731520" cy="731520"/>
            </a:xfrm>
            <a:prstGeom prst="ellipse">
              <a:avLst/>
            </a:prstGeom>
            <a:solidFill>
              <a:srgbClr val="5B5BEC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endParaRPr lang="es-ES"/>
            </a:p>
          </p:txBody>
        </p:sp>
        <p:pic>
          <p:nvPicPr>
            <p:cNvPr id="601" name="ChatIcon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158844" y="3042431"/>
              <a:ext cx="450000" cy="450000"/>
            </a:xfrm>
            <a:prstGeom prst="rect">
              <a:avLst/>
            </a:prstGeom>
          </p:spPr>
        </p:pic>
        <p:sp>
          <p:nvSpPr>
            <p:cNvPr id="13" name="Circle4">
              <a:extLst>
                <a:ext uri="{FF2B5EF4-FFF2-40B4-BE49-F238E27FC236}">
                  <a16:creationId xmlns:a16="http://schemas.microsoft.com/office/drawing/2014/main" id="{D4BD43D2-B218-B93A-6D2A-7489A5E020DC}"/>
                </a:ext>
              </a:extLst>
            </p:cNvPr>
            <p:cNvSpPr/>
            <p:nvPr/>
          </p:nvSpPr>
          <p:spPr>
            <a:xfrm>
              <a:off x="9578404" y="2901671"/>
              <a:ext cx="731520" cy="731520"/>
            </a:xfrm>
            <a:prstGeom prst="ellipse">
              <a:avLst/>
            </a:prstGeom>
            <a:solidFill>
              <a:srgbClr val="7C3AED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endParaRPr lang="es-ES"/>
            </a:p>
          </p:txBody>
        </p:sp>
        <p:pic>
          <p:nvPicPr>
            <p:cNvPr id="602" name="TokenIcon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719164" y="3042431"/>
              <a:ext cx="450000" cy="450000"/>
            </a:xfrm>
            <a:prstGeom prst="rect">
              <a:avLst/>
            </a:prstGeom>
          </p:spPr>
        </p:pic>
        <p:sp>
          <p:nvSpPr>
            <p:cNvPr id="502" name="LLMStepTitle"/>
            <p:cNvSpPr/>
            <p:nvPr/>
          </p:nvSpPr>
          <p:spPr>
            <a:xfrm>
              <a:off x="23851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Large Language Model</a:t>
              </a:r>
            </a:p>
          </p:txBody>
        </p:sp>
        <p:sp>
          <p:nvSpPr>
            <p:cNvPr id="24" name="Title3">
              <a:extLst>
                <a:ext uri="{FF2B5EF4-FFF2-40B4-BE49-F238E27FC236}">
                  <a16:creationId xmlns:a16="http://schemas.microsoft.com/office/drawing/2014/main" id="{667FCF1F-C2A4-918E-8DB3-347D76D400E6}"/>
                </a:ext>
              </a:extLst>
            </p:cNvPr>
            <p:cNvSpPr/>
            <p:nvPr/>
          </p:nvSpPr>
          <p:spPr>
            <a:xfrm>
              <a:off x="622560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Interpreta tu prompt</a:t>
              </a:r>
            </a:p>
          </p:txBody>
        </p:sp>
        <p:sp>
          <p:nvSpPr>
            <p:cNvPr id="26" name="Title4">
              <a:extLst>
                <a:ext uri="{FF2B5EF4-FFF2-40B4-BE49-F238E27FC236}">
                  <a16:creationId xmlns:a16="http://schemas.microsoft.com/office/drawing/2014/main" id="{CCA1BF3F-572C-78A2-E67A-0D2E77E0B758}"/>
                </a:ext>
              </a:extLst>
            </p:cNvPr>
            <p:cNvSpPr/>
            <p:nvPr/>
          </p:nvSpPr>
          <p:spPr>
            <a:xfrm>
              <a:off x="87859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Genera token a token</a:t>
              </a:r>
            </a:p>
          </p:txBody>
        </p:sp>
      </p:grpSp>
      <p:sp>
        <p:nvSpPr>
          <p:cNvPr id="27" name="Desc4">
            <a:extLst>
              <a:ext uri="{FF2B5EF4-FFF2-40B4-BE49-F238E27FC236}">
                <a16:creationId xmlns:a16="http://schemas.microsoft.com/office/drawing/2014/main" id="{D407BBD3-43C7-430F-203E-8F3899FB79AE}"/>
              </a:ext>
            </a:extLst>
          </p:cNvPr>
          <p:cNvSpPr/>
          <p:nvPr/>
        </p:nvSpPr>
        <p:spPr>
          <a:xfrm>
            <a:off x="7984402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Produce la respuesta palabra por palabra, manteniendo sentido y coherencia.</a:t>
            </a:r>
          </a:p>
        </p:txBody>
      </p:sp>
      <p:sp>
        <p:nvSpPr>
          <p:cNvPr id="800" name="WorkloadCircle1"/>
          <p:cNvSpPr/>
          <p:nvPr/>
        </p:nvSpPr>
        <p:spPr>
          <a:xfrm>
            <a:off x="3499619" y="5845844"/>
            <a:ext cx="550000" cy="5500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pic>
        <p:nvPicPr>
          <p:cNvPr id="801" name="WorkloadIcon1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24619" y="5970844"/>
            <a:ext cx="300000" cy="300000"/>
          </a:xfrm>
          <a:prstGeom prst="rect">
            <a:avLst/>
          </a:prstGeom>
        </p:spPr>
      </p:pic>
      <p:sp>
        <p:nvSpPr>
          <p:cNvPr id="802" name="WorkloadCircle2"/>
          <p:cNvSpPr/>
          <p:nvPr/>
        </p:nvSpPr>
        <p:spPr>
          <a:xfrm>
            <a:off x="4625156" y="5845844"/>
            <a:ext cx="550000" cy="5500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pic>
        <p:nvPicPr>
          <p:cNvPr id="803" name="WorkloadIcon2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50156" y="5970844"/>
            <a:ext cx="300000" cy="300000"/>
          </a:xfrm>
          <a:prstGeom prst="rect">
            <a:avLst/>
          </a:prstGeom>
        </p:spPr>
      </p:pic>
      <p:sp>
        <p:nvSpPr>
          <p:cNvPr id="804" name="WorkloadCircle3"/>
          <p:cNvSpPr/>
          <p:nvPr/>
        </p:nvSpPr>
        <p:spPr>
          <a:xfrm>
            <a:off x="5599619" y="5845844"/>
            <a:ext cx="550000" cy="550000"/>
          </a:xfrm>
          <a:prstGeom prst="ellipse">
            <a:avLst/>
          </a:prstGeom>
          <a:solidFill>
            <a:srgbClr val="5B5BE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pic>
        <p:nvPicPr>
          <p:cNvPr id="805" name="WorkloadIcon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724619" y="5970844"/>
            <a:ext cx="300000" cy="300000"/>
          </a:xfrm>
          <a:prstGeom prst="rect">
            <a:avLst/>
          </a:prstGeom>
        </p:spPr>
      </p:pic>
      <p:sp>
        <p:nvSpPr>
          <p:cNvPr id="806" name="WorkloadCircle4"/>
          <p:cNvSpPr/>
          <p:nvPr/>
        </p:nvSpPr>
        <p:spPr>
          <a:xfrm>
            <a:off x="6670090" y="5845844"/>
            <a:ext cx="550000" cy="5500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pic>
        <p:nvPicPr>
          <p:cNvPr id="807" name="WorkloadIcon4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795090" y="5970844"/>
            <a:ext cx="300000" cy="3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048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Casos de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uso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el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mundo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profesional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97536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75360" y="1584960"/>
            <a:ext cx="3169920" cy="7315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0116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4112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Documentación</a:t>
            </a:r>
            <a:endParaRPr lang="en-US" sz="2133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341120" y="3291840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Redacción de informes, emails, propuestas, actas de reunión y resumen de documentos extensos.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1104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511040" y="1584960"/>
            <a:ext cx="3169920" cy="731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201168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87680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Análisis</a:t>
            </a:r>
            <a:endParaRPr lang="en-US" sz="2133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2" name="Text 8"/>
          <p:cNvSpPr/>
          <p:nvPr/>
        </p:nvSpPr>
        <p:spPr>
          <a:xfrm>
            <a:off x="4876800" y="3291840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Interpretación de datos, creación de gráficos, análisis de tendencias y generación de insights.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804672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8046720" y="1584960"/>
            <a:ext cx="316992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01168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1248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Comunicación</a:t>
            </a:r>
            <a:endParaRPr lang="en-US" sz="2133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8412480" y="3291840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Traducción automática, tono adaptado a la audiencia, respuestas a clientes y FAQ automatizadas.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0" descr="preencoded.png">
            <a:extLst>
              <a:ext uri="{FF2B5EF4-FFF2-40B4-BE49-F238E27FC236}">
                <a16:creationId xmlns:a16="http://schemas.microsoft.com/office/drawing/2014/main" id="{7D6C7D7A-9F48-8C03-6AAF-B51AD1CDDD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7700B-03EE-D34B-F1E4-A803BAF8F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6B71F43-FD70-69A4-435E-7B74AD98BCA1}"/>
              </a:ext>
            </a:extLst>
          </p:cNvPr>
          <p:cNvSpPr/>
          <p:nvPr/>
        </p:nvSpPr>
        <p:spPr>
          <a:xfrm>
            <a:off x="975360" y="548640"/>
            <a:ext cx="102412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Casos de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uso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el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mundo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profesional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23" name="Image 0" descr="preencoded.png">
            <a:extLst>
              <a:ext uri="{FF2B5EF4-FFF2-40B4-BE49-F238E27FC236}">
                <a16:creationId xmlns:a16="http://schemas.microsoft.com/office/drawing/2014/main" id="{E96C5F7E-4D39-A0CE-84FE-B13B5CB403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24" name="Info Bar">
            <a:extLst>
              <a:ext uri="{FF2B5EF4-FFF2-40B4-BE49-F238E27FC236}">
                <a16:creationId xmlns:a16="http://schemas.microsoft.com/office/drawing/2014/main" id="{3F893DA0-3C6C-95DC-B342-20FD4AF0A785}"/>
              </a:ext>
            </a:extLst>
          </p:cNvPr>
          <p:cNvSpPr/>
          <p:nvPr/>
        </p:nvSpPr>
        <p:spPr>
          <a:xfrm>
            <a:off x="975360" y="6251900"/>
            <a:ext cx="10241280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26" name="Info Text">
            <a:extLst>
              <a:ext uri="{FF2B5EF4-FFF2-40B4-BE49-F238E27FC236}">
                <a16:creationId xmlns:a16="http://schemas.microsoft.com/office/drawing/2014/main" id="{C998A493-7C0E-C5B0-4BA3-04C3F032D705}"/>
              </a:ext>
            </a:extLst>
          </p:cNvPr>
          <p:cNvSpPr/>
          <p:nvPr/>
        </p:nvSpPr>
        <p:spPr>
          <a:xfrm>
            <a:off x="3352801" y="6121271"/>
            <a:ext cx="95166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 IA no </a:t>
            </a:r>
            <a:r>
              <a:rPr lang="es-ES" sz="1600" b="1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reemplaza</a:t>
            </a:r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al profesional, </a:t>
            </a:r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amplifica</a:t>
            </a:r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su capacidad</a:t>
            </a:r>
            <a:r>
              <a:rPr lang="es-ES" sz="1600" dirty="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es-ES" sz="1600" dirty="0"/>
          </a:p>
        </p:txBody>
      </p:sp>
      <p:graphicFrame>
        <p:nvGraphicFramePr>
          <p:cNvPr id="900" name="Exposur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83952"/>
              </p:ext>
            </p:extLst>
          </p:nvPr>
        </p:nvGraphicFramePr>
        <p:xfrm>
          <a:off x="1915807" y="1219200"/>
          <a:ext cx="8360385" cy="470271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1"/>
                    </a:ext>
                  </a:extLst>
                </a:gridCol>
                <a:gridCol w="3960385">
                  <a:extLst>
                    <a:ext uri="{9D8B030D-6E8A-4147-A177-3AD203B41FA5}">
                      <a16:colId xmlns:a16="http://schemas.microsoft.com/office/drawing/2014/main" val="2"/>
                    </a:ext>
                  </a:extLst>
                </a:gridCol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lang="es-ES" sz="1300" b="1" dirty="0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Ocupación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300" b="1" dirty="0">
                        <a:solidFill>
                          <a:srgbClr val="FFFFFF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300" b="1" dirty="0">
                        <a:solidFill>
                          <a:srgbClr val="FFFFFF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Programadores informáticos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74,5%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Escribir, actualizar y mantener programas de software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Representantes de atención al cliente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70,1%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Atender a clientes, tomar pedidos y gestionar reclamaciones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Operadores de entrada de datos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67,1%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Leer documentos fuente e introducir datos en sistemas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Especialistas en historias clínicas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66,7%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Recopilar, transcribir y codificar registros médicos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de investigación de mercado y marketing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64,8%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Preparar informes ilustrando datos y traduciendo hallazgos en texto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Representantes de ventas (mayoristas y fabricación)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62,6%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Contactar con clientes para promocionar productos y cerrar pedidos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financieros y de inversiones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57,2%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Analizar información financiera para orientar decisiones de inversión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de control de calidad de software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51,9%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Modificar software para corregir errores y mejorar el rendimiento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de seguridad informática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48,6%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Realizar evaluaciones de riesgo y pruebas de seguridad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Especialistas en soporte informático a usuarios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 dirty="0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46,8%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dirty="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Resolver consultas sobre software o hardware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2" name="LLMBar">
            <a:extLst>
              <a:ext uri="{FF2B5EF4-FFF2-40B4-BE49-F238E27FC236}">
                <a16:creationId xmlns:a16="http://schemas.microsoft.com/office/drawing/2014/main" id="{08EC287B-7BA7-8102-0F88-4FF5820D72F3}"/>
              </a:ext>
            </a:extLst>
          </p:cNvPr>
          <p:cNvSpPr/>
          <p:nvPr/>
        </p:nvSpPr>
        <p:spPr>
          <a:xfrm>
            <a:off x="1989549" y="1305585"/>
            <a:ext cx="2914290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 dirty="0">
                <a:solidFill>
                  <a:srgbClr val="FFFFFF"/>
                </a:solidFill>
                <a:latin typeface="Segoe UI Semibold"/>
                <a:cs typeface="Segoe UI Semibold"/>
              </a:rPr>
              <a:t>Ocupación</a:t>
            </a:r>
            <a:endParaRPr lang="es-ES" sz="1600" dirty="0"/>
          </a:p>
        </p:txBody>
      </p:sp>
      <p:sp>
        <p:nvSpPr>
          <p:cNvPr id="33" name="LLMBar">
            <a:extLst>
              <a:ext uri="{FF2B5EF4-FFF2-40B4-BE49-F238E27FC236}">
                <a16:creationId xmlns:a16="http://schemas.microsoft.com/office/drawing/2014/main" id="{A75E938A-FFA3-DD8E-C2B3-CA59B6561F60}"/>
              </a:ext>
            </a:extLst>
          </p:cNvPr>
          <p:cNvSpPr/>
          <p:nvPr/>
        </p:nvSpPr>
        <p:spPr>
          <a:xfrm>
            <a:off x="4977581" y="1305585"/>
            <a:ext cx="1118419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 dirty="0">
                <a:solidFill>
                  <a:srgbClr val="FFFFFF"/>
                </a:solidFill>
                <a:latin typeface="Segoe UI Semibold"/>
                <a:cs typeface="Segoe UI Semibold"/>
              </a:rPr>
              <a:t>Exposición</a:t>
            </a:r>
          </a:p>
        </p:txBody>
      </p:sp>
      <p:sp>
        <p:nvSpPr>
          <p:cNvPr id="34" name="LLMBar">
            <a:extLst>
              <a:ext uri="{FF2B5EF4-FFF2-40B4-BE49-F238E27FC236}">
                <a16:creationId xmlns:a16="http://schemas.microsoft.com/office/drawing/2014/main" id="{D654EF9B-289E-A435-0F28-65F4935EAA10}"/>
              </a:ext>
            </a:extLst>
          </p:cNvPr>
          <p:cNvSpPr/>
          <p:nvPr/>
        </p:nvSpPr>
        <p:spPr>
          <a:xfrm>
            <a:off x="6169741" y="1305585"/>
            <a:ext cx="4032709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 dirty="0">
                <a:solidFill>
                  <a:srgbClr val="FFFFFF"/>
                </a:solidFill>
                <a:latin typeface="Segoe UI Semibold"/>
                <a:cs typeface="Segoe UI Semibold"/>
              </a:rPr>
              <a:t>Tareas automatizadas</a:t>
            </a:r>
          </a:p>
        </p:txBody>
      </p:sp>
    </p:spTree>
    <p:extLst>
      <p:ext uri="{BB962C8B-B14F-4D97-AF65-F5344CB8AC3E}">
        <p14:creationId xmlns:p14="http://schemas.microsoft.com/office/powerpoint/2010/main" val="1132643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AE3BA-5233-96BB-5DA1-B4FEC0F98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Top B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20" name="Left Card BG"/>
          <p:cNvSpPr/>
          <p:nvPr/>
        </p:nvSpPr>
        <p:spPr>
          <a:xfrm>
            <a:off x="538420" y="1754649"/>
            <a:ext cx="5096000" cy="3900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0">
            <a:noFill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Left Band"/>
          <p:cNvSpPr/>
          <p:nvPr/>
        </p:nvSpPr>
        <p:spPr>
          <a:xfrm>
            <a:off x="538420" y="1754649"/>
            <a:ext cx="5096000" cy="55000"/>
          </a:xfrm>
          <a:prstGeom prst="rect">
            <a:avLst/>
          </a:prstGeom>
          <a:solidFill>
            <a:srgbClr val="F97316"/>
          </a:solidFill>
          <a:ln w="0">
            <a:noFill/>
          </a:ln>
        </p:spPr>
        <p:txBody>
          <a:bodyPr/>
          <a:lstStyle/>
          <a:p>
            <a:endParaRPr lang="es-ES"/>
          </a:p>
        </p:txBody>
      </p:sp>
      <p:pic>
        <p:nvPicPr>
          <p:cNvPr id="24" name="USA Map Icon"/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38420" y="1934649"/>
            <a:ext cx="520000" cy="350000"/>
          </a:xfrm>
          <a:prstGeom prst="rect">
            <a:avLst/>
          </a:prstGeom>
        </p:spPr>
      </p:pic>
      <p:sp>
        <p:nvSpPr>
          <p:cNvPr id="22" name="Left Title"/>
          <p:cNvSpPr/>
          <p:nvPr/>
        </p:nvSpPr>
        <p:spPr>
          <a:xfrm>
            <a:off x="1388420" y="1954649"/>
            <a:ext cx="405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Shadow AI</a:t>
            </a:r>
          </a:p>
          <a:p>
            <a:r>
              <a:rPr lang="es-ES" sz="1100" i="1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IA </a:t>
            </a:r>
            <a:r>
              <a:rPr lang="es-ES" sz="1100" i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fuera de control</a:t>
            </a:r>
            <a:endParaRPr lang="es-ES" sz="1100" i="1" dirty="0">
              <a:solidFill>
                <a:srgbClr val="64748B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5" name="Left Div"/>
          <p:cNvCxnSpPr>
            <a:cxnSpLocks/>
          </p:cNvCxnSpPr>
          <p:nvPr/>
        </p:nvCxnSpPr>
        <p:spPr>
          <a:xfrm>
            <a:off x="738420" y="2454649"/>
            <a:ext cx="4696000" cy="0"/>
          </a:xfrm>
          <a:prstGeom prst="line">
            <a:avLst/>
          </a:prstGeom>
          <a:ln w="9525" cap="rnd">
            <a:solidFill>
              <a:srgbClr val="F1F5F9"/>
            </a:solidFill>
            <a:round/>
          </a:ln>
        </p:spPr>
      </p:cxnSp>
      <p:sp>
        <p:nvSpPr>
          <p:cNvPr id="23" name="Left Body"/>
          <p:cNvSpPr/>
          <p:nvPr/>
        </p:nvSpPr>
        <p:spPr>
          <a:xfrm>
            <a:off x="738420" y="2454649"/>
            <a:ext cx="4696000" cy="30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Fuga de datos confidenciales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Sin cumplimiento legal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Sin control ni seguimiento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Mayor riesgo de ciberataques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Respuestas poco fiables</a:t>
            </a:r>
          </a:p>
        </p:txBody>
      </p:sp>
      <p:sp>
        <p:nvSpPr>
          <p:cNvPr id="30" name="Right Card BG"/>
          <p:cNvSpPr/>
          <p:nvPr/>
        </p:nvSpPr>
        <p:spPr>
          <a:xfrm>
            <a:off x="6634420" y="1754649"/>
            <a:ext cx="5096000" cy="3900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0">
            <a:noFill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Right Band"/>
          <p:cNvSpPr/>
          <p:nvPr/>
        </p:nvSpPr>
        <p:spPr>
          <a:xfrm>
            <a:off x="6634420" y="1754649"/>
            <a:ext cx="5096000" cy="5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txBody>
          <a:bodyPr/>
          <a:lstStyle/>
          <a:p>
            <a:endParaRPr lang="es-ES"/>
          </a:p>
        </p:txBody>
      </p:sp>
      <p:pic>
        <p:nvPicPr>
          <p:cNvPr id="34" name="Globe Map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4420" y="1914649"/>
            <a:ext cx="400000" cy="400000"/>
          </a:xfrm>
          <a:prstGeom prst="rect">
            <a:avLst/>
          </a:prstGeom>
        </p:spPr>
      </p:pic>
      <p:sp>
        <p:nvSpPr>
          <p:cNvPr id="32" name="Right Title"/>
          <p:cNvSpPr/>
          <p:nvPr/>
        </p:nvSpPr>
        <p:spPr>
          <a:xfrm>
            <a:off x="7354420" y="1954649"/>
            <a:ext cx="418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365 Copilot</a:t>
            </a:r>
          </a:p>
          <a:p>
            <a:r>
              <a:rPr lang="es-ES" sz="1100" i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IA segura y controlada</a:t>
            </a:r>
          </a:p>
        </p:txBody>
      </p:sp>
      <p:cxnSp>
        <p:nvCxnSpPr>
          <p:cNvPr id="35" name="Right Div"/>
          <p:cNvCxnSpPr/>
          <p:nvPr/>
        </p:nvCxnSpPr>
        <p:spPr>
          <a:xfrm>
            <a:off x="6834420" y="2454649"/>
            <a:ext cx="4696000" cy="0"/>
          </a:xfrm>
          <a:prstGeom prst="line">
            <a:avLst/>
          </a:prstGeom>
          <a:ln w="9525" cap="rnd">
            <a:solidFill>
              <a:srgbClr val="F1F5F9"/>
            </a:solidFill>
            <a:round/>
          </a:ln>
        </p:spPr>
      </p:cxnSp>
      <p:sp>
        <p:nvSpPr>
          <p:cNvPr id="33" name="Right Body"/>
          <p:cNvSpPr/>
          <p:nvPr/>
        </p:nvSpPr>
        <p:spPr>
          <a:xfrm>
            <a:off x="6834420" y="2434649"/>
            <a:ext cx="4696000" cy="30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Datos seguros en tu entorno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Cumple con GDPR y normativas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Control total para TI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Usa los datos de tu empresa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Integrado en Office 365</a:t>
            </a:r>
          </a:p>
        </p:txBody>
      </p:sp>
      <p:sp>
        <p:nvSpPr>
          <p:cNvPr id="58" name="Subtitle">
            <a:extLst>
              <a:ext uri="{FF2B5EF4-FFF2-40B4-BE49-F238E27FC236}">
                <a16:creationId xmlns:a16="http://schemas.microsoft.com/office/drawing/2014/main" id="{2011D940-CB30-2FC0-2981-9B62CE78C4F8}"/>
              </a:ext>
            </a:extLst>
          </p:cNvPr>
          <p:cNvSpPr/>
          <p:nvPr/>
        </p:nvSpPr>
        <p:spPr>
          <a:xfrm>
            <a:off x="2888225" y="983152"/>
            <a:ext cx="6415549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Los peligros del uso no autorizado de herramientas de IA</a:t>
            </a:r>
            <a:endParaRPr lang="es-ES" sz="1400" dirty="0"/>
          </a:p>
        </p:txBody>
      </p:sp>
      <p:sp>
        <p:nvSpPr>
          <p:cNvPr id="63" name="Tip Bar BG">
            <a:extLst>
              <a:ext uri="{FF2B5EF4-FFF2-40B4-BE49-F238E27FC236}">
                <a16:creationId xmlns:a16="http://schemas.microsoft.com/office/drawing/2014/main" id="{C7B394E7-1B65-7570-F3B3-83F44C412C5D}"/>
              </a:ext>
            </a:extLst>
          </p:cNvPr>
          <p:cNvSpPr/>
          <p:nvPr/>
        </p:nvSpPr>
        <p:spPr>
          <a:xfrm>
            <a:off x="738420" y="4994649"/>
            <a:ext cx="4550746" cy="48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2">
                  <a:lumMod val="75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/>
          <a:effectLst>
            <a:outerShdw blurRad="76200" dist="19050" dir="5400000" algn="b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576" name="Tip Icon">
            <a:extLst>
              <a:ext uri="{FF2B5EF4-FFF2-40B4-BE49-F238E27FC236}">
                <a16:creationId xmlns:a16="http://schemas.microsoft.com/office/drawing/2014/main" id="{A46A2149-AB0B-40D4-E604-788CFB410F44}"/>
              </a:ext>
            </a:extLst>
          </p:cNvPr>
          <p:cNvSpPr/>
          <p:nvPr/>
        </p:nvSpPr>
        <p:spPr>
          <a:xfrm>
            <a:off x="934420" y="5056804"/>
            <a:ext cx="324000" cy="34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Segoe UI" pitchFamily="34" charset="0"/>
              </a:rPr>
              <a:t>!</a:t>
            </a:r>
          </a:p>
        </p:txBody>
      </p:sp>
      <p:sp>
        <p:nvSpPr>
          <p:cNvPr id="577" name="Tip Text">
            <a:extLst>
              <a:ext uri="{FF2B5EF4-FFF2-40B4-BE49-F238E27FC236}">
                <a16:creationId xmlns:a16="http://schemas.microsoft.com/office/drawing/2014/main" id="{7AC514D8-AC4C-B127-D6A4-148F1846429D}"/>
              </a:ext>
            </a:extLst>
          </p:cNvPr>
          <p:cNvSpPr/>
          <p:nvPr/>
        </p:nvSpPr>
        <p:spPr>
          <a:xfrm>
            <a:off x="1328904" y="4994649"/>
            <a:ext cx="3841955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b="1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Tus datos </a:t>
            </a:r>
            <a:r>
              <a:rPr lang="es-ES" sz="1200" b="1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entrenan modelos externos</a:t>
            </a:r>
            <a:endParaRPr lang="es-ES" sz="1200" dirty="0"/>
          </a:p>
        </p:txBody>
      </p:sp>
      <p:sp>
        <p:nvSpPr>
          <p:cNvPr id="578" name="Tip Bar BG">
            <a:extLst>
              <a:ext uri="{FF2B5EF4-FFF2-40B4-BE49-F238E27FC236}">
                <a16:creationId xmlns:a16="http://schemas.microsoft.com/office/drawing/2014/main" id="{47BB4BF3-9D79-DC05-F64B-FA7B3B1D1E13}"/>
              </a:ext>
            </a:extLst>
          </p:cNvPr>
          <p:cNvSpPr/>
          <p:nvPr/>
        </p:nvSpPr>
        <p:spPr>
          <a:xfrm>
            <a:off x="6834420" y="4994649"/>
            <a:ext cx="4695999" cy="48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D9488"/>
              </a:gs>
              <a:gs pos="48000">
                <a:srgbClr val="0D9488">
                  <a:lumMod val="88000"/>
                  <a:lumOff val="12000"/>
                </a:srgb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/>
          <a:effectLst>
            <a:outerShdw blurRad="76200" dist="19050" dir="5400000" algn="b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579" name="Tip Icon">
            <a:extLst>
              <a:ext uri="{FF2B5EF4-FFF2-40B4-BE49-F238E27FC236}">
                <a16:creationId xmlns:a16="http://schemas.microsoft.com/office/drawing/2014/main" id="{393B1E64-8787-5D22-44B9-F71AE4062AB1}"/>
              </a:ext>
            </a:extLst>
          </p:cNvPr>
          <p:cNvSpPr/>
          <p:nvPr/>
        </p:nvSpPr>
        <p:spPr>
          <a:xfrm>
            <a:off x="7034420" y="5064649"/>
            <a:ext cx="324000" cy="34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Segoe UI" pitchFamily="34" charset="0"/>
              </a:rPr>
              <a:t>✓</a:t>
            </a:r>
            <a:endParaRPr lang="en-US" sz="1400" b="1" dirty="0">
              <a:solidFill>
                <a:srgbClr val="FFFFFF"/>
              </a:solidFill>
              <a:latin typeface="Segoe UI" pitchFamily="34" charset="0"/>
            </a:endParaRPr>
          </a:p>
        </p:txBody>
      </p:sp>
      <p:sp>
        <p:nvSpPr>
          <p:cNvPr id="580" name="Tip Text">
            <a:extLst>
              <a:ext uri="{FF2B5EF4-FFF2-40B4-BE49-F238E27FC236}">
                <a16:creationId xmlns:a16="http://schemas.microsoft.com/office/drawing/2014/main" id="{E6A679DB-E371-CC79-47C4-ED1338BE8775}"/>
              </a:ext>
            </a:extLst>
          </p:cNvPr>
          <p:cNvSpPr/>
          <p:nvPr/>
        </p:nvSpPr>
        <p:spPr>
          <a:xfrm>
            <a:off x="7558420" y="4994649"/>
            <a:ext cx="3880503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b="1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Tus datos </a:t>
            </a:r>
            <a:r>
              <a:rPr lang="es-ES" sz="1200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nunca</a:t>
            </a:r>
            <a:r>
              <a:rPr lang="es-ES" sz="1200" b="1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entrenan el modelo</a:t>
            </a:r>
            <a:endParaRPr lang="es-ES" sz="1200" dirty="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BB42EFC3-E30B-56A3-47E0-3C6DA60AD03D}"/>
              </a:ext>
            </a:extLst>
          </p:cNvPr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3200" b="1" dirty="0">
                <a:latin typeface="Segoe UI Semibold"/>
                <a:ea typeface="Segoe UI Semibold"/>
                <a:cs typeface="Segoe UI Semibold"/>
              </a:rPr>
              <a:t>IA en la sombra</a:t>
            </a:r>
          </a:p>
        </p:txBody>
      </p:sp>
    </p:spTree>
    <p:extLst>
      <p:ext uri="{BB962C8B-B14F-4D97-AF65-F5344CB8AC3E}">
        <p14:creationId xmlns:p14="http://schemas.microsoft.com/office/powerpoint/2010/main" val="6685636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D39DB4-0518-1A06-B8B6-4BCBE32A1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C21B153D-57A0-2C2D-DF60-FF57B9630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73469CD-1CE4-5C11-6637-6FECBFD51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782BCECA-D9B9-7ADD-8B12-E3E742CEF0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2772035-C2F7-5255-16F9-30EA42B2D0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B11C1D6-D5BD-0116-90EC-8477AA7598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FCC9B9E-E773-EBB1-D71B-38386103C5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D43143CE-9BA1-219D-916F-9DF292011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00BC98D-AB98-6F4A-BE37-5D4BF5683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6DF36CBC-B851-3657-1500-EEBEE58AF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EA19479F-410F-F8F1-74FC-E1FB890B7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DD81B0F2-FA93-5C64-D8B0-C21165EEBBA3}"/>
              </a:ext>
            </a:extLst>
          </p:cNvPr>
          <p:cNvSpPr txBox="1">
            <a:spLocks/>
          </p:cNvSpPr>
          <p:nvPr/>
        </p:nvSpPr>
        <p:spPr>
          <a:xfrm>
            <a:off x="3045368" y="204366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Microsoft 365 Copilot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en</a:t>
            </a: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acción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24765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14832-D974-8BEE-0D3A-218ECD75D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87F347A-EE07-6122-ACB7-DBEE47612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45820" y="716280"/>
            <a:ext cx="10510434" cy="5699760"/>
            <a:chOff x="6037045" y="1624062"/>
            <a:chExt cx="4036827" cy="4497246"/>
          </a:xfrm>
        </p:grpSpPr>
        <p:sp>
          <p:nvSpPr>
            <p:cNvPr id="5" name="Rectangle: Rounded Corners 24">
              <a:extLst>
                <a:ext uri="{FF2B5EF4-FFF2-40B4-BE49-F238E27FC236}">
                  <a16:creationId xmlns:a16="http://schemas.microsoft.com/office/drawing/2014/main" id="{D82C5B53-D2B2-06E8-AE50-C2F346E8594D}"/>
                </a:ext>
              </a:extLst>
            </p:cNvPr>
            <p:cNvSpPr/>
            <p:nvPr/>
          </p:nvSpPr>
          <p:spPr bwMode="auto">
            <a:xfrm>
              <a:off x="6037045" y="1624062"/>
              <a:ext cx="4035898" cy="4497244"/>
            </a:xfrm>
            <a:prstGeom prst="roundRect">
              <a:avLst>
                <a:gd name="adj" fmla="val 3337"/>
              </a:avLst>
            </a:prstGeom>
            <a:solidFill>
              <a:schemeClr val="bg1"/>
            </a:solidFill>
            <a:ln w="12700">
              <a:noFill/>
              <a:headEnd type="none" w="med" len="med"/>
              <a:tailEnd type="none" w="med" len="med"/>
            </a:ln>
            <a:effectLst>
              <a:outerShdw blurRad="127000" dir="2700000" algn="tl" rotWithShape="0">
                <a:srgbClr val="1E293B">
                  <a:alpha val="40000"/>
                </a:srgb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7CE05519-4A57-F0DE-C3D9-95637D9A5B85}"/>
                </a:ext>
              </a:extLst>
            </p:cNvPr>
            <p:cNvSpPr/>
            <p:nvPr/>
          </p:nvSpPr>
          <p:spPr bwMode="auto">
            <a:xfrm>
              <a:off x="6037974" y="1624062"/>
              <a:ext cx="4035898" cy="4497246"/>
            </a:xfrm>
            <a:prstGeom prst="roundRect">
              <a:avLst>
                <a:gd name="adj" fmla="val 3196"/>
              </a:avLst>
            </a:prstGeom>
            <a:gradFill flip="none" rotWithShape="1">
              <a:gsLst>
                <a:gs pos="0">
                  <a:srgbClr val="EC4899">
                    <a:alpha val="10000"/>
                  </a:srgbClr>
                </a:gs>
                <a:gs pos="48000">
                  <a:srgbClr val="7C3AED">
                    <a:alpha val="10000"/>
                  </a:srgbClr>
                </a:gs>
                <a:gs pos="100000">
                  <a:srgbClr val="3B82F6">
                    <a:alpha val="10000"/>
                  </a:srgbClr>
                </a:gs>
              </a:gsLst>
              <a:lin ang="2700000" scaled="1"/>
            </a:gradFill>
            <a:ln w="12700">
              <a:gradFill flip="none" rotWithShape="1">
                <a:gsLst>
                  <a:gs pos="0">
                    <a:srgbClr val="EC4899"/>
                  </a:gs>
                  <a:gs pos="48000">
                    <a:srgbClr val="7C3AED"/>
                  </a:gs>
                  <a:gs pos="100000">
                    <a:srgbClr val="3B82F6"/>
                  </a:gs>
                </a:gsLst>
                <a:lin ang="2700000" scaled="1"/>
              </a:gra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5CA4ABC-8054-6F34-E4CE-33D1EADFD654}"/>
              </a:ext>
            </a:extLst>
          </p:cNvPr>
          <p:cNvSpPr txBox="1"/>
          <p:nvPr/>
        </p:nvSpPr>
        <p:spPr>
          <a:xfrm>
            <a:off x="1431210" y="3558981"/>
            <a:ext cx="4051237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32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Microsoft 365 Copilot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8A97367-5DC4-BB96-9341-E3F6219262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1268" y="2418650"/>
            <a:ext cx="978270" cy="985924"/>
          </a:xfrm>
          <a:prstGeom prst="rect">
            <a:avLst/>
          </a:prstGeom>
        </p:spPr>
      </p:pic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620858B-AEE9-2323-EF10-122F10E319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7011947" y="2914971"/>
            <a:ext cx="3267434" cy="3043869"/>
          </a:xfrm>
          <a:prstGeom prst="roundRect">
            <a:avLst>
              <a:gd name="adj" fmla="val 4879"/>
            </a:avLst>
          </a:prstGeom>
          <a:solidFill>
            <a:schemeClr val="bg1"/>
          </a:solidFill>
          <a:ln w="12700">
            <a:noFill/>
            <a:headEnd type="none" w="med" len="med"/>
            <a:tailEnd type="none" w="med" len="med"/>
          </a:ln>
          <a:effectLst>
            <a:outerShdw blurRad="127000" dir="2700000" algn="tl" rotWithShape="0">
              <a:srgbClr val="1E293B">
                <a:alpha val="17323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Segoe UI" pitchFamily="34" charset="0"/>
              <a:cs typeface="Segoe UI" panose="020B0502040204020203" pitchFamily="34" charset="0"/>
            </a:endParaRPr>
          </a:p>
        </p:txBody>
      </p:sp>
      <p:sp>
        <p:nvSpPr>
          <p:cNvPr id="29" name="Graphic 40">
            <a:extLst>
              <a:ext uri="{FF2B5EF4-FFF2-40B4-BE49-F238E27FC236}">
                <a16:creationId xmlns:a16="http://schemas.microsoft.com/office/drawing/2014/main" id="{51A084BA-02C0-9A6D-A45C-D21BA3E7E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87944" y="2371952"/>
            <a:ext cx="302954" cy="302954"/>
          </a:xfrm>
          <a:custGeom>
            <a:avLst/>
            <a:gdLst>
              <a:gd name="connsiteX0" fmla="*/ 95250 w 190500"/>
              <a:gd name="connsiteY0" fmla="*/ 0 h 190500"/>
              <a:gd name="connsiteX1" fmla="*/ 190500 w 190500"/>
              <a:gd name="connsiteY1" fmla="*/ 95250 h 190500"/>
              <a:gd name="connsiteX2" fmla="*/ 95250 w 190500"/>
              <a:gd name="connsiteY2" fmla="*/ 190500 h 190500"/>
              <a:gd name="connsiteX3" fmla="*/ 0 w 190500"/>
              <a:gd name="connsiteY3" fmla="*/ 95250 h 190500"/>
              <a:gd name="connsiteX4" fmla="*/ 95250 w 190500"/>
              <a:gd name="connsiteY4" fmla="*/ 0 h 190500"/>
              <a:gd name="connsiteX5" fmla="*/ 95250 w 190500"/>
              <a:gd name="connsiteY5" fmla="*/ 47625 h 190500"/>
              <a:gd name="connsiteX6" fmla="*/ 88171 w 190500"/>
              <a:gd name="connsiteY6" fmla="*/ 53799 h 190500"/>
              <a:gd name="connsiteX7" fmla="*/ 88106 w 190500"/>
              <a:gd name="connsiteY7" fmla="*/ 54769 h 190500"/>
              <a:gd name="connsiteX8" fmla="*/ 88106 w 190500"/>
              <a:gd name="connsiteY8" fmla="*/ 88106 h 190500"/>
              <a:gd name="connsiteX9" fmla="*/ 54769 w 190500"/>
              <a:gd name="connsiteY9" fmla="*/ 88106 h 190500"/>
              <a:gd name="connsiteX10" fmla="*/ 47625 w 190500"/>
              <a:gd name="connsiteY10" fmla="*/ 95250 h 190500"/>
              <a:gd name="connsiteX11" fmla="*/ 53799 w 190500"/>
              <a:gd name="connsiteY11" fmla="*/ 102329 h 190500"/>
              <a:gd name="connsiteX12" fmla="*/ 54769 w 190500"/>
              <a:gd name="connsiteY12" fmla="*/ 102394 h 190500"/>
              <a:gd name="connsiteX13" fmla="*/ 88106 w 190500"/>
              <a:gd name="connsiteY13" fmla="*/ 102394 h 190500"/>
              <a:gd name="connsiteX14" fmla="*/ 88106 w 190500"/>
              <a:gd name="connsiteY14" fmla="*/ 135731 h 190500"/>
              <a:gd name="connsiteX15" fmla="*/ 95250 w 190500"/>
              <a:gd name="connsiteY15" fmla="*/ 142875 h 190500"/>
              <a:gd name="connsiteX16" fmla="*/ 102329 w 190500"/>
              <a:gd name="connsiteY16" fmla="*/ 136701 h 190500"/>
              <a:gd name="connsiteX17" fmla="*/ 102394 w 190500"/>
              <a:gd name="connsiteY17" fmla="*/ 135731 h 190500"/>
              <a:gd name="connsiteX18" fmla="*/ 102394 w 190500"/>
              <a:gd name="connsiteY18" fmla="*/ 102394 h 190500"/>
              <a:gd name="connsiteX19" fmla="*/ 135731 w 190500"/>
              <a:gd name="connsiteY19" fmla="*/ 102394 h 190500"/>
              <a:gd name="connsiteX20" fmla="*/ 142875 w 190500"/>
              <a:gd name="connsiteY20" fmla="*/ 95250 h 190500"/>
              <a:gd name="connsiteX21" fmla="*/ 136701 w 190500"/>
              <a:gd name="connsiteY21" fmla="*/ 88171 h 190500"/>
              <a:gd name="connsiteX22" fmla="*/ 135731 w 190500"/>
              <a:gd name="connsiteY22" fmla="*/ 88106 h 190500"/>
              <a:gd name="connsiteX23" fmla="*/ 102394 w 190500"/>
              <a:gd name="connsiteY23" fmla="*/ 88106 h 190500"/>
              <a:gd name="connsiteX24" fmla="*/ 102394 w 190500"/>
              <a:gd name="connsiteY24" fmla="*/ 54769 h 190500"/>
              <a:gd name="connsiteX25" fmla="*/ 95250 w 190500"/>
              <a:gd name="connsiteY25" fmla="*/ 47625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90500" h="190500">
                <a:moveTo>
                  <a:pt x="95250" y="0"/>
                </a:moveTo>
                <a:cubicBezTo>
                  <a:pt x="147855" y="0"/>
                  <a:pt x="190500" y="42645"/>
                  <a:pt x="190500" y="95250"/>
                </a:cubicBezTo>
                <a:cubicBezTo>
                  <a:pt x="190500" y="147855"/>
                  <a:pt x="147855" y="190500"/>
                  <a:pt x="95250" y="190500"/>
                </a:cubicBezTo>
                <a:cubicBezTo>
                  <a:pt x="42645" y="190500"/>
                  <a:pt x="0" y="147855"/>
                  <a:pt x="0" y="95250"/>
                </a:cubicBezTo>
                <a:cubicBezTo>
                  <a:pt x="0" y="42645"/>
                  <a:pt x="42645" y="0"/>
                  <a:pt x="95250" y="0"/>
                </a:cubicBezTo>
                <a:close/>
                <a:moveTo>
                  <a:pt x="95250" y="47625"/>
                </a:moveTo>
                <a:cubicBezTo>
                  <a:pt x="91633" y="47625"/>
                  <a:pt x="88644" y="50312"/>
                  <a:pt x="88171" y="53799"/>
                </a:cubicBezTo>
                <a:lnTo>
                  <a:pt x="88106" y="54769"/>
                </a:lnTo>
                <a:lnTo>
                  <a:pt x="88106" y="88106"/>
                </a:lnTo>
                <a:lnTo>
                  <a:pt x="54769" y="88106"/>
                </a:lnTo>
                <a:cubicBezTo>
                  <a:pt x="50823" y="88106"/>
                  <a:pt x="47625" y="91305"/>
                  <a:pt x="47625" y="95250"/>
                </a:cubicBezTo>
                <a:cubicBezTo>
                  <a:pt x="47625" y="98867"/>
                  <a:pt x="50312" y="101856"/>
                  <a:pt x="53799" y="102329"/>
                </a:cubicBezTo>
                <a:lnTo>
                  <a:pt x="54769" y="102394"/>
                </a:lnTo>
                <a:lnTo>
                  <a:pt x="88106" y="102394"/>
                </a:lnTo>
                <a:lnTo>
                  <a:pt x="88106" y="135731"/>
                </a:lnTo>
                <a:cubicBezTo>
                  <a:pt x="88106" y="139677"/>
                  <a:pt x="91305" y="142875"/>
                  <a:pt x="95250" y="142875"/>
                </a:cubicBezTo>
                <a:cubicBezTo>
                  <a:pt x="98867" y="142875"/>
                  <a:pt x="101856" y="140187"/>
                  <a:pt x="102329" y="136701"/>
                </a:cubicBezTo>
                <a:lnTo>
                  <a:pt x="102394" y="135731"/>
                </a:lnTo>
                <a:lnTo>
                  <a:pt x="102394" y="102394"/>
                </a:lnTo>
                <a:lnTo>
                  <a:pt x="135731" y="102394"/>
                </a:lnTo>
                <a:cubicBezTo>
                  <a:pt x="139677" y="102394"/>
                  <a:pt x="142875" y="99195"/>
                  <a:pt x="142875" y="95250"/>
                </a:cubicBezTo>
                <a:cubicBezTo>
                  <a:pt x="142875" y="91633"/>
                  <a:pt x="140187" y="88644"/>
                  <a:pt x="136701" y="88171"/>
                </a:cubicBezTo>
                <a:lnTo>
                  <a:pt x="135731" y="88106"/>
                </a:lnTo>
                <a:lnTo>
                  <a:pt x="102394" y="88106"/>
                </a:lnTo>
                <a:lnTo>
                  <a:pt x="102394" y="54769"/>
                </a:lnTo>
                <a:cubicBezTo>
                  <a:pt x="102394" y="50823"/>
                  <a:pt x="99195" y="47625"/>
                  <a:pt x="95250" y="47625"/>
                </a:cubicBezTo>
                <a:close/>
              </a:path>
            </a:pathLst>
          </a:custGeom>
          <a:gradFill>
            <a:gsLst>
              <a:gs pos="0">
                <a:srgbClr val="EC4899"/>
              </a:gs>
              <a:gs pos="21000">
                <a:srgbClr val="7C3AED"/>
              </a:gs>
              <a:gs pos="100000">
                <a:srgbClr val="3B82F6"/>
              </a:gs>
            </a:gsLst>
            <a:path path="circle">
              <a:fillToRect r="100000" b="100000"/>
            </a:path>
          </a:gradFill>
          <a:ln w="19050"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329455F-F72D-AA9D-A7BA-E791AFBAFD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7000011" y="1203961"/>
            <a:ext cx="3279368" cy="931374"/>
          </a:xfrm>
          <a:prstGeom prst="roundRect">
            <a:avLst>
              <a:gd name="adj" fmla="val 10114"/>
            </a:avLst>
          </a:prstGeom>
          <a:solidFill>
            <a:schemeClr val="bg1"/>
          </a:solidFill>
          <a:ln w="12700">
            <a:noFill/>
            <a:headEnd type="none" w="med" len="med"/>
            <a:tailEnd type="none" w="med" len="med"/>
          </a:ln>
          <a:effectLst>
            <a:outerShdw blurRad="127000" dir="2700000" algn="tl" rotWithShape="0">
              <a:srgbClr val="1E293B">
                <a:alpha val="17323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Segoe UI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4020A2-E4F0-7C1D-FA7F-7C577E1E7293}"/>
              </a:ext>
            </a:extLst>
          </p:cNvPr>
          <p:cNvSpPr txBox="1"/>
          <p:nvPr/>
        </p:nvSpPr>
        <p:spPr>
          <a:xfrm>
            <a:off x="7284186" y="1380675"/>
            <a:ext cx="1453924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 Chat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701608-4EA6-C81E-0BA8-068F41AF746F}"/>
              </a:ext>
            </a:extLst>
          </p:cNvPr>
          <p:cNvSpPr txBox="1"/>
          <p:nvPr/>
        </p:nvSpPr>
        <p:spPr>
          <a:xfrm>
            <a:off x="7140736" y="1759604"/>
            <a:ext cx="1879927" cy="135422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600" b="0" i="0" u="none" strike="noStrike" cap="none" spc="0" normalizeH="0" baseline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Segoe UI Semibold" pitchFamily="2" charset="0"/>
                <a:cs typeface="Segoe UI Semibold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100" b="0" i="0" strike="noStrike" cap="none" baseline="0">
                <a:solidFill>
                  <a:srgbClr val="334155"/>
                </a:solidFill>
                <a:effectLst/>
                <a:latin typeface="Segoe UI"/>
                <a:ea typeface="Segoe UI"/>
                <a:cs typeface="Segoe UI"/>
              </a:rPr>
              <a:t>Chat gratuito y seguro con IA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E6710F5-E690-5DF6-2136-6E100637CD8B}"/>
              </a:ext>
            </a:extLst>
          </p:cNvPr>
          <p:cNvSpPr txBox="1"/>
          <p:nvPr/>
        </p:nvSpPr>
        <p:spPr>
          <a:xfrm>
            <a:off x="7268156" y="4509343"/>
            <a:ext cx="1371265" cy="30480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Agentes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EBA12B-F407-7CD4-8DE5-AB78DBB5D2B3}"/>
              </a:ext>
            </a:extLst>
          </p:cNvPr>
          <p:cNvSpPr txBox="1"/>
          <p:nvPr/>
        </p:nvSpPr>
        <p:spPr>
          <a:xfrm>
            <a:off x="7268156" y="3639523"/>
            <a:ext cx="2850629" cy="7848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 dirty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20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en aplicaciones de M365</a:t>
            </a:r>
            <a:br>
              <a:rPr sz="1400" dirty="0"/>
            </a:br>
            <a:r>
              <a:rPr lang="es-ES" sz="1100" b="0" i="0" strike="noStrike" cap="none" baseline="0" dirty="0" err="1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Teams</a:t>
            </a:r>
            <a:r>
              <a:rPr lang="es-ES" sz="11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, Outlook, Word, Excel, PowerPoint</a:t>
            </a:r>
            <a:endParaRPr kumimoji="0" lang="en-US" sz="1050" b="0" i="0" u="none" strike="noStrike" kern="1200" cap="none" spc="0" normalizeH="0" baseline="0" noProof="0" dirty="0">
              <a:ln w="3175"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Segoe UI Semibold" pitchFamily="2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48AEAB3-68D9-2D48-E41C-306576158F92}"/>
              </a:ext>
            </a:extLst>
          </p:cNvPr>
          <p:cNvSpPr txBox="1"/>
          <p:nvPr/>
        </p:nvSpPr>
        <p:spPr>
          <a:xfrm>
            <a:off x="7268156" y="4899133"/>
            <a:ext cx="2788195" cy="60960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Sistema de control de </a:t>
            </a:r>
            <a:r>
              <a:rPr lang="es-ES" sz="2000" b="1" i="0" strike="noStrike" cap="none" baseline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endParaRPr lang="es-ES" sz="2000" b="1" i="0" strike="noStrike" cap="none" baseline="0">
              <a:solidFill>
                <a:srgbClr val="1E293B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D594F9F-0516-57DB-7029-3077AE39211A}"/>
              </a:ext>
            </a:extLst>
          </p:cNvPr>
          <p:cNvSpPr txBox="1"/>
          <p:nvPr/>
        </p:nvSpPr>
        <p:spPr>
          <a:xfrm>
            <a:off x="7268155" y="5593725"/>
            <a:ext cx="2373065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Análisis de </a:t>
            </a:r>
            <a:r>
              <a:rPr lang="es-ES" sz="2000" b="1" i="0" strike="noStrike" cap="none" baseline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endParaRPr lang="es-ES" sz="2000" b="1" i="0" strike="noStrike" cap="none" baseline="0">
              <a:solidFill>
                <a:srgbClr val="1E293B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F2E77C-E723-B686-B4C6-19D5A8FD84C6}"/>
              </a:ext>
            </a:extLst>
          </p:cNvPr>
          <p:cNvSpPr txBox="1"/>
          <p:nvPr/>
        </p:nvSpPr>
        <p:spPr>
          <a:xfrm>
            <a:off x="7268155" y="3077479"/>
            <a:ext cx="2539521" cy="4770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Chat</a:t>
            </a:r>
            <a:r>
              <a:rPr lang="es-ES" sz="20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</a:t>
            </a:r>
            <a:br>
              <a:rPr sz="1600" dirty="0"/>
            </a:br>
            <a:r>
              <a:rPr lang="es-ES" sz="11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Fundamentado en el trabajo</a:t>
            </a:r>
            <a:endParaRPr kumimoji="0" lang="en-US" sz="1050" b="0" i="0" u="none" strike="noStrike" kern="1200" cap="none" spc="0" normalizeH="0" baseline="0" noProof="0" dirty="0">
              <a:ln w="3175"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Segoe UI Semibold" pitchFamily="2" charset="0"/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10D7A1E-A43C-2F5E-5F91-16ECD809DB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6097375" y="1264920"/>
            <a:ext cx="0" cy="4693920"/>
          </a:xfrm>
          <a:prstGeom prst="line">
            <a:avLst/>
          </a:prstGeom>
          <a:ln w="12700">
            <a:solidFill>
              <a:srgbClr val="D9D9D6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Picture 36">
            <a:extLst>
              <a:ext uri="{FF2B5EF4-FFF2-40B4-BE49-F238E27FC236}">
                <a16:creationId xmlns:a16="http://schemas.microsoft.com/office/drawing/2014/main" id="{CD772216-57C4-31AD-EDF8-6C14B7D45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0"/>
          </a:blip>
          <a:stretch>
            <a:fillRect/>
          </a:stretch>
        </p:blipFill>
        <p:spPr>
          <a:xfrm>
            <a:off x="7735165" y="1444252"/>
            <a:ext cx="437246" cy="44066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D4B184-B33D-D275-9069-B64B1D667D83}"/>
              </a:ext>
            </a:extLst>
          </p:cNvPr>
          <p:cNvSpPr txBox="1"/>
          <p:nvPr/>
        </p:nvSpPr>
        <p:spPr>
          <a:xfrm>
            <a:off x="1401378" y="4224827"/>
            <a:ext cx="4110902" cy="1723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600" b="0" i="0" u="none" strike="noStrike" cap="none" spc="0" normalizeH="0" baseline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Segoe UI Semibold" pitchFamily="2" charset="0"/>
                <a:cs typeface="Segoe UI Semibold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400" b="0" i="0" strike="noStrike" cap="none" baseline="0">
                <a:solidFill>
                  <a:srgbClr val="334155"/>
                </a:solidFill>
                <a:effectLst/>
                <a:latin typeface="Segoe UI"/>
                <a:ea typeface="Segoe UI"/>
                <a:cs typeface="Segoe UI"/>
              </a:rPr>
              <a:t>El asistente de inteligencia artificial para el trabajo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A9C679-FBCD-F878-B24D-609DF0EC4B1A}"/>
              </a:ext>
            </a:extLst>
          </p:cNvPr>
          <p:cNvSpPr txBox="1"/>
          <p:nvPr/>
        </p:nvSpPr>
        <p:spPr>
          <a:xfrm>
            <a:off x="7302188" y="1397936"/>
            <a:ext cx="944169" cy="47705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noFill/>
                <a:effectLst/>
                <a:latin typeface="Segoe UI Semibold"/>
                <a:ea typeface="Segoe UI Semibold"/>
                <a:cs typeface="Segoe UI Semibold"/>
              </a:rPr>
              <a:t>Chat </a:t>
            </a:r>
            <a:br>
              <a:rPr sz="2000" dirty="0"/>
            </a:br>
            <a:r>
              <a:rPr lang="es-ES" sz="1100" b="0" i="0" strike="noStrike" cap="none" baseline="0">
                <a:noFill/>
                <a:effectLst/>
                <a:latin typeface="Segoe UI"/>
                <a:ea typeface="Segoe UI"/>
                <a:cs typeface="Segoe UI"/>
              </a:rPr>
              <a:t>basado en web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6E5138-8D33-F058-E0C1-A5969D4E9D38}"/>
              </a:ext>
            </a:extLst>
          </p:cNvPr>
          <p:cNvSpPr txBox="1"/>
          <p:nvPr/>
        </p:nvSpPr>
        <p:spPr>
          <a:xfrm>
            <a:off x="7240408" y="1482575"/>
            <a:ext cx="949106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noFill/>
                <a:effectLst/>
                <a:latin typeface="Segoe UI Semibold"/>
                <a:ea typeface="Segoe UI Semibold"/>
                <a:cs typeface="Segoe UI Semibold"/>
              </a:rPr>
              <a:t>Agentes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99AA1A-97C6-0E69-76BC-F66B7D6E8D48}"/>
              </a:ext>
            </a:extLst>
          </p:cNvPr>
          <p:cNvSpPr txBox="1"/>
          <p:nvPr/>
        </p:nvSpPr>
        <p:spPr>
          <a:xfrm>
            <a:off x="7041444" y="1482575"/>
            <a:ext cx="1762662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noFill/>
                <a:effectLst/>
                <a:latin typeface="Segoe UI Semibold"/>
                <a:ea typeface="Segoe UI Semibold"/>
                <a:cs typeface="Segoe UI Semibold"/>
              </a:rPr>
              <a:t>Controles de TI</a:t>
            </a:r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73CD3991-26E9-B03C-976F-DD7F57DF1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971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4="http://schemas.microsoft.com/office/powerpoint/2010/main" xmlns:p15="http://schemas.microsoft.com/office/powerpoint/2012/main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-3.75E-06 -0.03472 L -3.75E-06 -4.07407E-06" pathEditMode="relative" rAng="0" ptsTypes="AA">
                                      <p:cBhvr>
                                        <p:cTn id="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grpId="1" nodeType="withEffect">
                                  <p:stCondLst>
                                    <p:cond delay="350"/>
                                  </p:stCondLst>
                                  <p:childTnLst>
                                    <p:animMotion origin="layout" path="M -4.58333E-06 -0.03472 L -4.58333E-06 -7.40741E-07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grpId="1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1.25E-06 -0.03472 L 1.25E-06 -4.81481E-06" pathEditMode="relative" rAng="0" ptsTypes="AA">
                                      <p:cBhvr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grpId="1" nodeType="withEffect">
                                  <p:stCondLst>
                                    <p:cond delay="550"/>
                                  </p:stCondLst>
                                  <p:childTnLst>
                                    <p:animMotion origin="layout" path="M 1.25E-06 -0.03472 L 1.25E-06 -3.7037E-06" pathEditMode="relative" rAng="0" ptsTypes="AA">
                                      <p:cBhvr>
                                        <p:cTn id="24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grpId="1" nodeType="withEffect">
                                  <p:stCondLst>
                                    <p:cond delay="650"/>
                                  </p:stCondLst>
                                  <p:childTnLst>
                                    <p:animMotion origin="layout" path="M -3.75E-06 -0.03473 L -3.75E-06 4.44444E-06" pathEditMode="relative" rAng="0" ptsTypes="AA">
                                      <p:cBhvr>
                                        <p:cTn id="29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3.33333E-06 -0.03472 L 3.33333E-06 2.59259E-06" pathEditMode="relative" rAng="0" ptsTypes="AA">
                                      <p:cBhvr>
                                        <p:cTn id="34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grpId="1" nodeType="withEffect">
                                  <p:stCondLst>
                                    <p:cond delay="850"/>
                                  </p:stCondLst>
                                  <p:childTnLst>
                                    <p:animMotion origin="layout" path="M 6.25E-07 -0.03472 L 6.25E-07 7.40741E-07" pathEditMode="relative" rAng="0" ptsTypes="AA">
                                      <p:cBhvr>
                                        <p:cTn id="39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6" grpId="1" animBg="1"/>
      <p:bldP spid="29" grpId="0" animBg="1"/>
      <p:bldP spid="29" grpId="1" animBg="1"/>
      <p:bldP spid="64" grpId="0"/>
      <p:bldP spid="64" grpId="1"/>
      <p:bldP spid="65" grpId="0"/>
      <p:bldP spid="65" grpId="1"/>
      <p:bldP spid="66" grpId="0"/>
      <p:bldP spid="66" grpId="1"/>
      <p:bldP spid="67" grpId="0"/>
      <p:bldP spid="67" grpId="1"/>
      <p:bldP spid="2" grpId="0"/>
      <p:bldP spid="2" grpId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/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200" b="1" dirty="0">
                <a:solidFill>
                  <a:srgbClr val="1E293B"/>
                </a:solidFill>
                <a:latin typeface="Segoe UI Semibold"/>
                <a:cs typeface="Segoe UI Semibold"/>
              </a:rPr>
              <a:t>Microsoft 365 </a:t>
            </a:r>
            <a:r>
              <a:rPr lang="es-ES" sz="3200" b="1" dirty="0" err="1">
                <a:solidFill>
                  <a:srgbClr val="1E293B"/>
                </a:solidFill>
                <a:latin typeface="Segoe UI Semibold"/>
                <a:cs typeface="Segoe UI Semibold"/>
              </a:rPr>
              <a:t>Copilot</a:t>
            </a:r>
            <a:r>
              <a:rPr lang="es-ES" sz="3200" b="1" dirty="0">
                <a:solidFill>
                  <a:srgbClr val="1E293B"/>
                </a:solidFill>
                <a:latin typeface="Segoe UI Semibold"/>
                <a:cs typeface="Segoe UI Semibold"/>
              </a:rPr>
              <a:t> </a:t>
            </a:r>
            <a:r>
              <a:rPr lang="es-ES" sz="3200" b="1" dirty="0">
                <a:gradFill>
                  <a:gsLst>
                    <a:gs pos="0">
                      <a:srgbClr val="3B82F6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Segoe UI Semibold"/>
                <a:cs typeface="Segoe UI Semibold"/>
              </a:rPr>
              <a:t>Chat</a:t>
            </a:r>
          </a:p>
        </p:txBody>
      </p:sp>
      <p:sp>
        <p:nvSpPr>
          <p:cNvPr id="4" name="Description"/>
          <p:cNvSpPr/>
          <p:nvPr/>
        </p:nvSpPr>
        <p:spPr>
          <a:xfrm>
            <a:off x="1500000" y="1130844"/>
            <a:ext cx="9192000" cy="9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600" dirty="0">
                <a:solidFill>
                  <a:srgbClr val="475569"/>
                </a:solidFill>
                <a:latin typeface="Segoe UI"/>
                <a:cs typeface="Segoe UI"/>
              </a:rPr>
              <a:t>Chat de IA generativa de Microsoft que ofrece acceso seguro a los últimos modelos LLM con controles empresariales y protección de datos.</a:t>
            </a:r>
          </a:p>
        </p:txBody>
      </p:sp>
      <p:sp>
        <p:nvSpPr>
          <p:cNvPr id="10" name="BasicCard"/>
          <p:cNvSpPr/>
          <p:nvPr/>
        </p:nvSpPr>
        <p:spPr>
          <a:xfrm>
            <a:off x="975360" y="2350000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BasicBadge"/>
          <p:cNvSpPr/>
          <p:nvPr/>
        </p:nvSpPr>
        <p:spPr>
          <a:xfrm>
            <a:off x="1175360" y="2470000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Versión básica (gratuita)</a:t>
            </a:r>
          </a:p>
        </p:txBody>
      </p:sp>
      <p:sp>
        <p:nvSpPr>
          <p:cNvPr id="12" name="BasicList"/>
          <p:cNvSpPr/>
          <p:nvPr/>
        </p:nvSpPr>
        <p:spPr>
          <a:xfrm>
            <a:off x="1275360" y="3100000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Chat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web con los últimos modelos LLM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Búsqueda en la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web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y carga de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archivos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Generación de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imágenes </a:t>
            </a:r>
            <a:r>
              <a:rPr lang="es-ES" sz="16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y contenido</a:t>
            </a:r>
            <a:endParaRPr lang="es-ES" sz="1600" dirty="0">
              <a:solidFill>
                <a:srgbClr val="1E293B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Agentes de pago por uso bajo demanda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Protección de datos 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empresariales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Controles de TI básicos</a:t>
            </a:r>
          </a:p>
        </p:txBody>
      </p:sp>
      <p:sp>
        <p:nvSpPr>
          <p:cNvPr id="20" name="LicensedCard"/>
          <p:cNvSpPr/>
          <p:nvPr/>
        </p:nvSpPr>
        <p:spPr>
          <a:xfrm>
            <a:off x="6246640" y="2350000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7C3AED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LicensedBadge"/>
          <p:cNvSpPr/>
          <p:nvPr/>
        </p:nvSpPr>
        <p:spPr>
          <a:xfrm>
            <a:off x="6446640" y="2470000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Versión con licencia (M365 Copilot)</a:t>
            </a:r>
          </a:p>
        </p:txBody>
      </p:sp>
      <p:sp>
        <p:nvSpPr>
          <p:cNvPr id="22" name="LicensedList"/>
          <p:cNvSpPr/>
          <p:nvPr/>
        </p:nvSpPr>
        <p:spPr>
          <a:xfrm>
            <a:off x="6546640" y="2992424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b="1" dirty="0">
                <a:solidFill>
                  <a:srgbClr val="7C3AED"/>
                </a:solidFill>
                <a:latin typeface="Segoe UI Semibold"/>
              </a:rPr>
              <a:t>Todo lo de la versión básica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Chat fundamentado en los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datos de tu organización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 err="1">
                <a:solidFill>
                  <a:srgbClr val="1E293B"/>
                </a:solidFill>
                <a:latin typeface="Segoe UI"/>
              </a:rPr>
              <a:t>Copilot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integrado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en aplicaciones de M365: Word, Excel, PowerPoint, Outlook y </a:t>
            </a:r>
            <a:r>
              <a:rPr lang="es-ES" sz="1600" dirty="0" err="1">
                <a:solidFill>
                  <a:srgbClr val="1E293B"/>
                </a:solidFill>
                <a:latin typeface="Segoe UI"/>
              </a:rPr>
              <a:t>Teams</a:t>
            </a:r>
            <a:endParaRPr lang="es-ES" sz="1600" dirty="0">
              <a:solidFill>
                <a:srgbClr val="1E293B"/>
              </a:solidFill>
              <a:latin typeface="Segoe UI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Agentes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sin pago por consumo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Administración y análisis avanzados</a:t>
            </a:r>
          </a:p>
        </p:txBody>
      </p:sp>
      <p:sp>
        <p:nvSpPr>
          <p:cNvPr id="30" name="SecurityNote"/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>
                <a:solidFill>
                  <a:srgbClr val="92400E"/>
                </a:solidFill>
                <a:latin typeface="Segoe UI Semibold"/>
                <a:cs typeface="Segoe UI Semibold"/>
              </a:rPr>
              <a:t>⚠ Nota: </a:t>
            </a:r>
            <a:r>
              <a:rPr lang="es-ES" sz="1400">
                <a:solidFill>
                  <a:srgbClr val="92400E"/>
                </a:solidFill>
                <a:latin typeface="Segoe UI"/>
                <a:cs typeface="Segoe UI"/>
              </a:rPr>
              <a:t>algunas funcionalidades pueden estar restringidas según la política de seguridad de tu organización.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9D2ACC-27C3-122C-F797-16EFD6387E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3690" y="301116"/>
            <a:ext cx="755934" cy="7618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Acceso a </a:t>
            </a:r>
            <a:r>
              <a:rPr lang="es-ES" sz="32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Chat</a:t>
            </a:r>
            <a:endParaRPr lang="es-E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Title 1"/>
          <p:cNvSpPr/>
          <p:nvPr/>
        </p:nvSpPr>
        <p:spPr>
          <a:xfrm>
            <a:off x="663361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Explorador web</a:t>
            </a:r>
            <a:endParaRPr lang="es-ES" sz="2000" dirty="0"/>
          </a:p>
        </p:txBody>
      </p:sp>
      <p:sp>
        <p:nvSpPr>
          <p:cNvPr id="5" name="Body 1"/>
          <p:cNvSpPr/>
          <p:nvPr/>
        </p:nvSpPr>
        <p:spPr>
          <a:xfrm>
            <a:off x="663361" y="2200000"/>
            <a:ext cx="52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Ve a </a:t>
            </a:r>
            <a:r>
              <a:rPr lang="es-ES" sz="1600" u="sng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m365.cloud.Microsoft</a:t>
            </a:r>
            <a:endParaRPr lang="es-ES" sz="1600" dirty="0"/>
          </a:p>
        </p:txBody>
      </p:sp>
      <p:sp>
        <p:nvSpPr>
          <p:cNvPr id="60" name="Web Card"/>
          <p:cNvSpPr/>
          <p:nvPr/>
        </p:nvSpPr>
        <p:spPr>
          <a:xfrm>
            <a:off x="963361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pic>
        <p:nvPicPr>
          <p:cNvPr id="6" name="Image Web" descr="Web browser screenshot of Microsoft 365 Copilot Chat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1461" y="3300000"/>
            <a:ext cx="2263800" cy="1400000"/>
          </a:xfrm>
          <a:prstGeom prst="roundRect">
            <a:avLst>
              <a:gd name="adj" fmla="val 6000"/>
            </a:avLst>
          </a:prstGeom>
          <a:ln w="9525">
            <a:solidFill>
              <a:srgbClr val="E2E8F0"/>
            </a:solidFill>
          </a:ln>
        </p:spPr>
      </p:pic>
      <p:sp>
        <p:nvSpPr>
          <p:cNvPr id="62" name="Web Label"/>
          <p:cNvSpPr/>
          <p:nvPr/>
        </p:nvSpPr>
        <p:spPr>
          <a:xfrm>
            <a:off x="963361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365 web</a:t>
            </a:r>
          </a:p>
          <a:p>
            <a:pPr algn="ctr"/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Cualquier navegador</a:t>
            </a:r>
            <a:endParaRPr lang="es-ES" sz="1200" dirty="0"/>
          </a:p>
        </p:txBody>
      </p:sp>
      <p:sp>
        <p:nvSpPr>
          <p:cNvPr id="8" name="Title 2"/>
          <p:cNvSpPr/>
          <p:nvPr/>
        </p:nvSpPr>
        <p:spPr>
          <a:xfrm>
            <a:off x="6328639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Navegador Microsoft Edge</a:t>
            </a:r>
            <a:endParaRPr lang="es-ES" sz="2000"/>
          </a:p>
        </p:txBody>
      </p:sp>
      <p:sp>
        <p:nvSpPr>
          <p:cNvPr id="9" name="Body 2"/>
          <p:cNvSpPr/>
          <p:nvPr/>
        </p:nvSpPr>
        <p:spPr>
          <a:xfrm>
            <a:off x="6328639" y="2200000"/>
            <a:ext cx="520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Selecciona el icono de </a:t>
            </a:r>
            <a:r>
              <a:rPr lang="es-ES" sz="1600" dirty="0" err="1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en la esquina superior derecha de la barra del navegador Edge</a:t>
            </a:r>
            <a:endParaRPr lang="es-ES" sz="1600" dirty="0"/>
          </a:p>
        </p:txBody>
      </p:sp>
      <p:sp>
        <p:nvSpPr>
          <p:cNvPr id="61" name="Edge Card"/>
          <p:cNvSpPr/>
          <p:nvPr/>
        </p:nvSpPr>
        <p:spPr>
          <a:xfrm>
            <a:off x="6628639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pic>
        <p:nvPicPr>
          <p:cNvPr id="10" name="Image Edge" descr="Screenshot of the Microsoft Edge browser showcasing Microsoft 365 Copilot Chat.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4039" y="3275931"/>
            <a:ext cx="2209200" cy="1400000"/>
          </a:xfrm>
          <a:prstGeom prst="roundRect">
            <a:avLst>
              <a:gd name="adj" fmla="val 6000"/>
            </a:avLst>
          </a:prstGeom>
          <a:ln w="9525">
            <a:solidFill>
              <a:srgbClr val="E2E8F0"/>
            </a:solidFill>
          </a:ln>
        </p:spPr>
      </p:pic>
      <p:sp>
        <p:nvSpPr>
          <p:cNvPr id="63" name="Edge Label"/>
          <p:cNvSpPr/>
          <p:nvPr/>
        </p:nvSpPr>
        <p:spPr>
          <a:xfrm>
            <a:off x="6628639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Edge</a:t>
            </a:r>
          </a:p>
          <a:p>
            <a:pPr algn="ctr"/>
            <a:r>
              <a:rPr lang="es-ES" sz="1200" dirty="0" err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integrado</a:t>
            </a:r>
            <a:endParaRPr lang="es-ES" sz="1200" dirty="0"/>
          </a:p>
        </p:txBody>
      </p:sp>
      <p:sp>
        <p:nvSpPr>
          <p:cNvPr id="30" name="Info Bar"/>
          <p:cNvSpPr/>
          <p:nvPr/>
        </p:nvSpPr>
        <p:spPr>
          <a:xfrm>
            <a:off x="1036800" y="5751861"/>
            <a:ext cx="10241280" cy="60000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31" name="Info Icon BG"/>
          <p:cNvSpPr/>
          <p:nvPr/>
        </p:nvSpPr>
        <p:spPr>
          <a:xfrm>
            <a:off x="1199120" y="5824347"/>
            <a:ext cx="400000" cy="40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</a:t>
            </a:r>
            <a:endParaRPr lang="en-US" sz="1600"/>
          </a:p>
        </p:txBody>
      </p:sp>
      <p:sp>
        <p:nvSpPr>
          <p:cNvPr id="32" name="Info Text"/>
          <p:cNvSpPr/>
          <p:nvPr/>
        </p:nvSpPr>
        <p:spPr>
          <a:xfrm>
            <a:off x="1761440" y="5751861"/>
            <a:ext cx="95166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Consejo</a:t>
            </a:r>
            <a:r>
              <a:rPr lang="es-ES" sz="1600" dirty="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—  La experiencia es la misma en todas las plataformas. Inicia sesión con tu cuenta profesional.</a:t>
            </a:r>
            <a:endParaRPr lang="es-ES" sz="1600" dirty="0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3993C855-4B6A-B3E2-77FE-CEF5AF53D2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374"/>
            <a:ext cx="12192000" cy="73152"/>
          </a:xfrm>
          <a:prstGeom prst="rect">
            <a:avLst/>
          </a:prstGeom>
        </p:spPr>
      </p:pic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ABDDAE4F-BA37-2C4E-F9EA-36E267A313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374"/>
            <a:ext cx="12192000" cy="73152"/>
          </a:xfrm>
          <a:prstGeom prst="rect">
            <a:avLst/>
          </a:prstGeom>
        </p:spPr>
      </p:pic>
      <p:sp>
        <p:nvSpPr>
          <p:cNvPr id="11" name="Subtitle">
            <a:extLst>
              <a:ext uri="{FF2B5EF4-FFF2-40B4-BE49-F238E27FC236}">
                <a16:creationId xmlns:a16="http://schemas.microsoft.com/office/drawing/2014/main" id="{45FE1003-7AFA-59C9-3FF7-BB709EE1FCA3}"/>
              </a:ext>
            </a:extLst>
          </p:cNvPr>
          <p:cNvSpPr/>
          <p:nvPr/>
        </p:nvSpPr>
        <p:spPr>
          <a:xfrm>
            <a:off x="975360" y="1150000"/>
            <a:ext cx="1024128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8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Aplicación de web y de Microsoft Edge</a:t>
            </a:r>
            <a:endParaRPr lang="es-ES" sz="1800" dirty="0"/>
          </a:p>
        </p:txBody>
      </p:sp>
    </p:spTree>
    <p:extLst>
      <p:ext uri="{BB962C8B-B14F-4D97-AF65-F5344CB8AC3E}">
        <p14:creationId xmlns:p14="http://schemas.microsoft.com/office/powerpoint/2010/main" val="2759257776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Acceso a </a:t>
            </a:r>
            <a:r>
              <a:rPr lang="es-ES" sz="32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Chat</a:t>
            </a:r>
            <a:endParaRPr lang="es-E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Subtitle"/>
          <p:cNvSpPr/>
          <p:nvPr/>
        </p:nvSpPr>
        <p:spPr>
          <a:xfrm>
            <a:off x="975360" y="1150000"/>
            <a:ext cx="1024128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8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Aplicación de escritorio y móvil</a:t>
            </a:r>
            <a:endParaRPr lang="es-ES" sz="1800" dirty="0"/>
          </a:p>
        </p:txBody>
      </p:sp>
      <p:sp>
        <p:nvSpPr>
          <p:cNvPr id="4" name="Title 1"/>
          <p:cNvSpPr/>
          <p:nvPr/>
        </p:nvSpPr>
        <p:spPr>
          <a:xfrm>
            <a:off x="663361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Aplicación de escritorio</a:t>
            </a:r>
            <a:endParaRPr lang="es-ES" sz="2000"/>
          </a:p>
        </p:txBody>
      </p:sp>
      <p:sp>
        <p:nvSpPr>
          <p:cNvPr id="5" name="Body 1"/>
          <p:cNvSpPr/>
          <p:nvPr/>
        </p:nvSpPr>
        <p:spPr>
          <a:xfrm>
            <a:off x="663361" y="2200000"/>
            <a:ext cx="52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Disponible como aplicación de escritorio en Windows y macOS a través de Microsoft Teams o la aplicación Microsoft 365.</a:t>
            </a:r>
            <a:endParaRPr lang="es-ES" sz="1400"/>
          </a:p>
        </p:txBody>
      </p:sp>
      <p:sp>
        <p:nvSpPr>
          <p:cNvPr id="50" name="Desktop Card"/>
          <p:cNvSpPr/>
          <p:nvPr/>
        </p:nvSpPr>
        <p:spPr>
          <a:xfrm>
            <a:off x="963361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sp>
        <p:nvSpPr>
          <p:cNvPr id="51" name="Monitor Screen"/>
          <p:cNvSpPr/>
          <p:nvPr/>
        </p:nvSpPr>
        <p:spPr>
          <a:xfrm>
            <a:off x="2363361" y="3250000"/>
            <a:ext cx="1800000" cy="11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s-ES" sz="1200">
                <a:solidFill>
                  <a:srgbClr val="7C3AED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Copilot</a:t>
            </a:r>
            <a:endParaRPr lang="es-ES" sz="1200"/>
          </a:p>
        </p:txBody>
      </p:sp>
      <p:sp>
        <p:nvSpPr>
          <p:cNvPr id="56" name="Monitor Stand"/>
          <p:cNvSpPr/>
          <p:nvPr/>
        </p:nvSpPr>
        <p:spPr>
          <a:xfrm>
            <a:off x="3063361" y="4350000"/>
            <a:ext cx="400000" cy="150000"/>
          </a:xfrm>
          <a:prstGeom prst="trapezoid">
            <a:avLst>
              <a:gd name="adj" fmla="val 35000"/>
            </a:avLst>
          </a:prstGeom>
          <a:solidFill>
            <a:srgbClr val="7C3AED"/>
          </a:solidFill>
          <a:ln>
            <a:noFill/>
          </a:ln>
        </p:spPr>
        <p:txBody>
          <a:bodyPr rtlCol="0" anchor="ctr"/>
          <a:lstStyle/>
          <a:p>
            <a:endParaRPr lang="es-ES"/>
          </a:p>
        </p:txBody>
      </p:sp>
      <p:sp>
        <p:nvSpPr>
          <p:cNvPr id="52" name="Desktop Label"/>
          <p:cNvSpPr/>
          <p:nvPr/>
        </p:nvSpPr>
        <p:spPr>
          <a:xfrm>
            <a:off x="963361" y="455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endParaRPr lang="es-ES" sz="1200" dirty="0"/>
          </a:p>
        </p:txBody>
      </p:sp>
      <p:sp>
        <p:nvSpPr>
          <p:cNvPr id="8" name="Title 2"/>
          <p:cNvSpPr/>
          <p:nvPr/>
        </p:nvSpPr>
        <p:spPr>
          <a:xfrm>
            <a:off x="6403720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Aplicación móvil</a:t>
            </a:r>
            <a:endParaRPr lang="es-ES" sz="2000"/>
          </a:p>
        </p:txBody>
      </p:sp>
      <p:sp>
        <p:nvSpPr>
          <p:cNvPr id="9" name="Body 2"/>
          <p:cNvSpPr/>
          <p:nvPr/>
        </p:nvSpPr>
        <p:spPr>
          <a:xfrm>
            <a:off x="6403720" y="2200000"/>
            <a:ext cx="52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Accede desde tu dispositivo iOS o Android descargando la aplicación Microsoft 365 Copilot desde la tienda de aplicaciones.</a:t>
            </a:r>
            <a:endParaRPr lang="es-ES" sz="1400"/>
          </a:p>
        </p:txBody>
      </p:sp>
      <p:sp>
        <p:nvSpPr>
          <p:cNvPr id="53" name="Mobile Card"/>
          <p:cNvSpPr/>
          <p:nvPr/>
        </p:nvSpPr>
        <p:spPr>
          <a:xfrm>
            <a:off x="6703720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sp>
        <p:nvSpPr>
          <p:cNvPr id="54" name="Phone Shape"/>
          <p:cNvSpPr/>
          <p:nvPr/>
        </p:nvSpPr>
        <p:spPr>
          <a:xfrm>
            <a:off x="8542355" y="3233994"/>
            <a:ext cx="755326" cy="130186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s-ES" sz="900">
                <a:solidFill>
                  <a:srgbClr val="7C3AED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Copilot</a:t>
            </a:r>
            <a:endParaRPr lang="es-ES" sz="900"/>
          </a:p>
        </p:txBody>
      </p:sp>
      <p:sp>
        <p:nvSpPr>
          <p:cNvPr id="55" name="Mobile Label"/>
          <p:cNvSpPr/>
          <p:nvPr/>
        </p:nvSpPr>
        <p:spPr>
          <a:xfrm>
            <a:off x="6703720" y="455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endParaRPr lang="es-ES" sz="1200" dirty="0"/>
          </a:p>
        </p:txBody>
      </p:sp>
      <p:sp>
        <p:nvSpPr>
          <p:cNvPr id="30" name="Info Bar"/>
          <p:cNvSpPr/>
          <p:nvPr/>
        </p:nvSpPr>
        <p:spPr>
          <a:xfrm>
            <a:off x="1036800" y="5751861"/>
            <a:ext cx="10241280" cy="60000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31" name="Info Icon BG"/>
          <p:cNvSpPr/>
          <p:nvPr/>
        </p:nvSpPr>
        <p:spPr>
          <a:xfrm>
            <a:off x="1199120" y="5824347"/>
            <a:ext cx="400000" cy="40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</a:t>
            </a:r>
            <a:endParaRPr lang="en-US" sz="1600"/>
          </a:p>
        </p:txBody>
      </p:sp>
      <p:sp>
        <p:nvSpPr>
          <p:cNvPr id="32" name="Info Text"/>
          <p:cNvSpPr/>
          <p:nvPr/>
        </p:nvSpPr>
        <p:spPr>
          <a:xfrm>
            <a:off x="1761440" y="5751861"/>
            <a:ext cx="95166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Consejo</a:t>
            </a:r>
            <a:r>
              <a:rPr lang="es-ES" sz="1600" dirty="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—  La experiencia es la misma en todas las plataformas. Inicia sesión con tu cuenta profesional.</a:t>
            </a:r>
            <a:endParaRPr lang="es-ES" sz="1600" dirty="0"/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2DA95334-BEE4-1B65-AE7E-DF7E32F3DF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pic>
        <p:nvPicPr>
          <p:cNvPr id="7" name="Picture 6" descr="Copilot on Windows: Copilot Actions begins rolling out to Windows Insiders  | Windows Insider Blog">
            <a:extLst>
              <a:ext uri="{FF2B5EF4-FFF2-40B4-BE49-F238E27FC236}">
                <a16:creationId xmlns:a16="http://schemas.microsoft.com/office/drawing/2014/main" id="{E71EC5A6-59D8-DE82-A39A-DCD5A095CA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3238" y="3250001"/>
            <a:ext cx="1800000" cy="1120500"/>
          </a:xfrm>
          <a:prstGeom prst="rect">
            <a:avLst/>
          </a:prstGeom>
        </p:spPr>
      </p:pic>
      <p:pic>
        <p:nvPicPr>
          <p:cNvPr id="10" name="Picture 9" descr="Get started with the Microsoft 365 Copilot mobile app | Microsoft Support">
            <a:extLst>
              <a:ext uri="{FF2B5EF4-FFF2-40B4-BE49-F238E27FC236}">
                <a16:creationId xmlns:a16="http://schemas.microsoft.com/office/drawing/2014/main" id="{F308B52A-EE45-57C3-3436-1C8B4E8E19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2355" y="3250000"/>
            <a:ext cx="755326" cy="1285855"/>
          </a:xfrm>
          <a:prstGeom prst="rect">
            <a:avLst/>
          </a:prstGeom>
        </p:spPr>
      </p:pic>
      <p:sp>
        <p:nvSpPr>
          <p:cNvPr id="11" name="Web Label">
            <a:extLst>
              <a:ext uri="{FF2B5EF4-FFF2-40B4-BE49-F238E27FC236}">
                <a16:creationId xmlns:a16="http://schemas.microsoft.com/office/drawing/2014/main" id="{93C295C1-A230-DC9C-9B2E-77F36177F1A3}"/>
              </a:ext>
            </a:extLst>
          </p:cNvPr>
          <p:cNvSpPr/>
          <p:nvPr/>
        </p:nvSpPr>
        <p:spPr>
          <a:xfrm>
            <a:off x="963361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</a:t>
            </a:r>
            <a:r>
              <a:rPr lang="es-ES" sz="1400" b="1" dirty="0" err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Teams</a:t>
            </a:r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/ Microsoft 365</a:t>
            </a:r>
          </a:p>
          <a:p>
            <a:pPr algn="ctr"/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Windows y macOS</a:t>
            </a:r>
            <a:endParaRPr lang="es-ES" sz="1200" dirty="0"/>
          </a:p>
        </p:txBody>
      </p:sp>
      <p:sp>
        <p:nvSpPr>
          <p:cNvPr id="13" name="Edge Label">
            <a:extLst>
              <a:ext uri="{FF2B5EF4-FFF2-40B4-BE49-F238E27FC236}">
                <a16:creationId xmlns:a16="http://schemas.microsoft.com/office/drawing/2014/main" id="{1B88F26C-BCD8-8D6D-928B-22ED4DC2672C}"/>
              </a:ext>
            </a:extLst>
          </p:cNvPr>
          <p:cNvSpPr/>
          <p:nvPr/>
        </p:nvSpPr>
        <p:spPr>
          <a:xfrm>
            <a:off x="6628639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365 </a:t>
            </a:r>
            <a:r>
              <a:rPr lang="es-ES" sz="1400" b="1" dirty="0" err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Copilot</a:t>
            </a:r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App</a:t>
            </a:r>
          </a:p>
          <a:p>
            <a:pPr algn="ctr"/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iOS y Android</a:t>
            </a:r>
            <a:endParaRPr lang="es-ES" sz="1200" dirty="0"/>
          </a:p>
        </p:txBody>
      </p:sp>
    </p:spTree>
    <p:extLst>
      <p:ext uri="{BB962C8B-B14F-4D97-AF65-F5344CB8AC3E}">
        <p14:creationId xmlns:p14="http://schemas.microsoft.com/office/powerpoint/2010/main" val="384729105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0B4A978-9B96-34EA-1E87-8FC0EDC1A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473763" y="1321273"/>
            <a:ext cx="11244474" cy="4988087"/>
          </a:xfrm>
          <a:prstGeom prst="roundRect">
            <a:avLst>
              <a:gd name="adj" fmla="val 4127"/>
            </a:avLst>
          </a:prstGeom>
          <a:solidFill>
            <a:srgbClr val="FFFFFF">
              <a:alpha val="74118"/>
            </a:srgbClr>
          </a:solidFill>
          <a:ln w="9525" cap="flat" cmpd="sng" algn="ctr">
            <a:solidFill>
              <a:srgbClr val="1E293B"/>
            </a:solidFill>
            <a:prstDash val="solid"/>
          </a:ln>
          <a:effectLst>
            <a:outerShdw blurRad="343645" dist="295501" dir="2700000" algn="tl" rotWithShape="0">
              <a:srgbClr val="EC4899">
                <a:alpha val="15816"/>
              </a:srgbClr>
            </a:outerShdw>
          </a:effectLst>
        </p:spPr>
        <p:txBody>
          <a:bodyPr rot="0" spcFirstLastPara="0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472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4E477027-6336-AF1E-6BBE-09193B056A23}"/>
              </a:ext>
            </a:extLst>
          </p:cNvPr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0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Interfaz de Microsoft 365 </a:t>
            </a:r>
            <a:r>
              <a:rPr lang="es-ES" sz="3200" b="0" i="0" strike="noStrike" cap="none" baseline="0" dirty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3200" b="0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Chat</a:t>
            </a:r>
            <a:endParaRPr lang="es-E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D722FD3E-781C-C7E4-1EA6-9A0CEC336D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C15567B-0075-B566-428C-59784E1B685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78529" y="1686064"/>
            <a:ext cx="5727140" cy="3245542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C3E9D6D-F3A0-BD89-B8F4-3EF81DFCA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8583084" y="2094314"/>
            <a:ext cx="1017905" cy="258794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34BE6EB-68C4-57B3-1D2D-BA0DF215D2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8205017" y="3560849"/>
            <a:ext cx="1395972" cy="791963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430BF0D-724A-D5FD-E1C2-3094934642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8290267" y="3288712"/>
            <a:ext cx="1310722" cy="0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F1E82A-67F2-2A91-DF5B-F220195617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8071020" y="4352812"/>
            <a:ext cx="0" cy="935604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AD3E193-EA0C-A17D-92DC-BEF4F35CC3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5377991" y="4233421"/>
            <a:ext cx="0" cy="1054995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54738E7-B7A3-D81B-0014-5DFB33D7B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2587636" y="3577542"/>
            <a:ext cx="2388426" cy="1183376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370259D-B036-7E91-7725-A46A292010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2681272" y="2478807"/>
            <a:ext cx="634321" cy="357185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237D86F-D9F6-EA34-363F-B4542D835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2756892" y="2323356"/>
            <a:ext cx="558701" cy="0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E841DF2-FF68-C942-5E99-90E30E6B17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2587636" y="2645057"/>
            <a:ext cx="751636" cy="761797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grpSp>
        <p:nvGrpSpPr>
          <p:cNvPr id="21" name="Group 20" descr="Microsoft 365 Copilot Chat app interface with callouts explaining each feature of the app.">
            <a:extLst>
              <a:ext uri="{FF2B5EF4-FFF2-40B4-BE49-F238E27FC236}">
                <a16:creationId xmlns:a16="http://schemas.microsoft.com/office/drawing/2014/main" id="{CBCB0190-3E82-211D-284F-4C9E0738219B}"/>
              </a:ext>
            </a:extLst>
          </p:cNvPr>
          <p:cNvGrpSpPr/>
          <p:nvPr/>
        </p:nvGrpSpPr>
        <p:grpSpPr>
          <a:xfrm>
            <a:off x="661788" y="1686064"/>
            <a:ext cx="11056449" cy="4448739"/>
            <a:chOff x="409651" y="2240687"/>
            <a:chExt cx="11056449" cy="402338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AE2DCC0-2D76-BF3E-2935-487C34B796AA}"/>
                </a:ext>
              </a:extLst>
            </p:cNvPr>
            <p:cNvSpPr txBox="1"/>
            <p:nvPr/>
          </p:nvSpPr>
          <p:spPr>
            <a:xfrm>
              <a:off x="9461697" y="2595997"/>
              <a:ext cx="1939764" cy="7654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Botón para iniciar </a:t>
              </a:r>
              <a:b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</a:b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un nuevo chat</a:t>
              </a: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Borrar el chat anterior e iniciar una nueva conversación.</a:t>
              </a: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endParaRPr kumimoji="0" lang="en-US" sz="11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 scaled="0"/>
                </a:gradFill>
                <a:effectLst/>
                <a:uLnTx/>
                <a:uFillTx/>
                <a:latin typeface="Segoe UI Semibold"/>
                <a:ea typeface="+mn-ea"/>
                <a:cs typeface="Segoe UI Semibold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1AE6027-8EC1-2DCC-9956-10936B63BD13}"/>
                </a:ext>
              </a:extLst>
            </p:cNvPr>
            <p:cNvSpPr txBox="1"/>
            <p:nvPr/>
          </p:nvSpPr>
          <p:spPr>
            <a:xfrm>
              <a:off x="7109204" y="5498610"/>
              <a:ext cx="2653235" cy="7654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Galería de indicaciones de </a:t>
              </a:r>
              <a:r>
                <a:rPr lang="es-ES" sz="1100" b="0" i="0" strike="noStrike" cap="none" baseline="0" err="1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Copilot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Expandir las indicaciones sugeridas para ver la Galería de indicaciones completa, como las indicaciones guardadas y las indicaciones de su equipo.</a:t>
              </a:r>
              <a:endParaRPr kumimoji="0" lang="en-US" sz="11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 scaled="0"/>
                </a:gradFill>
                <a:effectLst/>
                <a:uLnTx/>
                <a:uFillTx/>
                <a:latin typeface="Segoe UI Semibold"/>
                <a:ea typeface="+mn-ea"/>
                <a:cs typeface="Segoe UI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4B8D1AD-FD3E-8572-C913-1B254EA57B01}"/>
                </a:ext>
              </a:extLst>
            </p:cNvPr>
            <p:cNvSpPr txBox="1"/>
            <p:nvPr/>
          </p:nvSpPr>
          <p:spPr>
            <a:xfrm>
              <a:off x="9461696" y="3382222"/>
              <a:ext cx="1746557" cy="30618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Cuadro de indicaciones</a:t>
              </a: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Iniciar la conversación aquí.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5F5A301-9BC2-0E80-F810-40CF6D6DE5AE}"/>
                </a:ext>
              </a:extLst>
            </p:cNvPr>
            <p:cNvSpPr txBox="1"/>
            <p:nvPr/>
          </p:nvSpPr>
          <p:spPr>
            <a:xfrm>
              <a:off x="4498881" y="5565820"/>
              <a:ext cx="2278993" cy="45927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Indicaciones sugeridas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Comenzar con las sugerencias de indicaciones personalizadas.</a:t>
              </a:r>
              <a:endParaRPr kumimoji="0" lang="en-US" sz="11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 scaled="0"/>
                </a:gradFill>
                <a:effectLst/>
                <a:uLnTx/>
                <a:uFillTx/>
                <a:latin typeface="Segoe UI Semibold"/>
                <a:ea typeface="+mn-ea"/>
                <a:cs typeface="Segoe UI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E6206D6-DD83-81C8-8EF2-3E4AA2870184}"/>
                </a:ext>
              </a:extLst>
            </p:cNvPr>
            <p:cNvSpPr txBox="1"/>
            <p:nvPr/>
          </p:nvSpPr>
          <p:spPr>
            <a:xfrm>
              <a:off x="409651" y="2240687"/>
              <a:ext cx="2274265" cy="7654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Agentes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Elegir un agente de la lista para chatear con él o expandir el menú de agentes para buscar o crear agentes.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2EBDB23-7EC3-65B9-ABC9-3D9B21559226}"/>
                </a:ext>
              </a:extLst>
            </p:cNvPr>
            <p:cNvSpPr txBox="1"/>
            <p:nvPr/>
          </p:nvSpPr>
          <p:spPr>
            <a:xfrm>
              <a:off x="409651" y="3096002"/>
              <a:ext cx="2084791" cy="30618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Historial de chats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Ver las conversaciones anteriores.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E47DD8B-7B3F-1C8F-B1A8-F098FA40F08F}"/>
                </a:ext>
              </a:extLst>
            </p:cNvPr>
            <p:cNvSpPr txBox="1"/>
            <p:nvPr/>
          </p:nvSpPr>
          <p:spPr>
            <a:xfrm>
              <a:off x="409652" y="4811397"/>
              <a:ext cx="2084790" cy="6123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Aft>
                  <a:spcPts val="600"/>
                </a:spcAft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Agregar contenido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Expándelo para añadir archivos </a:t>
              </a:r>
              <a:b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o imágenes de referencia a la indicación de </a:t>
              </a:r>
              <a:r>
                <a:rPr lang="es-ES" sz="1100" b="0" i="0" strike="noStrike" cap="none" baseline="0" err="1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Copilot</a:t>
              </a: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.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2C3201-6958-6AB7-865F-CE0BE7B7D113}"/>
                </a:ext>
              </a:extLst>
            </p:cNvPr>
            <p:cNvSpPr txBox="1"/>
            <p:nvPr/>
          </p:nvSpPr>
          <p:spPr>
            <a:xfrm>
              <a:off x="9462905" y="4438335"/>
              <a:ext cx="2003195" cy="6123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Dictado</a:t>
              </a:r>
              <a:endPara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Segoe UI Semibold"/>
                <a:ea typeface="+mn-ea"/>
                <a:cs typeface="Segoe UI Semibold" charset="0"/>
              </a:endParaRP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Usa el dictado si prefieres hablar en lugar de escribir </a:t>
              </a:r>
              <a:b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</a:b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al chatear con </a:t>
              </a:r>
              <a:r>
                <a:rPr lang="es-ES" sz="1100" b="0" i="0" strike="noStrike" cap="none" baseline="0" err="1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Copilot</a:t>
              </a: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.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4CC5F7C3-EEFB-83C7-4AC8-696EDDE2D20B}"/>
              </a:ext>
            </a:extLst>
          </p:cNvPr>
          <p:cNvSpPr txBox="1"/>
          <p:nvPr/>
        </p:nvSpPr>
        <p:spPr>
          <a:xfrm>
            <a:off x="661788" y="3215199"/>
            <a:ext cx="2084791" cy="50783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defRPr/>
            </a:pPr>
            <a:r>
              <a:rPr lang="es-ES" sz="1100" b="0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Páginas de </a:t>
            </a:r>
            <a:r>
              <a:rPr lang="es-ES" sz="1100" b="0" i="0" strike="noStrike" cap="none" baseline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1100" b="0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Chat</a:t>
            </a:r>
            <a:br>
              <a:rPr sz="1100" dirty="0"/>
            </a:br>
            <a:r>
              <a:rPr lang="es-ES" sz="1100" b="0" i="0" strike="noStrike" cap="none" baseline="0"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/>
                  <a:tileRect l="-100000" t="-100000"/>
                </a:gradFill>
                <a:effectLst/>
                <a:latin typeface="Segoe UI"/>
                <a:ea typeface="Segoe UI"/>
                <a:cs typeface="Segoe UI"/>
              </a:rPr>
              <a:t>Consulta las páginas que has creado.</a:t>
            </a:r>
          </a:p>
        </p:txBody>
      </p:sp>
    </p:spTree>
    <p:extLst>
      <p:ext uri="{BB962C8B-B14F-4D97-AF65-F5344CB8AC3E}">
        <p14:creationId xmlns:p14="http://schemas.microsoft.com/office/powerpoint/2010/main" val="13665087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026D47-943D-0BE6-77DC-55570E95E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285D6108-E8E5-6AF3-F4EF-E0ECB127F2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5B8D716-C146-288D-E33A-6162A5CDF56F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</a:t>
            </a:r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Primeros pasos con Microsoft 365 </a:t>
            </a:r>
            <a:r>
              <a:rPr lang="es-ES" sz="3200" b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Chat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82460D6-AE43-FB10-EAF3-DAF711339515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1A89A68-C845-31FF-D785-75AC984FA2CD}"/>
              </a:ext>
            </a:extLst>
          </p:cNvPr>
          <p:cNvSpPr/>
          <p:nvPr/>
        </p:nvSpPr>
        <p:spPr>
          <a:xfrm>
            <a:off x="1463040" y="1950720"/>
            <a:ext cx="975360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Imagina que tu manager te ha pedido que lideres la planificación de una próxima Cumbre de Innovación para Clientes. Utilizarás el chat de Microsoft 365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Copilot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para recopilar información, generar ideas, visualizar el cronograma, redactar un documento de planificación, resumirlo y colaborar con tus compañeros de trabajo.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Tiempo estimado: 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30 minutos</a:t>
            </a:r>
          </a:p>
          <a:p>
            <a:pPr>
              <a:spcAft>
                <a:spcPts val="1600"/>
              </a:spcAft>
            </a:pPr>
            <a:endParaRPr lang="es-ES" sz="2000" dirty="0">
              <a:solidFill>
                <a:srgbClr val="334155"/>
              </a:solidFill>
              <a:latin typeface="Segoe UI Semibold" panose="020B0702040204020203" pitchFamily="34" charset="0"/>
              <a:ea typeface="Segoe UI" pitchFamily="34" charset="-122"/>
              <a:cs typeface="Segoe UI Semibold" panose="020B0702040204020203" pitchFamily="34" charset="0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Primeros pasos con Microsoft 365 </a:t>
            </a:r>
            <a:r>
              <a:rPr lang="es-ES" sz="2000" dirty="0" err="1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Copilot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 Chat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 </a:t>
            </a: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4A6A433E-44E9-1173-1992-E41F104164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4549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/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200" b="1" dirty="0">
                <a:solidFill>
                  <a:srgbClr val="1E293B"/>
                </a:solidFill>
                <a:latin typeface="Segoe UI Semibold"/>
                <a:cs typeface="Segoe UI Semibold"/>
              </a:rPr>
              <a:t>Capacidades exclusivas </a:t>
            </a:r>
            <a:r>
              <a:rPr lang="es-ES" sz="3200" b="1" dirty="0" err="1">
                <a:latin typeface="Segoe UI Semibold"/>
                <a:cs typeface="Segoe UI Semibold"/>
              </a:rPr>
              <a:t>Copilot</a:t>
            </a:r>
            <a:r>
              <a:rPr lang="es-ES" sz="3200" b="1" dirty="0">
                <a:latin typeface="Segoe UI Semibold"/>
                <a:cs typeface="Segoe UI Semibold"/>
              </a:rPr>
              <a:t> Chat </a:t>
            </a:r>
            <a:r>
              <a:rPr lang="es-ES" sz="3200" b="1" dirty="0">
                <a:gradFill>
                  <a:gsLst>
                    <a:gs pos="0">
                      <a:srgbClr val="3B82F6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Segoe UI Semibold"/>
                <a:cs typeface="Segoe UI Semibold"/>
              </a:rPr>
              <a:t>premium</a:t>
            </a:r>
          </a:p>
        </p:txBody>
      </p:sp>
      <p:sp>
        <p:nvSpPr>
          <p:cNvPr id="4" name="Description"/>
          <p:cNvSpPr/>
          <p:nvPr/>
        </p:nvSpPr>
        <p:spPr>
          <a:xfrm>
            <a:off x="1500000" y="1130844"/>
            <a:ext cx="9192000" cy="9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600">
                <a:solidFill>
                  <a:srgbClr val="475569"/>
                </a:solidFill>
                <a:latin typeface="Segoe UI"/>
                <a:cs typeface="Segoe UI"/>
              </a:rPr>
              <a:t>Funcionalidades reservadas a los usuarios con licencia Microsoft 365 Copilot: agentes avanzados sin pago por uso y Work mode fundamentado en los datos de tu organización.</a:t>
            </a:r>
          </a:p>
        </p:txBody>
      </p:sp>
      <p:sp>
        <p:nvSpPr>
          <p:cNvPr id="10" name="BasicCard"/>
          <p:cNvSpPr/>
          <p:nvPr/>
        </p:nvSpPr>
        <p:spPr>
          <a:xfrm>
            <a:off x="986553" y="2165583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BasicBadge"/>
          <p:cNvSpPr/>
          <p:nvPr/>
        </p:nvSpPr>
        <p:spPr>
          <a:xfrm>
            <a:off x="1186553" y="2285583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 dirty="0">
                <a:solidFill>
                  <a:srgbClr val="FFFFFF"/>
                </a:solidFill>
                <a:latin typeface="Segoe UI Semibold"/>
                <a:cs typeface="Segoe UI Semibold"/>
              </a:rPr>
              <a:t>Agentes</a:t>
            </a:r>
          </a:p>
        </p:txBody>
      </p:sp>
      <p:sp>
        <p:nvSpPr>
          <p:cNvPr id="12" name="BasicList"/>
          <p:cNvSpPr/>
          <p:nvPr/>
        </p:nvSpPr>
        <p:spPr>
          <a:xfrm>
            <a:off x="1286553" y="2915583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>
                <a:solidFill>
                  <a:srgbClr val="109C9C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Asistentes especializados 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que combinan el LLM con instrucciones, conocimiento y acciones para resolver tareas concretas dentro de </a:t>
            </a:r>
            <a:r>
              <a:rPr lang="es-ES" sz="1500" dirty="0" err="1"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 Chat.</a:t>
            </a:r>
            <a:endParaRPr lang="es-ES" sz="1500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Marketplace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 de agentes de Microsoft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Agentes propios 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creados con </a:t>
            </a:r>
            <a:r>
              <a:rPr lang="es-ES" sz="1500" dirty="0" err="1"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 Studio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Agentes corporativos 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publicados por TI</a:t>
            </a:r>
          </a:p>
        </p:txBody>
      </p:sp>
      <p:sp>
        <p:nvSpPr>
          <p:cNvPr id="20" name="LicensedCard"/>
          <p:cNvSpPr/>
          <p:nvPr/>
        </p:nvSpPr>
        <p:spPr>
          <a:xfrm>
            <a:off x="6257833" y="2165583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7C3AED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LicensedBadge"/>
          <p:cNvSpPr/>
          <p:nvPr/>
        </p:nvSpPr>
        <p:spPr>
          <a:xfrm>
            <a:off x="6457833" y="2285583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Work mode</a:t>
            </a:r>
          </a:p>
        </p:txBody>
      </p:sp>
      <p:sp>
        <p:nvSpPr>
          <p:cNvPr id="22" name="LicensedList"/>
          <p:cNvSpPr/>
          <p:nvPr/>
        </p:nvSpPr>
        <p:spPr>
          <a:xfrm>
            <a:off x="6557833" y="2915583"/>
            <a:ext cx="4370000" cy="234242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b="1" dirty="0">
                <a:solidFill>
                  <a:srgbClr val="7C3AED"/>
                </a:solidFill>
                <a:latin typeface="Segoe UI Semibold"/>
              </a:rPr>
              <a:t>Chat fundamentado</a:t>
            </a:r>
            <a:r>
              <a:rPr lang="es-ES" sz="1500" dirty="0">
                <a:solidFill>
                  <a:srgbClr val="1E293B"/>
                </a:solidFill>
                <a:latin typeface="Segoe UI"/>
              </a:rPr>
              <a:t> en los datos de tu organización</a:t>
            </a:r>
          </a:p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>
                <a:solidFill>
                  <a:srgbClr val="1E293B"/>
                </a:solidFill>
                <a:latin typeface="Segoe UI"/>
              </a:rPr>
              <a:t>Acceso a correos, archivos, chats y reuniones vía </a:t>
            </a: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Microsoft Graph</a:t>
            </a:r>
          </a:p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Páginas de </a:t>
            </a:r>
            <a:r>
              <a:rPr lang="es-ES" sz="1500" b="1" dirty="0" err="1">
                <a:solidFill>
                  <a:srgbClr val="1E293B"/>
                </a:solidFill>
                <a:latin typeface="Segoe UI Semibold"/>
              </a:rPr>
              <a:t>Copilot</a:t>
            </a: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 </a:t>
            </a:r>
            <a:r>
              <a:rPr lang="es-ES" sz="1500" dirty="0">
                <a:solidFill>
                  <a:srgbClr val="1E293B"/>
                </a:solidFill>
                <a:latin typeface="Segoe UI"/>
              </a:rPr>
              <a:t>para colaborar en tiempo real</a:t>
            </a:r>
          </a:p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 err="1">
                <a:solidFill>
                  <a:srgbClr val="1E293B"/>
                </a:solidFill>
                <a:latin typeface="Segoe UI"/>
              </a:rPr>
              <a:t>Copilot</a:t>
            </a:r>
            <a:r>
              <a:rPr lang="es-ES" sz="1500" dirty="0">
                <a:solidFill>
                  <a:srgbClr val="1E293B"/>
                </a:solidFill>
                <a:latin typeface="Segoe UI"/>
              </a:rPr>
              <a:t> en </a:t>
            </a: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Word, Excel, PowerPoint y Outlook</a:t>
            </a:r>
          </a:p>
        </p:txBody>
      </p:sp>
      <p:sp>
        <p:nvSpPr>
          <p:cNvPr id="30" name="SecurityNote"/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todas estas capacidades requieren licencia Microsoft </a:t>
            </a:r>
            <a:r>
              <a:rPr lang="es-ES" sz="1400">
                <a:solidFill>
                  <a:srgbClr val="92400E"/>
                </a:solidFill>
                <a:latin typeface="Segoe UI"/>
                <a:cs typeface="Segoe UI"/>
              </a:rPr>
              <a:t>365 Copilot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y respetan los permisos existentes de cada usuario en Microsoft Graph.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0CD052-71A3-3D8F-0FDA-D9E99E8D5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4DFC4742-F0F7-9045-9084-6295603326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5D1B8BC-599D-4FC2-EECD-9AD04A8757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5A78998-5AC9-AC84-9794-958AE82E29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02CE2937-B10C-B80B-B933-158C8B12D8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0002E7D1-3043-7DC0-899C-5FCC2F1ECC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32D6337-9167-5AA5-8EF3-165454EEF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898421EF-B770-6BAB-C540-8AC22709F2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3B6CFE76-A4C3-062C-2D74-6CDBEAD471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69738C71-2918-7B69-50B4-BCF08A8E58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9C8CAF74-A410-D5CE-345A-D00693E2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DA48F06B-D70C-CCB8-7C93-CED112E63417}"/>
              </a:ext>
            </a:extLst>
          </p:cNvPr>
          <p:cNvSpPr txBox="1">
            <a:spLocks/>
          </p:cNvSpPr>
          <p:nvPr/>
        </p:nvSpPr>
        <p:spPr>
          <a:xfrm>
            <a:off x="3045368" y="204366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El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arte</a:t>
            </a: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del </a:t>
            </a:r>
            <a:r>
              <a:rPr kumimoji="0" lang="en-US" sz="5200" b="0" i="1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prompting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122220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7D7F5BD-AFFD-A8A7-5DA9-21B8BECDD8AC}"/>
              </a:ext>
            </a:extLst>
          </p:cNvPr>
          <p:cNvSpPr/>
          <p:nvPr/>
        </p:nvSpPr>
        <p:spPr>
          <a:xfrm>
            <a:off x="975360" y="48768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¿Qué es un </a:t>
            </a:r>
            <a:r>
              <a:rPr lang="es-ES" sz="3200" b="1" i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</a:t>
            </a:r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?</a:t>
            </a:r>
            <a:endParaRPr lang="es-ES" sz="3200" dirty="0"/>
          </a:p>
        </p:txBody>
      </p:sp>
      <p:sp>
        <p:nvSpPr>
          <p:cNvPr id="3" name="Intro Text">
            <a:extLst>
              <a:ext uri="{FF2B5EF4-FFF2-40B4-BE49-F238E27FC236}">
                <a16:creationId xmlns:a16="http://schemas.microsoft.com/office/drawing/2014/main" id="{809D020B-E661-F12B-F522-F77CCB4B0176}"/>
              </a:ext>
            </a:extLst>
          </p:cNvPr>
          <p:cNvSpPr/>
          <p:nvPr/>
        </p:nvSpPr>
        <p:spPr>
          <a:xfrm>
            <a:off x="975360" y="128016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Un </a:t>
            </a:r>
            <a:r>
              <a:rPr lang="es-ES" sz="1600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es la entrada que le das a un LLM para obtener una respuesta. Puede ser una pregunta, un comando o incluso un comentario informal para iniciar una conversación.</a:t>
            </a:r>
            <a:endParaRPr lang="es-ES" sz="1600" dirty="0"/>
          </a:p>
        </p:txBody>
      </p:sp>
      <p:sp>
        <p:nvSpPr>
          <p:cNvPr id="4" name="Card 1">
            <a:extLst>
              <a:ext uri="{FF2B5EF4-FFF2-40B4-BE49-F238E27FC236}">
                <a16:creationId xmlns:a16="http://schemas.microsoft.com/office/drawing/2014/main" id="{C8DCBEC0-3626-F439-02A7-EF8A6F492C32}"/>
              </a:ext>
            </a:extLst>
          </p:cNvPr>
          <p:cNvSpPr/>
          <p:nvPr/>
        </p:nvSpPr>
        <p:spPr>
          <a:xfrm>
            <a:off x="975360" y="2202873"/>
            <a:ext cx="4920640" cy="39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Circle 1">
            <a:extLst>
              <a:ext uri="{FF2B5EF4-FFF2-40B4-BE49-F238E27FC236}">
                <a16:creationId xmlns:a16="http://schemas.microsoft.com/office/drawing/2014/main" id="{EB0C1E96-4C8D-5B89-D1D8-E29938FC9704}"/>
              </a:ext>
            </a:extLst>
          </p:cNvPr>
          <p:cNvSpPr/>
          <p:nvPr/>
        </p:nvSpPr>
        <p:spPr>
          <a:xfrm>
            <a:off x="3001520" y="2310000"/>
            <a:ext cx="868320" cy="868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Icon 1">
            <a:extLst>
              <a:ext uri="{FF2B5EF4-FFF2-40B4-BE49-F238E27FC236}">
                <a16:creationId xmlns:a16="http://schemas.microsoft.com/office/drawing/2014/main" id="{0F426728-46A1-8D5B-49C7-D5A3289218E6}"/>
              </a:ext>
            </a:extLst>
          </p:cNvPr>
          <p:cNvSpPr/>
          <p:nvPr/>
        </p:nvSpPr>
        <p:spPr>
          <a:xfrm>
            <a:off x="3001520" y="2310000"/>
            <a:ext cx="868320" cy="8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Segoe UI" panose="020B0502040204020203" pitchFamily="34" charset="0"/>
                <a:ea typeface="Segoe UI Semibold" pitchFamily="34" charset="-122"/>
                <a:cs typeface="Segoe UI" panose="020B0502040204020203" pitchFamily="34" charset="0"/>
              </a:rPr>
              <a:t>S</a:t>
            </a:r>
            <a:endParaRPr lang="en-US" sz="28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5903BFD-9ECE-74EC-0494-CD5146A1A7CE}"/>
              </a:ext>
            </a:extLst>
          </p:cNvPr>
          <p:cNvSpPr/>
          <p:nvPr/>
        </p:nvSpPr>
        <p:spPr>
          <a:xfrm>
            <a:off x="1280160" y="3300000"/>
            <a:ext cx="4311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i="1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Prompts</a:t>
            </a:r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de sistema</a:t>
            </a:r>
            <a:endParaRPr lang="es-ES" sz="2000"/>
          </a:p>
        </p:txBody>
      </p:sp>
      <p:sp>
        <p:nvSpPr>
          <p:cNvPr id="8" name="Desc 1">
            <a:extLst>
              <a:ext uri="{FF2B5EF4-FFF2-40B4-BE49-F238E27FC236}">
                <a16:creationId xmlns:a16="http://schemas.microsoft.com/office/drawing/2014/main" id="{2557DE1E-965B-DC5E-8B7C-78708F7A0AE5}"/>
              </a:ext>
            </a:extLst>
          </p:cNvPr>
          <p:cNvSpPr/>
          <p:nvPr/>
        </p:nvSpPr>
        <p:spPr>
          <a:xfrm>
            <a:off x="1280160" y="3750000"/>
            <a:ext cx="431104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5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Establece el comportamiento y el tono del modelo, así como cualquier restricción a la que deba ceñirse.</a:t>
            </a:r>
            <a:endParaRPr lang="es-ES" sz="1500"/>
          </a:p>
        </p:txBody>
      </p:sp>
      <p:sp>
        <p:nvSpPr>
          <p:cNvPr id="9" name="Quote Box 1">
            <a:extLst>
              <a:ext uri="{FF2B5EF4-FFF2-40B4-BE49-F238E27FC236}">
                <a16:creationId xmlns:a16="http://schemas.microsoft.com/office/drawing/2014/main" id="{AA0F69B1-09A3-2C0C-858A-A95E55F3A863}"/>
              </a:ext>
            </a:extLst>
          </p:cNvPr>
          <p:cNvSpPr/>
          <p:nvPr/>
        </p:nvSpPr>
        <p:spPr>
          <a:xfrm>
            <a:off x="1280160" y="4780000"/>
            <a:ext cx="4311040" cy="1280000"/>
          </a:xfrm>
          <a:prstGeom prst="roundRect">
            <a:avLst>
              <a:gd name="adj" fmla="val 8000"/>
            </a:avLst>
          </a:prstGeom>
          <a:solidFill>
            <a:srgbClr val="F5F0FF"/>
          </a:solidFill>
          <a:ln>
            <a:solidFill>
              <a:srgbClr val="7C3AED"/>
            </a:solidFill>
          </a:ln>
        </p:spPr>
        <p:txBody>
          <a:bodyPr wrap="square" lIns="182880" tIns="182880" rIns="182880" bIns="182880" rtlCol="0" anchor="ctr"/>
          <a:lstStyle/>
          <a:p>
            <a:pPr algn="ctr"/>
            <a:r>
              <a:rPr lang="es-ES" sz="1500" i="1">
                <a:solidFill>
                  <a:srgbClr val="1E293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"Eres un asistente servicial que responde de manera alegre y amigable".</a:t>
            </a:r>
            <a:endParaRPr lang="es-ES" sz="1500"/>
          </a:p>
        </p:txBody>
      </p:sp>
      <p:sp>
        <p:nvSpPr>
          <p:cNvPr id="10" name="Card 2">
            <a:extLst>
              <a:ext uri="{FF2B5EF4-FFF2-40B4-BE49-F238E27FC236}">
                <a16:creationId xmlns:a16="http://schemas.microsoft.com/office/drawing/2014/main" id="{106DFECB-9AD1-2A99-FC21-4EDA1971246E}"/>
              </a:ext>
            </a:extLst>
          </p:cNvPr>
          <p:cNvSpPr/>
          <p:nvPr/>
        </p:nvSpPr>
        <p:spPr>
          <a:xfrm>
            <a:off x="6296000" y="2202872"/>
            <a:ext cx="4920640" cy="39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Circle 2">
            <a:extLst>
              <a:ext uri="{FF2B5EF4-FFF2-40B4-BE49-F238E27FC236}">
                <a16:creationId xmlns:a16="http://schemas.microsoft.com/office/drawing/2014/main" id="{DE1B3365-59B5-6D6A-B8CC-6E92E2ADDFD7}"/>
              </a:ext>
            </a:extLst>
          </p:cNvPr>
          <p:cNvSpPr/>
          <p:nvPr/>
        </p:nvSpPr>
        <p:spPr>
          <a:xfrm>
            <a:off x="8322160" y="2310000"/>
            <a:ext cx="868320" cy="86832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Icon 2">
            <a:extLst>
              <a:ext uri="{FF2B5EF4-FFF2-40B4-BE49-F238E27FC236}">
                <a16:creationId xmlns:a16="http://schemas.microsoft.com/office/drawing/2014/main" id="{0CE1AF7B-3958-3371-3525-51AD8A0BFBA9}"/>
              </a:ext>
            </a:extLst>
          </p:cNvPr>
          <p:cNvSpPr/>
          <p:nvPr/>
        </p:nvSpPr>
        <p:spPr>
          <a:xfrm>
            <a:off x="8322160" y="2310000"/>
            <a:ext cx="868320" cy="8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Segoe UI" panose="020B0502040204020203" pitchFamily="34" charset="0"/>
                <a:ea typeface="Segoe UI Semibold" pitchFamily="34" charset="-122"/>
                <a:cs typeface="Segoe UI" panose="020B0502040204020203" pitchFamily="34" charset="0"/>
              </a:rPr>
              <a:t>U</a:t>
            </a:r>
            <a:endParaRPr lang="en-US" sz="2800"/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33391CAD-3D61-70A1-1CCE-4E3A61AC6598}"/>
              </a:ext>
            </a:extLst>
          </p:cNvPr>
          <p:cNvSpPr/>
          <p:nvPr/>
        </p:nvSpPr>
        <p:spPr>
          <a:xfrm>
            <a:off x="6600800" y="3300000"/>
            <a:ext cx="4311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i="1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Prompts</a:t>
            </a:r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de usuario</a:t>
            </a:r>
            <a:endParaRPr lang="es-ES" sz="2000"/>
          </a:p>
        </p:txBody>
      </p:sp>
      <p:sp>
        <p:nvSpPr>
          <p:cNvPr id="14" name="Desc 2">
            <a:extLst>
              <a:ext uri="{FF2B5EF4-FFF2-40B4-BE49-F238E27FC236}">
                <a16:creationId xmlns:a16="http://schemas.microsoft.com/office/drawing/2014/main" id="{6D480052-7847-0382-AC41-D68E0BBDD97B}"/>
              </a:ext>
            </a:extLst>
          </p:cNvPr>
          <p:cNvSpPr/>
          <p:nvPr/>
        </p:nvSpPr>
        <p:spPr>
          <a:xfrm>
            <a:off x="6600800" y="3750000"/>
            <a:ext cx="431104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5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Provoca u obtiene una respuesta ante una pregunta o instrucción específica.</a:t>
            </a:r>
            <a:endParaRPr lang="es-ES" sz="1500"/>
          </a:p>
        </p:txBody>
      </p:sp>
      <p:sp>
        <p:nvSpPr>
          <p:cNvPr id="15" name="Quote Box 2">
            <a:extLst>
              <a:ext uri="{FF2B5EF4-FFF2-40B4-BE49-F238E27FC236}">
                <a16:creationId xmlns:a16="http://schemas.microsoft.com/office/drawing/2014/main" id="{7B66FACF-6E36-77CC-C1DD-1E5412A8F3DA}"/>
              </a:ext>
            </a:extLst>
          </p:cNvPr>
          <p:cNvSpPr/>
          <p:nvPr/>
        </p:nvSpPr>
        <p:spPr>
          <a:xfrm>
            <a:off x="6600800" y="4780000"/>
            <a:ext cx="4311040" cy="12800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>
            <a:solidFill>
              <a:srgbClr val="3B82F6"/>
            </a:solidFill>
          </a:ln>
        </p:spPr>
        <p:txBody>
          <a:bodyPr wrap="square" lIns="182880" tIns="182880" rIns="182880" bIns="182880" rtlCol="0" anchor="ctr"/>
          <a:lstStyle/>
          <a:p>
            <a:pPr algn="ctr"/>
            <a:r>
              <a:rPr lang="es-ES" sz="1300" i="1">
                <a:solidFill>
                  <a:srgbClr val="1E293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"Resume para un ejecutivo corporativo las consideraciones clave para adoptar la IA generativa descritas en GenAI_Considerations.docx. Dale formato al resumen con no más de seis viñetas y un tono profesional".</a:t>
            </a:r>
            <a:endParaRPr lang="es-ES" sz="1300"/>
          </a:p>
        </p:txBody>
      </p:sp>
      <p:pic>
        <p:nvPicPr>
          <p:cNvPr id="16" name="Image 0" descr="preencoded.png">
            <a:extLst>
              <a:ext uri="{FF2B5EF4-FFF2-40B4-BE49-F238E27FC236}">
                <a16:creationId xmlns:a16="http://schemas.microsoft.com/office/drawing/2014/main" id="{271B2E5C-402F-408A-6010-E416EE0F84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5402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DA5C8C9D-BCBB-344D-FE1D-85F3828CB7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4" name="Subtitle">
            <a:extLst>
              <a:ext uri="{FF2B5EF4-FFF2-40B4-BE49-F238E27FC236}">
                <a16:creationId xmlns:a16="http://schemas.microsoft.com/office/drawing/2014/main" id="{61BC1F86-0DA5-B6ED-4605-63F8F2993107}"/>
              </a:ext>
            </a:extLst>
          </p:cNvPr>
          <p:cNvSpPr/>
          <p:nvPr/>
        </p:nvSpPr>
        <p:spPr>
          <a:xfrm>
            <a:off x="975360" y="1400000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Controla cómo </a:t>
            </a:r>
            <a:r>
              <a:rPr lang="es-ES" sz="18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 adapta las respuestas según tus preferencias.</a:t>
            </a:r>
          </a:p>
        </p:txBody>
      </p:sp>
      <p:sp>
        <p:nvSpPr>
          <p:cNvPr id="5" name="Card BG 0">
            <a:extLst>
              <a:ext uri="{FF2B5EF4-FFF2-40B4-BE49-F238E27FC236}">
                <a16:creationId xmlns:a16="http://schemas.microsoft.com/office/drawing/2014/main" id="{8E4594BE-0262-4748-D94E-7E2CCCE6826F}"/>
              </a:ext>
            </a:extLst>
          </p:cNvPr>
          <p:cNvSpPr/>
          <p:nvPr/>
        </p:nvSpPr>
        <p:spPr>
          <a:xfrm>
            <a:off x="975360" y="1950000"/>
            <a:ext cx="3100000" cy="3700000"/>
          </a:xfrm>
          <a:prstGeom prst="roundRect">
            <a:avLst>
              <a:gd name="adj" fmla="val 5000"/>
            </a:avLst>
          </a:prstGeom>
          <a:solidFill>
            <a:srgbClr val="FAF5FF"/>
          </a:solidFill>
          <a:ln w="6350">
            <a:solidFill>
              <a:srgbClr val="7C3AED">
                <a:alpha val="20000"/>
              </a:srgbClr>
            </a:solidFill>
          </a:ln>
          <a:effectLst>
            <a:outerShdw blurRad="1016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Accent 0">
            <a:extLst>
              <a:ext uri="{FF2B5EF4-FFF2-40B4-BE49-F238E27FC236}">
                <a16:creationId xmlns:a16="http://schemas.microsoft.com/office/drawing/2014/main" id="{2A77381C-6283-7FA9-14C2-1AEA5105EC5E}"/>
              </a:ext>
            </a:extLst>
          </p:cNvPr>
          <p:cNvSpPr/>
          <p:nvPr/>
        </p:nvSpPr>
        <p:spPr>
          <a:xfrm>
            <a:off x="975360" y="1950000"/>
            <a:ext cx="3100000" cy="600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Circle 0">
            <a:extLst>
              <a:ext uri="{FF2B5EF4-FFF2-40B4-BE49-F238E27FC236}">
                <a16:creationId xmlns:a16="http://schemas.microsoft.com/office/drawing/2014/main" id="{BF9F362D-AD51-CC55-39FC-4613B5B588D0}"/>
              </a:ext>
            </a:extLst>
          </p:cNvPr>
          <p:cNvSpPr/>
          <p:nvPr/>
        </p:nvSpPr>
        <p:spPr>
          <a:xfrm>
            <a:off x="2200360" y="2150000"/>
            <a:ext cx="650000" cy="650000"/>
          </a:xfrm>
          <a:prstGeom prst="ellipse">
            <a:avLst/>
          </a:prstGeom>
          <a:solidFill>
            <a:srgbClr val="7C3AED">
              <a:alpha val="15000"/>
            </a:srgbClr>
          </a:solidFill>
          <a:ln w="19050">
            <a:solidFill>
              <a:srgbClr val="7C3AED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8" name="Num 0">
            <a:extLst>
              <a:ext uri="{FF2B5EF4-FFF2-40B4-BE49-F238E27FC236}">
                <a16:creationId xmlns:a16="http://schemas.microsoft.com/office/drawing/2014/main" id="{B0D08B70-31C0-ADEC-E7A6-58D130DA4374}"/>
              </a:ext>
            </a:extLst>
          </p:cNvPr>
          <p:cNvSpPr/>
          <p:nvPr/>
        </p:nvSpPr>
        <p:spPr>
          <a:xfrm>
            <a:off x="2200360" y="2150000"/>
            <a:ext cx="65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400" b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1</a:t>
            </a:r>
          </a:p>
        </p:txBody>
      </p:sp>
      <p:sp>
        <p:nvSpPr>
          <p:cNvPr id="9" name="Title 0">
            <a:extLst>
              <a:ext uri="{FF2B5EF4-FFF2-40B4-BE49-F238E27FC236}">
                <a16:creationId xmlns:a16="http://schemas.microsoft.com/office/drawing/2014/main" id="{3E27CE21-E517-1C33-1326-E7655E66EF2B}"/>
              </a:ext>
            </a:extLst>
          </p:cNvPr>
          <p:cNvSpPr/>
          <p:nvPr/>
        </p:nvSpPr>
        <p:spPr>
          <a:xfrm>
            <a:off x="1155360" y="3000000"/>
            <a:ext cx="274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800" b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Instrucciones personalizadas</a:t>
            </a:r>
          </a:p>
        </p:txBody>
      </p:sp>
      <p:sp>
        <p:nvSpPr>
          <p:cNvPr id="10" name="Desc 0">
            <a:extLst>
              <a:ext uri="{FF2B5EF4-FFF2-40B4-BE49-F238E27FC236}">
                <a16:creationId xmlns:a16="http://schemas.microsoft.com/office/drawing/2014/main" id="{92182487-84C8-BC55-F580-00FD61FD0899}"/>
              </a:ext>
            </a:extLst>
          </p:cNvPr>
          <p:cNvSpPr/>
          <p:nvPr/>
        </p:nvSpPr>
        <p:spPr>
          <a:xfrm>
            <a:off x="1155360" y="3700000"/>
            <a:ext cx="274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Definen cómo responde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: tono, formato, idioma y reglas de comportamiento. Se ejecutan en segundo plano en cada conversación.</a:t>
            </a:r>
          </a:p>
        </p:txBody>
      </p:sp>
      <p:sp>
        <p:nvSpPr>
          <p:cNvPr id="11" name="Callout 0">
            <a:extLst>
              <a:ext uri="{FF2B5EF4-FFF2-40B4-BE49-F238E27FC236}">
                <a16:creationId xmlns:a16="http://schemas.microsoft.com/office/drawing/2014/main" id="{F07D1176-15BF-B434-BD10-8C1BCCFB3634}"/>
              </a:ext>
            </a:extLst>
          </p:cNvPr>
          <p:cNvSpPr/>
          <p:nvPr/>
        </p:nvSpPr>
        <p:spPr>
          <a:xfrm>
            <a:off x="1155360" y="5008000"/>
            <a:ext cx="2740000" cy="450000"/>
          </a:xfrm>
          <a:prstGeom prst="roundRect">
            <a:avLst>
              <a:gd name="adj" fmla="val 8000"/>
            </a:avLst>
          </a:prstGeom>
          <a:solidFill>
            <a:srgbClr val="F3F0FF"/>
          </a:solidFill>
          <a:ln w="12700">
            <a:solidFill>
              <a:srgbClr val="7C3AED">
                <a:alpha val="40000"/>
              </a:srgbClr>
            </a:solidFill>
          </a:ln>
        </p:spPr>
        <p:txBody>
          <a:bodyPr wrap="square" lIns="72000" tIns="36000" rIns="72000" bIns="36000" rtlCol="0" anchor="ctr"/>
          <a:lstStyle/>
          <a:p>
            <a:pPr algn="ctr"/>
            <a:r>
              <a:rPr lang="es-ES" sz="900" b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📍 Configuración → Personalización → Instrucciones personalizadas</a:t>
            </a:r>
          </a:p>
        </p:txBody>
      </p:sp>
      <p:sp>
        <p:nvSpPr>
          <p:cNvPr id="12" name="Card BG 1">
            <a:extLst>
              <a:ext uri="{FF2B5EF4-FFF2-40B4-BE49-F238E27FC236}">
                <a16:creationId xmlns:a16="http://schemas.microsoft.com/office/drawing/2014/main" id="{B51FEB26-9CEA-4678-F065-7EC052F00719}"/>
              </a:ext>
            </a:extLst>
          </p:cNvPr>
          <p:cNvSpPr/>
          <p:nvPr/>
        </p:nvSpPr>
        <p:spPr>
          <a:xfrm>
            <a:off x="4546000" y="1950000"/>
            <a:ext cx="3100000" cy="370000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6350">
            <a:solidFill>
              <a:srgbClr val="3B82F6">
                <a:alpha val="20000"/>
              </a:srgbClr>
            </a:solidFill>
          </a:ln>
          <a:effectLst>
            <a:outerShdw blurRad="1016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Accent 1">
            <a:extLst>
              <a:ext uri="{FF2B5EF4-FFF2-40B4-BE49-F238E27FC236}">
                <a16:creationId xmlns:a16="http://schemas.microsoft.com/office/drawing/2014/main" id="{4F7DEE12-215E-EAE1-8925-3E53E46C8B2D}"/>
              </a:ext>
            </a:extLst>
          </p:cNvPr>
          <p:cNvSpPr/>
          <p:nvPr/>
        </p:nvSpPr>
        <p:spPr>
          <a:xfrm>
            <a:off x="4546000" y="1950000"/>
            <a:ext cx="3100000" cy="600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Circle 1">
            <a:extLst>
              <a:ext uri="{FF2B5EF4-FFF2-40B4-BE49-F238E27FC236}">
                <a16:creationId xmlns:a16="http://schemas.microsoft.com/office/drawing/2014/main" id="{F10042A6-0257-B3CE-FFF6-E8B23455C401}"/>
              </a:ext>
            </a:extLst>
          </p:cNvPr>
          <p:cNvSpPr/>
          <p:nvPr/>
        </p:nvSpPr>
        <p:spPr>
          <a:xfrm>
            <a:off x="5771000" y="2150000"/>
            <a:ext cx="650000" cy="650000"/>
          </a:xfrm>
          <a:prstGeom prst="ellipse">
            <a:avLst/>
          </a:prstGeom>
          <a:solidFill>
            <a:srgbClr val="3B82F6">
              <a:alpha val="15000"/>
            </a:srgbClr>
          </a:solidFill>
          <a:ln w="19050">
            <a:solidFill>
              <a:srgbClr val="3B82F6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5" name="Num 1">
            <a:extLst>
              <a:ext uri="{FF2B5EF4-FFF2-40B4-BE49-F238E27FC236}">
                <a16:creationId xmlns:a16="http://schemas.microsoft.com/office/drawing/2014/main" id="{0F341F04-EF3D-2FC0-2A5A-ACEF9A9C60F8}"/>
              </a:ext>
            </a:extLst>
          </p:cNvPr>
          <p:cNvSpPr/>
          <p:nvPr/>
        </p:nvSpPr>
        <p:spPr>
          <a:xfrm>
            <a:off x="5771000" y="2150000"/>
            <a:ext cx="65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400" b="1">
                <a:solidFill>
                  <a:srgbClr val="3B82F6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2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CFBF230F-4417-C588-2A56-F4865DB805D7}"/>
              </a:ext>
            </a:extLst>
          </p:cNvPr>
          <p:cNvSpPr/>
          <p:nvPr/>
        </p:nvSpPr>
        <p:spPr>
          <a:xfrm>
            <a:off x="4726000" y="3000000"/>
            <a:ext cx="274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800" b="1">
                <a:solidFill>
                  <a:srgbClr val="3B82F6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Perfil de trabajo</a:t>
            </a:r>
          </a:p>
        </p:txBody>
      </p:sp>
      <p:sp>
        <p:nvSpPr>
          <p:cNvPr id="17" name="Desc 1">
            <a:extLst>
              <a:ext uri="{FF2B5EF4-FFF2-40B4-BE49-F238E27FC236}">
                <a16:creationId xmlns:a16="http://schemas.microsoft.com/office/drawing/2014/main" id="{45D1CCF3-1A45-9D70-06CD-896182C32C27}"/>
              </a:ext>
            </a:extLst>
          </p:cNvPr>
          <p:cNvSpPr/>
          <p:nvPr/>
        </p:nvSpPr>
        <p:spPr>
          <a:xfrm>
            <a:off x="4726000" y="3700000"/>
            <a:ext cx="274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Contexto organizacional que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 usa para personalizar respuestas según tu rol, departamento y área de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expertise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.</a:t>
            </a:r>
          </a:p>
        </p:txBody>
      </p:sp>
      <p:sp>
        <p:nvSpPr>
          <p:cNvPr id="18" name="Card BG 2">
            <a:extLst>
              <a:ext uri="{FF2B5EF4-FFF2-40B4-BE49-F238E27FC236}">
                <a16:creationId xmlns:a16="http://schemas.microsoft.com/office/drawing/2014/main" id="{090BE3F5-7EB5-A7AA-2C33-8FC47EFD6670}"/>
              </a:ext>
            </a:extLst>
          </p:cNvPr>
          <p:cNvSpPr/>
          <p:nvPr/>
        </p:nvSpPr>
        <p:spPr>
          <a:xfrm>
            <a:off x="8116640" y="1950000"/>
            <a:ext cx="3100000" cy="3700000"/>
          </a:xfrm>
          <a:prstGeom prst="roundRect">
            <a:avLst>
              <a:gd name="adj" fmla="val 5000"/>
            </a:avLst>
          </a:prstGeom>
          <a:solidFill>
            <a:srgbClr val="F0FDFA"/>
          </a:solidFill>
          <a:ln w="6350">
            <a:solidFill>
              <a:srgbClr val="0D9488">
                <a:alpha val="20000"/>
              </a:srgbClr>
            </a:solidFill>
          </a:ln>
          <a:effectLst>
            <a:outerShdw blurRad="1016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Accent 2">
            <a:extLst>
              <a:ext uri="{FF2B5EF4-FFF2-40B4-BE49-F238E27FC236}">
                <a16:creationId xmlns:a16="http://schemas.microsoft.com/office/drawing/2014/main" id="{F0BF96B5-8418-F25C-56AC-9C8B61A9B497}"/>
              </a:ext>
            </a:extLst>
          </p:cNvPr>
          <p:cNvSpPr/>
          <p:nvPr/>
        </p:nvSpPr>
        <p:spPr>
          <a:xfrm>
            <a:off x="8116640" y="1950000"/>
            <a:ext cx="3100000" cy="600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Circle 2">
            <a:extLst>
              <a:ext uri="{FF2B5EF4-FFF2-40B4-BE49-F238E27FC236}">
                <a16:creationId xmlns:a16="http://schemas.microsoft.com/office/drawing/2014/main" id="{FCF78FD6-4DED-5B4E-B5B9-DA7EFA560CC9}"/>
              </a:ext>
            </a:extLst>
          </p:cNvPr>
          <p:cNvSpPr/>
          <p:nvPr/>
        </p:nvSpPr>
        <p:spPr>
          <a:xfrm>
            <a:off x="9341640" y="2150000"/>
            <a:ext cx="650000" cy="650000"/>
          </a:xfrm>
          <a:prstGeom prst="ellipse">
            <a:avLst/>
          </a:prstGeom>
          <a:solidFill>
            <a:srgbClr val="0D9488">
              <a:alpha val="15000"/>
            </a:srgbClr>
          </a:solidFill>
          <a:ln w="19050">
            <a:solidFill>
              <a:srgbClr val="0D9488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1" name="Num 2">
            <a:extLst>
              <a:ext uri="{FF2B5EF4-FFF2-40B4-BE49-F238E27FC236}">
                <a16:creationId xmlns:a16="http://schemas.microsoft.com/office/drawing/2014/main" id="{0239B8FA-C183-A911-D31C-9DD25664848E}"/>
              </a:ext>
            </a:extLst>
          </p:cNvPr>
          <p:cNvSpPr/>
          <p:nvPr/>
        </p:nvSpPr>
        <p:spPr>
          <a:xfrm>
            <a:off x="9341640" y="2150000"/>
            <a:ext cx="65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400" b="1">
                <a:solidFill>
                  <a:srgbClr val="0D9488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3</a:t>
            </a:r>
          </a:p>
        </p:txBody>
      </p:sp>
      <p:sp>
        <p:nvSpPr>
          <p:cNvPr id="22" name="Title 2">
            <a:extLst>
              <a:ext uri="{FF2B5EF4-FFF2-40B4-BE49-F238E27FC236}">
                <a16:creationId xmlns:a16="http://schemas.microsoft.com/office/drawing/2014/main" id="{FFFBDBC5-6110-02AB-A82E-A6E54F235019}"/>
              </a:ext>
            </a:extLst>
          </p:cNvPr>
          <p:cNvSpPr/>
          <p:nvPr/>
        </p:nvSpPr>
        <p:spPr>
          <a:xfrm>
            <a:off x="8296640" y="3000000"/>
            <a:ext cx="274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800" b="1">
                <a:solidFill>
                  <a:srgbClr val="0D9488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Recuerdos guardados</a:t>
            </a:r>
          </a:p>
        </p:txBody>
      </p:sp>
      <p:sp>
        <p:nvSpPr>
          <p:cNvPr id="23" name="Desc 2">
            <a:extLst>
              <a:ext uri="{FF2B5EF4-FFF2-40B4-BE49-F238E27FC236}">
                <a16:creationId xmlns:a16="http://schemas.microsoft.com/office/drawing/2014/main" id="{05CB55DE-C2B5-DA7A-92B9-30B2368BB4C8}"/>
              </a:ext>
            </a:extLst>
          </p:cNvPr>
          <p:cNvSpPr/>
          <p:nvPr/>
        </p:nvSpPr>
        <p:spPr>
          <a:xfrm>
            <a:off x="8296640" y="3700000"/>
            <a:ext cx="274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Datos y hechos que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 recuerda entre conversaciones: proyectos activos, preferencias y contexto continuo.</a:t>
            </a:r>
          </a:p>
        </p:txBody>
      </p:sp>
      <p:sp>
        <p:nvSpPr>
          <p:cNvPr id="24" name="Title">
            <a:extLst>
              <a:ext uri="{FF2B5EF4-FFF2-40B4-BE49-F238E27FC236}">
                <a16:creationId xmlns:a16="http://schemas.microsoft.com/office/drawing/2014/main" id="{C1344D3A-6E6A-951E-5CE2-B19FAE1725A5}"/>
              </a:ext>
            </a:extLst>
          </p:cNvPr>
          <p:cNvSpPr/>
          <p:nvPr/>
        </p:nvSpPr>
        <p:spPr>
          <a:xfrm>
            <a:off x="975360" y="48768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Personaliza </a:t>
            </a:r>
            <a:r>
              <a:rPr lang="es-E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endParaRPr lang="es-ES" sz="3200" dirty="0"/>
          </a:p>
        </p:txBody>
      </p:sp>
    </p:spTree>
    <p:extLst>
      <p:ext uri="{BB962C8B-B14F-4D97-AF65-F5344CB8AC3E}">
        <p14:creationId xmlns:p14="http://schemas.microsoft.com/office/powerpoint/2010/main" val="14763761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BD25D-7D34-E345-3C2A-A55186DA2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>
            <a:extLst>
              <a:ext uri="{FF2B5EF4-FFF2-40B4-BE49-F238E27FC236}">
                <a16:creationId xmlns:a16="http://schemas.microsoft.com/office/drawing/2014/main" id="{88FD4A9A-B888-6202-2437-225F7E4C8AA1}"/>
              </a:ext>
            </a:extLst>
          </p:cNvPr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07C6F92-DBFD-970E-C63B-861EBD2EFFBD}"/>
              </a:ext>
            </a:extLst>
          </p:cNvPr>
          <p:cNvSpPr/>
          <p:nvPr/>
        </p:nvSpPr>
        <p:spPr>
          <a:xfrm>
            <a:off x="600000" y="320000"/>
            <a:ext cx="10992000" cy="5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000" b="1" dirty="0">
                <a:solidFill>
                  <a:srgbClr val="1E293B"/>
                </a:solidFill>
                <a:latin typeface="Segoe UI Semibold"/>
              </a:rPr>
              <a:t>Historial de </a:t>
            </a:r>
            <a:r>
              <a:rPr lang="es-ES" sz="3000" b="1" dirty="0">
                <a:latin typeface="Segoe UI Semibold"/>
              </a:rPr>
              <a:t>conversaciones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BB0BB56-446E-3B5E-57F4-A16051E6B048}"/>
              </a:ext>
            </a:extLst>
          </p:cNvPr>
          <p:cNvSpPr/>
          <p:nvPr/>
        </p:nvSpPr>
        <p:spPr>
          <a:xfrm>
            <a:off x="1500000" y="900000"/>
            <a:ext cx="9192000" cy="4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500">
                <a:solidFill>
                  <a:srgbClr val="475569"/>
                </a:solidFill>
                <a:latin typeface="Segoe UI"/>
              </a:rPr>
              <a:t>Cómo Copilot mantiene el contexto continuo turno a turno dentro de una misma conversación.</a:t>
            </a:r>
          </a:p>
        </p:txBody>
      </p:sp>
      <p:sp>
        <p:nvSpPr>
          <p:cNvPr id="5" name="SchemaHeading">
            <a:extLst>
              <a:ext uri="{FF2B5EF4-FFF2-40B4-BE49-F238E27FC236}">
                <a16:creationId xmlns:a16="http://schemas.microsoft.com/office/drawing/2014/main" id="{68FC971E-EB4E-2842-E486-80969A5D6C2C}"/>
              </a:ext>
            </a:extLst>
          </p:cNvPr>
          <p:cNvSpPr/>
          <p:nvPr/>
        </p:nvSpPr>
        <p:spPr>
          <a:xfrm>
            <a:off x="600000" y="1620000"/>
            <a:ext cx="109920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300" b="1">
                <a:solidFill>
                  <a:srgbClr val="334155"/>
                </a:solidFill>
                <a:latin typeface="Segoe UI Semibold"/>
              </a:rPr>
              <a:t>El ciclo del contexto continuo turno a turno</a:t>
            </a:r>
          </a:p>
        </p:txBody>
      </p:sp>
      <p:sp>
        <p:nvSpPr>
          <p:cNvPr id="6" name="ConnLine">
            <a:extLst>
              <a:ext uri="{FF2B5EF4-FFF2-40B4-BE49-F238E27FC236}">
                <a16:creationId xmlns:a16="http://schemas.microsoft.com/office/drawing/2014/main" id="{19072A28-CA14-87FE-4D27-4856F2347BEC}"/>
              </a:ext>
            </a:extLst>
          </p:cNvPr>
          <p:cNvSpPr/>
          <p:nvPr/>
        </p:nvSpPr>
        <p:spPr>
          <a:xfrm>
            <a:off x="2346000" y="2542000"/>
            <a:ext cx="7500000" cy="16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Step1Circle">
            <a:extLst>
              <a:ext uri="{FF2B5EF4-FFF2-40B4-BE49-F238E27FC236}">
                <a16:creationId xmlns:a16="http://schemas.microsoft.com/office/drawing/2014/main" id="{1E506255-2111-D3C2-0841-455290019B27}"/>
              </a:ext>
            </a:extLst>
          </p:cNvPr>
          <p:cNvSpPr/>
          <p:nvPr/>
        </p:nvSpPr>
        <p:spPr>
          <a:xfrm>
            <a:off x="1896000" y="2100000"/>
            <a:ext cx="900000" cy="900000"/>
          </a:xfrm>
          <a:prstGeom prst="ellipse">
            <a:avLst/>
          </a:prstGeom>
          <a:solidFill>
            <a:srgbClr val="0D9488"/>
          </a:solidFill>
          <a:ln>
            <a:noFill/>
          </a:ln>
          <a:effectLst>
            <a:outerShdw blurRad="50000" dist="12000" dir="5400000" algn="bl" rotWithShape="0">
              <a:srgbClr val="0D9488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1" name="Step2Circle">
            <a:extLst>
              <a:ext uri="{FF2B5EF4-FFF2-40B4-BE49-F238E27FC236}">
                <a16:creationId xmlns:a16="http://schemas.microsoft.com/office/drawing/2014/main" id="{82D80649-7B10-047F-346B-61EB4346F067}"/>
              </a:ext>
            </a:extLst>
          </p:cNvPr>
          <p:cNvSpPr/>
          <p:nvPr/>
        </p:nvSpPr>
        <p:spPr>
          <a:xfrm>
            <a:off x="4396000" y="2100000"/>
            <a:ext cx="900000" cy="90000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50000" dist="12000" dir="5400000" algn="bl" rotWithShape="0">
              <a:srgbClr val="3B82F6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Step3Circle">
            <a:extLst>
              <a:ext uri="{FF2B5EF4-FFF2-40B4-BE49-F238E27FC236}">
                <a16:creationId xmlns:a16="http://schemas.microsoft.com/office/drawing/2014/main" id="{DF4F0F7F-4BC1-CA25-2461-571E96B9596C}"/>
              </a:ext>
            </a:extLst>
          </p:cNvPr>
          <p:cNvSpPr/>
          <p:nvPr/>
        </p:nvSpPr>
        <p:spPr>
          <a:xfrm>
            <a:off x="6896000" y="2100000"/>
            <a:ext cx="900000" cy="900000"/>
          </a:xfrm>
          <a:prstGeom prst="ellipse">
            <a:avLst/>
          </a:prstGeom>
          <a:solidFill>
            <a:srgbClr val="7C3AED"/>
          </a:solidFill>
          <a:ln>
            <a:noFill/>
          </a:ln>
          <a:effectLst>
            <a:outerShdw blurRad="50000" dist="12000" dir="5400000" algn="bl" rotWithShape="0">
              <a:srgbClr val="7C3AED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3" name="Step4Circle">
            <a:extLst>
              <a:ext uri="{FF2B5EF4-FFF2-40B4-BE49-F238E27FC236}">
                <a16:creationId xmlns:a16="http://schemas.microsoft.com/office/drawing/2014/main" id="{87A43DF8-118E-B592-82CC-6CBE9A2381BE}"/>
              </a:ext>
            </a:extLst>
          </p:cNvPr>
          <p:cNvSpPr/>
          <p:nvPr/>
        </p:nvSpPr>
        <p:spPr>
          <a:xfrm>
            <a:off x="9396000" y="2100000"/>
            <a:ext cx="900000" cy="900000"/>
          </a:xfrm>
          <a:prstGeom prst="ellipse">
            <a:avLst/>
          </a:prstGeom>
          <a:solidFill>
            <a:srgbClr val="EC4899"/>
          </a:solidFill>
          <a:ln>
            <a:noFill/>
          </a:ln>
          <a:effectLst>
            <a:outerShdw blurRad="50000" dist="12000" dir="5400000" algn="bl" rotWithShape="0">
              <a:srgbClr val="EC4899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0" name="Step1Label">
            <a:extLst>
              <a:ext uri="{FF2B5EF4-FFF2-40B4-BE49-F238E27FC236}">
                <a16:creationId xmlns:a16="http://schemas.microsoft.com/office/drawing/2014/main" id="{D42DE9A7-03F2-220D-6CDB-2F4441C14BC0}"/>
              </a:ext>
            </a:extLst>
          </p:cNvPr>
          <p:cNvSpPr/>
          <p:nvPr/>
        </p:nvSpPr>
        <p:spPr>
          <a:xfrm>
            <a:off x="12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Prompt</a:t>
            </a:r>
          </a:p>
        </p:txBody>
      </p:sp>
      <p:sp>
        <p:nvSpPr>
          <p:cNvPr id="21" name="Step2Label">
            <a:extLst>
              <a:ext uri="{FF2B5EF4-FFF2-40B4-BE49-F238E27FC236}">
                <a16:creationId xmlns:a16="http://schemas.microsoft.com/office/drawing/2014/main" id="{76285ACB-8CC3-5791-CA05-2E550D4C6FB2}"/>
              </a:ext>
            </a:extLst>
          </p:cNvPr>
          <p:cNvSpPr/>
          <p:nvPr/>
        </p:nvSpPr>
        <p:spPr>
          <a:xfrm>
            <a:off x="37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Contexto</a:t>
            </a:r>
          </a:p>
        </p:txBody>
      </p:sp>
      <p:sp>
        <p:nvSpPr>
          <p:cNvPr id="22" name="Step3Label">
            <a:extLst>
              <a:ext uri="{FF2B5EF4-FFF2-40B4-BE49-F238E27FC236}">
                <a16:creationId xmlns:a16="http://schemas.microsoft.com/office/drawing/2014/main" id="{827AAA37-7159-7EA4-A2C4-C338AEC911CE}"/>
              </a:ext>
            </a:extLst>
          </p:cNvPr>
          <p:cNvSpPr/>
          <p:nvPr/>
        </p:nvSpPr>
        <p:spPr>
          <a:xfrm>
            <a:off x="62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Generación</a:t>
            </a:r>
          </a:p>
        </p:txBody>
      </p:sp>
      <p:sp>
        <p:nvSpPr>
          <p:cNvPr id="23" name="Step4Label">
            <a:extLst>
              <a:ext uri="{FF2B5EF4-FFF2-40B4-BE49-F238E27FC236}">
                <a16:creationId xmlns:a16="http://schemas.microsoft.com/office/drawing/2014/main" id="{2E99D487-A932-52F0-E794-F893D849528E}"/>
              </a:ext>
            </a:extLst>
          </p:cNvPr>
          <p:cNvSpPr/>
          <p:nvPr/>
        </p:nvSpPr>
        <p:spPr>
          <a:xfrm>
            <a:off x="87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Respuesta</a:t>
            </a:r>
          </a:p>
        </p:txBody>
      </p:sp>
      <p:sp>
        <p:nvSpPr>
          <p:cNvPr id="30" name="Step1Desc">
            <a:extLst>
              <a:ext uri="{FF2B5EF4-FFF2-40B4-BE49-F238E27FC236}">
                <a16:creationId xmlns:a16="http://schemas.microsoft.com/office/drawing/2014/main" id="{7E8C5FC9-EB22-46CC-5987-D04A40A23026}"/>
              </a:ext>
            </a:extLst>
          </p:cNvPr>
          <p:cNvSpPr/>
          <p:nvPr/>
        </p:nvSpPr>
        <p:spPr>
          <a:xfrm>
            <a:off x="12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El usuario formula una pregunta o instrucción en el chat.</a:t>
            </a:r>
          </a:p>
        </p:txBody>
      </p:sp>
      <p:sp>
        <p:nvSpPr>
          <p:cNvPr id="31" name="Step2Desc">
            <a:extLst>
              <a:ext uri="{FF2B5EF4-FFF2-40B4-BE49-F238E27FC236}">
                <a16:creationId xmlns:a16="http://schemas.microsoft.com/office/drawing/2014/main" id="{C75430F5-0B15-31AB-9078-E26ED59558C7}"/>
              </a:ext>
            </a:extLst>
          </p:cNvPr>
          <p:cNvSpPr/>
          <p:nvPr/>
        </p:nvSpPr>
        <p:spPr>
          <a:xfrm>
            <a:off x="37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Copilot añade un resumen condensado del historial reciente al prompt.</a:t>
            </a:r>
          </a:p>
        </p:txBody>
      </p:sp>
      <p:sp>
        <p:nvSpPr>
          <p:cNvPr id="32" name="Step3Desc">
            <a:extLst>
              <a:ext uri="{FF2B5EF4-FFF2-40B4-BE49-F238E27FC236}">
                <a16:creationId xmlns:a16="http://schemas.microsoft.com/office/drawing/2014/main" id="{0A0EAA05-2851-E2B9-9603-630ED711A6F6}"/>
              </a:ext>
            </a:extLst>
          </p:cNvPr>
          <p:cNvSpPr/>
          <p:nvPr/>
        </p:nvSpPr>
        <p:spPr>
          <a:xfrm>
            <a:off x="62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El LLM produce la respuesta combinando prompt y contexto.</a:t>
            </a:r>
          </a:p>
        </p:txBody>
      </p:sp>
      <p:sp>
        <p:nvSpPr>
          <p:cNvPr id="33" name="Step4Desc">
            <a:extLst>
              <a:ext uri="{FF2B5EF4-FFF2-40B4-BE49-F238E27FC236}">
                <a16:creationId xmlns:a16="http://schemas.microsoft.com/office/drawing/2014/main" id="{CA7190B7-F9C3-0D28-246D-9E33EBDE3C3E}"/>
              </a:ext>
            </a:extLst>
          </p:cNvPr>
          <p:cNvSpPr/>
          <p:nvPr/>
        </p:nvSpPr>
        <p:spPr>
          <a:xfrm>
            <a:off x="87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Se entrega al usuario y se añade como nuevo turno del historial.</a:t>
            </a:r>
          </a:p>
        </p:txBody>
      </p:sp>
      <p:sp>
        <p:nvSpPr>
          <p:cNvPr id="50" name="HowToCard"/>
          <p:cNvSpPr/>
          <p:nvPr/>
        </p:nvSpPr>
        <p:spPr>
          <a:xfrm>
            <a:off x="1500000" y="4788000"/>
            <a:ext cx="9192000" cy="880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1" name="HowToBadge"/>
          <p:cNvSpPr/>
          <p:nvPr/>
        </p:nvSpPr>
        <p:spPr>
          <a:xfrm>
            <a:off x="1692000" y="5038000"/>
            <a:ext cx="1800000" cy="380000"/>
          </a:xfrm>
          <a:prstGeom prst="roundRect">
            <a:avLst>
              <a:gd name="adj" fmla="val 3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  <a:cs typeface="Segoe UI Semibold"/>
              </a:rPr>
              <a:t>Cómo usarlo</a:t>
            </a:r>
          </a:p>
        </p:txBody>
      </p:sp>
      <p:sp>
        <p:nvSpPr>
          <p:cNvPr id="52" name="HowToCol1"/>
          <p:cNvSpPr/>
          <p:nvPr/>
        </p:nvSpPr>
        <p:spPr>
          <a:xfrm>
            <a:off x="3700000" y="4838000"/>
            <a:ext cx="3400000" cy="8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Contexto continuo 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entre sesiones del chat</a:t>
            </a:r>
          </a:p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Las conversaciones se guardan hasta </a:t>
            </a: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18 meses</a:t>
            </a:r>
          </a:p>
        </p:txBody>
      </p:sp>
      <p:sp>
        <p:nvSpPr>
          <p:cNvPr id="53" name="HowToCol2"/>
          <p:cNvSpPr/>
          <p:nvPr/>
        </p:nvSpPr>
        <p:spPr>
          <a:xfrm>
            <a:off x="7200000" y="4838000"/>
            <a:ext cx="3300000" cy="8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Retoma 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conversaciones desde el panel lateral</a:t>
            </a:r>
          </a:p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Renombra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 o </a:t>
            </a: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elimina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 conversaciones</a:t>
            </a:r>
          </a:p>
        </p:txBody>
      </p:sp>
    </p:spTree>
    <p:extLst>
      <p:ext uri="{BB962C8B-B14F-4D97-AF65-F5344CB8AC3E}">
        <p14:creationId xmlns:p14="http://schemas.microsoft.com/office/powerpoint/2010/main" val="29873564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720BE-8B17-2D0A-C8B3-459EDC5B50FD}"/>
              </a:ext>
            </a:extLst>
          </p:cNvPr>
          <p:cNvSpPr txBox="1">
            <a:spLocks/>
          </p:cNvSpPr>
          <p:nvPr/>
        </p:nvSpPr>
        <p:spPr>
          <a:xfrm>
            <a:off x="588262" y="585216"/>
            <a:ext cx="8193024" cy="553998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Creación de </a:t>
            </a:r>
            <a:r>
              <a:rPr lang="es-ES" sz="3600" i="1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prompts </a:t>
            </a:r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efectivos</a:t>
            </a:r>
            <a:endParaRPr lang="en-US"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EC2A06-136C-CEB5-654F-C42F6A369B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2337667" y="1475486"/>
            <a:ext cx="9515458" cy="4828454"/>
          </a:xfrm>
          <a:prstGeom prst="roundRect">
            <a:avLst>
              <a:gd name="adj" fmla="val 3190"/>
            </a:avLst>
          </a:prstGeom>
          <a:solidFill>
            <a:srgbClr val="FFFFFF">
              <a:alpha val="46000"/>
            </a:srgbClr>
          </a:solidFill>
          <a:ln w="25400">
            <a:solidFill>
              <a:srgbClr val="5B21B6"/>
            </a:solidFill>
          </a:ln>
          <a:effectLst>
            <a:outerShdw blurRad="63500" algn="ctr" rotWithShape="0">
              <a:schemeClr val="tx1">
                <a:alpha val="15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fontAlgn="base">
              <a:spcBef>
                <a:spcPct val="0"/>
              </a:spcBef>
              <a:spcAft>
                <a:spcPts val="1200"/>
              </a:spcAft>
              <a:defRPr sz="1000">
                <a:ln w="3175">
                  <a:noFill/>
                </a:ln>
                <a:solidFill>
                  <a:schemeClr val="tx1"/>
                </a:solidFill>
                <a:cs typeface="Segoe UI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defRPr/>
            </a:pPr>
            <a:endParaRPr kumimoji="0" lang="en-US" sz="1000" b="0" i="0" u="none" strike="noStrike" kern="1200" cap="none" spc="0" normalizeH="0" baseline="0" noProof="0" dirty="0">
              <a:ln w="3175"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Segoe UI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410EE8-81B9-A95E-9C38-8CB4E4E05E0B}"/>
              </a:ext>
            </a:extLst>
          </p:cNvPr>
          <p:cNvSpPr txBox="1"/>
          <p:nvPr/>
        </p:nvSpPr>
        <p:spPr>
          <a:xfrm>
            <a:off x="335373" y="2115059"/>
            <a:ext cx="2002295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32472">
              <a:spcBef>
                <a:spcPct val="0"/>
              </a:spcBef>
              <a:spcAft>
                <a:spcPct val="0"/>
              </a:spcAft>
              <a:defRPr/>
            </a:pPr>
            <a:r>
              <a:rPr lang="es-ES" sz="22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Para obtener la mejor respuesta, es importante centrarse en algunos de los </a:t>
            </a:r>
            <a:r>
              <a:rPr lang="es-ES" sz="22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elementos clave </a:t>
            </a:r>
            <a:r>
              <a:rPr lang="es-ES" sz="22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a la hora de expresar los </a:t>
            </a:r>
            <a:r>
              <a:rPr lang="es-ES" sz="2200" i="1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prompts</a:t>
            </a:r>
            <a:r>
              <a:rPr lang="es-ES" sz="22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5" name="Rounded Rectangle 15">
            <a:extLst>
              <a:ext uri="{FF2B5EF4-FFF2-40B4-BE49-F238E27FC236}">
                <a16:creationId xmlns:a16="http://schemas.microsoft.com/office/drawing/2014/main" id="{847AEE87-676A-2229-AFB1-519485FFF7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13732" y="2714978"/>
            <a:ext cx="8519595" cy="2386846"/>
          </a:xfrm>
          <a:prstGeom prst="roundRect">
            <a:avLst>
              <a:gd name="adj" fmla="val 7542"/>
            </a:avLst>
          </a:prstGeom>
          <a:gradFill flip="none" rotWithShape="1">
            <a:gsLst>
              <a:gs pos="58000">
                <a:srgbClr val="FFFFFF"/>
              </a:gs>
              <a:gs pos="100000">
                <a:schemeClr val="bg1">
                  <a:lumMod val="95000"/>
                  <a:alpha val="0"/>
                </a:schemeClr>
              </a:gs>
              <a:gs pos="34000">
                <a:schemeClr val="bg1"/>
              </a:gs>
            </a:gsLst>
            <a:lin ang="18900000" scaled="1"/>
          </a:gradFill>
          <a:ln w="12700">
            <a:noFill/>
            <a:headEnd type="none" w="med" len="med"/>
            <a:tailEnd type="none" w="med" len="med"/>
          </a:ln>
          <a:effectLst/>
          <a:scene3d>
            <a:camera prst="perspectiveRight">
              <a:rot lat="0" lon="21594000" rev="0"/>
            </a:camera>
            <a:lightRig rig="flat" dir="t"/>
          </a:scene3d>
          <a:sp3d>
            <a:bevelT w="0" h="0"/>
            <a:bevelB w="0" h="0"/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D2257005-D2AF-CCEE-D100-A358BA658142}"/>
              </a:ext>
            </a:extLst>
          </p:cNvPr>
          <p:cNvSpPr/>
          <p:nvPr/>
        </p:nvSpPr>
        <p:spPr bwMode="auto">
          <a:xfrm>
            <a:off x="3066870" y="1648760"/>
            <a:ext cx="1835900" cy="34715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rgbClr val="3B82F6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>
                <a:solidFill>
                  <a:srgbClr val="3B82F6"/>
                </a:solidFill>
                <a:effectLst/>
                <a:latin typeface="Segoe UI Semibold"/>
                <a:ea typeface="Segoe UI Semibold"/>
                <a:cs typeface="Segoe UI Semibold"/>
              </a:rPr>
              <a:t>Rol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0F6260FF-1A35-3160-8E49-7F2E5EFD85A1}"/>
              </a:ext>
            </a:extLst>
          </p:cNvPr>
          <p:cNvSpPr txBox="1"/>
          <p:nvPr/>
        </p:nvSpPr>
        <p:spPr>
          <a:xfrm>
            <a:off x="3113732" y="2095187"/>
            <a:ext cx="2982268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0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¿Qué papel debe asumir la IA?</a:t>
            </a:r>
          </a:p>
        </p:txBody>
      </p:sp>
      <p:sp>
        <p:nvSpPr>
          <p:cNvPr id="8" name="Rounded Rectangle 26">
            <a:extLst>
              <a:ext uri="{FF2B5EF4-FFF2-40B4-BE49-F238E27FC236}">
                <a16:creationId xmlns:a16="http://schemas.microsoft.com/office/drawing/2014/main" id="{3E383DBA-A62F-3763-1C6B-418D5FBEDF2B}"/>
              </a:ext>
            </a:extLst>
          </p:cNvPr>
          <p:cNvSpPr/>
          <p:nvPr/>
        </p:nvSpPr>
        <p:spPr bwMode="auto">
          <a:xfrm>
            <a:off x="7863420" y="1645996"/>
            <a:ext cx="1835732" cy="34715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rgbClr val="0D9488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Contexto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544148-AF5C-3CCF-FD8A-14F7AEAE6715}"/>
              </a:ext>
            </a:extLst>
          </p:cNvPr>
          <p:cNvSpPr txBox="1"/>
          <p:nvPr/>
        </p:nvSpPr>
        <p:spPr>
          <a:xfrm>
            <a:off x="7877772" y="2138241"/>
            <a:ext cx="3197545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¿Por qué lo necesitas y quién está implicado?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7552ED3-FB9C-95C6-6227-B048F1C1DD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782293" y="2661852"/>
            <a:ext cx="169" cy="0"/>
          </a:xfrm>
          <a:prstGeom prst="line">
            <a:avLst/>
          </a:prstGeom>
          <a:ln w="12700">
            <a:gradFill flip="none" rotWithShape="1">
              <a:gsLst>
                <a:gs pos="0">
                  <a:srgbClr val="C2C2C2"/>
                </a:gs>
                <a:gs pos="90000">
                  <a:schemeClr val="bg1">
                    <a:alpha val="0"/>
                  </a:schemeClr>
                </a:gs>
              </a:gsLst>
              <a:lin ang="162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37">
            <a:extLst>
              <a:ext uri="{FF2B5EF4-FFF2-40B4-BE49-F238E27FC236}">
                <a16:creationId xmlns:a16="http://schemas.microsoft.com/office/drawing/2014/main" id="{A83A3DE6-1A37-0015-50FD-2C6A0AF1253F}"/>
              </a:ext>
            </a:extLst>
          </p:cNvPr>
          <p:cNvSpPr/>
          <p:nvPr/>
        </p:nvSpPr>
        <p:spPr bwMode="auto">
          <a:xfrm>
            <a:off x="3066870" y="5250407"/>
            <a:ext cx="1835732" cy="34715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rgbClr val="7C3AED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 dirty="0">
                <a:solidFill>
                  <a:srgbClr val="7C3AED"/>
                </a:solidFill>
                <a:effectLst/>
                <a:latin typeface="Segoe UI Semibold"/>
                <a:ea typeface="Segoe UI Semibold"/>
                <a:cs typeface="Segoe UI Semibold"/>
              </a:rPr>
              <a:t>  Tarea</a:t>
            </a:r>
          </a:p>
        </p:txBody>
      </p:sp>
      <p:sp>
        <p:nvSpPr>
          <p:cNvPr id="12" name="TextBox 7">
            <a:extLst>
              <a:ext uri="{FF2B5EF4-FFF2-40B4-BE49-F238E27FC236}">
                <a16:creationId xmlns:a16="http://schemas.microsoft.com/office/drawing/2014/main" id="{06E6145A-6EB2-BBFD-8F4D-CE476DBC1F63}"/>
              </a:ext>
            </a:extLst>
          </p:cNvPr>
          <p:cNvSpPr txBox="1"/>
          <p:nvPr/>
        </p:nvSpPr>
        <p:spPr>
          <a:xfrm>
            <a:off x="3066870" y="5714529"/>
            <a:ext cx="339327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¿Qué quieres que haga?</a:t>
            </a:r>
          </a:p>
        </p:txBody>
      </p:sp>
      <p:sp>
        <p:nvSpPr>
          <p:cNvPr id="13" name="Rounded Rectangle 34">
            <a:extLst>
              <a:ext uri="{FF2B5EF4-FFF2-40B4-BE49-F238E27FC236}">
                <a16:creationId xmlns:a16="http://schemas.microsoft.com/office/drawing/2014/main" id="{C5B32D6E-5D3B-BCD4-02A8-D0F3F72A29CA}"/>
              </a:ext>
            </a:extLst>
          </p:cNvPr>
          <p:cNvSpPr/>
          <p:nvPr/>
        </p:nvSpPr>
        <p:spPr bwMode="auto">
          <a:xfrm>
            <a:off x="7863420" y="5250407"/>
            <a:ext cx="1835732" cy="347158"/>
          </a:xfrm>
          <a:prstGeom prst="roundRect">
            <a:avLst>
              <a:gd name="adj" fmla="val 50000"/>
            </a:avLst>
          </a:prstGeom>
          <a:solidFill>
            <a:schemeClr val="bg1">
              <a:alpha val="99000"/>
            </a:schemeClr>
          </a:solidFill>
          <a:ln w="15875">
            <a:solidFill>
              <a:srgbClr val="EC55A0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 dirty="0">
                <a:solidFill>
                  <a:srgbClr val="EC4899"/>
                </a:solidFill>
                <a:effectLst/>
                <a:latin typeface="Segoe UI Semibold"/>
                <a:ea typeface="Segoe UI Semibold"/>
                <a:cs typeface="Segoe UI Semibold"/>
              </a:rPr>
              <a:t>Formato</a:t>
            </a:r>
          </a:p>
        </p:txBody>
      </p:sp>
      <p:sp>
        <p:nvSpPr>
          <p:cNvPr id="14" name="TextBox 6">
            <a:extLst>
              <a:ext uri="{FF2B5EF4-FFF2-40B4-BE49-F238E27FC236}">
                <a16:creationId xmlns:a16="http://schemas.microsoft.com/office/drawing/2014/main" id="{1A5D714E-536C-6BE7-3332-B3985B1E0E37}"/>
              </a:ext>
            </a:extLst>
          </p:cNvPr>
          <p:cNvSpPr txBox="1"/>
          <p:nvPr/>
        </p:nvSpPr>
        <p:spPr>
          <a:xfrm>
            <a:off x="7863420" y="5714529"/>
            <a:ext cx="3474031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¿Cómo debe entregar la respuesta?</a:t>
            </a:r>
          </a:p>
        </p:txBody>
      </p:sp>
      <p:pic>
        <p:nvPicPr>
          <p:cNvPr id="16" name="Image 0" descr="preencoded.png">
            <a:extLst>
              <a:ext uri="{FF2B5EF4-FFF2-40B4-BE49-F238E27FC236}">
                <a16:creationId xmlns:a16="http://schemas.microsoft.com/office/drawing/2014/main" id="{57B35A92-1B75-2ABC-6771-69CEFDF9C6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17" name="Rounded Rectangle 41">
            <a:extLst>
              <a:ext uri="{FF2B5EF4-FFF2-40B4-BE49-F238E27FC236}">
                <a16:creationId xmlns:a16="http://schemas.microsoft.com/office/drawing/2014/main" id="{CC4BCB06-E050-9411-4C7D-0C7FE9C80669}"/>
              </a:ext>
            </a:extLst>
          </p:cNvPr>
          <p:cNvSpPr/>
          <p:nvPr/>
        </p:nvSpPr>
        <p:spPr bwMode="auto">
          <a:xfrm>
            <a:off x="2393244" y="1218085"/>
            <a:ext cx="5540112" cy="367117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8000">
                <a:srgbClr val="7C3AED"/>
              </a:gs>
              <a:gs pos="100000">
                <a:srgbClr val="3B82F6"/>
              </a:gs>
            </a:gsLst>
            <a:path path="circle">
              <a:fillToRect l="100000" t="100000"/>
            </a:path>
            <a:tileRect r="-100000" b="-100000"/>
          </a:gradFill>
          <a:ln w="9525" cap="flat" cmpd="sng" algn="ctr">
            <a:noFill/>
            <a:prstDash val="solid"/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txBody>
          <a:bodyPr rot="0" spcFirstLastPara="0" vertOverflow="overflow" horzOverflow="overflow" vert="horz" wrap="square" lIns="27000" tIns="0" rIns="27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99354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s-ES" sz="1800" b="1" i="0" strike="noStrike" cap="none" baseline="0" dirty="0">
                <a:solidFill>
                  <a:srgbClr val="FFFFFF"/>
                </a:solidFill>
                <a:effectLst/>
                <a:latin typeface="Segoe UI Semibold"/>
                <a:ea typeface="Segoe UI Semibold"/>
                <a:cs typeface="Segoe UI Semibold"/>
              </a:rPr>
              <a:t>Framework RCTF: los 4 ingredientes de un </a:t>
            </a:r>
            <a:r>
              <a:rPr lang="es-ES" sz="1800" b="1" i="1" strike="noStrike" cap="none" baseline="0" dirty="0" err="1">
                <a:solidFill>
                  <a:srgbClr val="FFFFFF"/>
                </a:solidFill>
                <a:effectLst/>
                <a:latin typeface="Segoe UI Semibold"/>
                <a:ea typeface="Segoe UI Semibold"/>
                <a:cs typeface="Segoe UI Semibold"/>
              </a:rPr>
              <a:t>prompt</a:t>
            </a:r>
            <a:endParaRPr lang="es-ES" sz="1800" b="1" i="0" strike="noStrike" cap="none" baseline="0" dirty="0">
              <a:solidFill>
                <a:srgbClr val="FFFFFF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E2B531-10B4-3C67-74C6-05F24ADDC7B7}"/>
              </a:ext>
            </a:extLst>
          </p:cNvPr>
          <p:cNvSpPr txBox="1"/>
          <p:nvPr/>
        </p:nvSpPr>
        <p:spPr>
          <a:xfrm>
            <a:off x="3294978" y="2847886"/>
            <a:ext cx="84456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i="0" strike="noStrike" cap="none" baseline="0" dirty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							    Trabajo en </a:t>
            </a:r>
          </a:p>
          <a:p>
            <a:r>
              <a:rPr lang="es-ES" sz="2400" b="1" i="0" strike="noStrike" cap="none" baseline="0" dirty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marketing y necesito vigilar a </a:t>
            </a:r>
            <a:r>
              <a:rPr lang="es-ES" sz="2400" b="1" dirty="0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Contoso, </a:t>
            </a:r>
            <a:r>
              <a:rPr lang="es-ES" sz="2400" b="1" i="0" strike="noStrike" cap="none" baseline="0" dirty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uno de nuestros competidores. </a:t>
            </a:r>
            <a:endParaRPr lang="es-ES" sz="2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DBDA9C-0D3C-075A-1A80-5F64D7189188}"/>
              </a:ext>
            </a:extLst>
          </p:cNvPr>
          <p:cNvSpPr txBox="1"/>
          <p:nvPr/>
        </p:nvSpPr>
        <p:spPr>
          <a:xfrm>
            <a:off x="3292558" y="2863409"/>
            <a:ext cx="72169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i="0" strike="noStrike" cap="none" baseline="0" dirty="0">
                <a:solidFill>
                  <a:srgbClr val="3B82F6"/>
                </a:solidFill>
                <a:effectLst/>
                <a:latin typeface="Segoe UI Semibold"/>
                <a:ea typeface="Segoe UI Semibold"/>
                <a:cs typeface="Segoe UI Semibold"/>
              </a:rPr>
              <a:t>Actúa como analista de inteligencia competitiva.</a:t>
            </a:r>
            <a:endParaRPr lang="es-ES" sz="2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F90654-47B6-C52D-1E0B-5C28255B6637}"/>
              </a:ext>
            </a:extLst>
          </p:cNvPr>
          <p:cNvSpPr txBox="1"/>
          <p:nvPr/>
        </p:nvSpPr>
        <p:spPr>
          <a:xfrm>
            <a:off x="3292557" y="3562340"/>
            <a:ext cx="832852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i="0" strike="noStrike" cap="none" baseline="0" dirty="0">
                <a:solidFill>
                  <a:srgbClr val="7C3AED"/>
                </a:solidFill>
                <a:effectLst/>
                <a:latin typeface="Segoe UI Semibold"/>
                <a:ea typeface="Segoe UI Semibold"/>
                <a:cs typeface="Segoe UI Semibold"/>
              </a:rPr>
              <a:t>		   Resume las últimas noticias sobre esa empresa publicadas en artículos web de los últimos 2 meses. </a:t>
            </a:r>
            <a:endParaRPr lang="es-ES" sz="2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368A85-3DDE-0685-AD13-14DEC8C35E47}"/>
              </a:ext>
            </a:extLst>
          </p:cNvPr>
          <p:cNvSpPr txBox="1"/>
          <p:nvPr/>
        </p:nvSpPr>
        <p:spPr>
          <a:xfrm>
            <a:off x="3278608" y="4282994"/>
            <a:ext cx="83407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dirty="0">
                <a:solidFill>
                  <a:srgbClr val="EC4899"/>
                </a:solidFill>
                <a:latin typeface="Segoe UI Semibold"/>
                <a:ea typeface="Segoe UI Semibold"/>
                <a:cs typeface="Segoe UI Semibold"/>
              </a:rPr>
              <a:t>	 </a:t>
            </a:r>
            <a:r>
              <a:rPr lang="es-ES" sz="2400" b="1" i="0" strike="noStrike" cap="none" baseline="0" dirty="0">
                <a:solidFill>
                  <a:srgbClr val="EC4899"/>
                </a:solidFill>
                <a:effectLst/>
                <a:latin typeface="Segoe UI Semibold"/>
                <a:ea typeface="Segoe UI Semibold"/>
                <a:cs typeface="Segoe UI Semibold"/>
              </a:rPr>
              <a:t>Entrega la respuesta en dos o tres párrafos con un tono profesional.</a:t>
            </a:r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1001942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/>
      <p:bldP spid="11" grpId="0" animBg="1"/>
      <p:bldP spid="12" grpId="0"/>
      <p:bldP spid="13" grpId="0" animBg="1"/>
      <p:bldP spid="14" grpId="0"/>
      <p:bldP spid="21" grpId="0"/>
      <p:bldP spid="19" grpId="0"/>
      <p:bldP spid="23" grpId="0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5">
            <a:extLst>
              <a:ext uri="{FF2B5EF4-FFF2-40B4-BE49-F238E27FC236}">
                <a16:creationId xmlns:a16="http://schemas.microsoft.com/office/drawing/2014/main" id="{937FB07E-AEE1-C6AC-07D9-6F709FC706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8262" y="1677009"/>
            <a:ext cx="11099944" cy="4595775"/>
          </a:xfrm>
          <a:prstGeom prst="roundRect">
            <a:avLst>
              <a:gd name="adj" fmla="val 2364"/>
            </a:avLst>
          </a:prstGeom>
          <a:solidFill>
            <a:srgbClr val="FFFFFF">
              <a:alpha val="74118"/>
            </a:srgb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53D518B-88A9-A887-C0FB-133A957787A9}"/>
              </a:ext>
            </a:extLst>
          </p:cNvPr>
          <p:cNvSpPr txBox="1">
            <a:spLocks/>
          </p:cNvSpPr>
          <p:nvPr/>
        </p:nvSpPr>
        <p:spPr>
          <a:xfrm>
            <a:off x="546028" y="585216"/>
            <a:ext cx="11099944" cy="553998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Creación de </a:t>
            </a:r>
            <a:r>
              <a:rPr lang="es-ES" sz="3600" i="1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prompts </a:t>
            </a:r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efectivos</a:t>
            </a:r>
            <a:endParaRPr lang="es-ES" sz="3600" i="1">
              <a:solidFill>
                <a:srgbClr val="1E293B"/>
              </a:solidFill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781996-88DC-5D44-B67A-77313D01BDFD}"/>
              </a:ext>
            </a:extLst>
          </p:cNvPr>
          <p:cNvSpPr txBox="1"/>
          <p:nvPr/>
        </p:nvSpPr>
        <p:spPr>
          <a:xfrm>
            <a:off x="953587" y="1863661"/>
            <a:ext cx="4323806" cy="40976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D9488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</a:t>
            </a: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Ser claro y específico</a:t>
            </a:r>
          </a:p>
          <a:p>
            <a:pPr marL="285750" indent="-285750">
              <a:lnSpc>
                <a:spcPct val="150000"/>
              </a:lnSpc>
              <a:buClr>
                <a:srgbClr val="0D9488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Proporcionar ejemplos</a:t>
            </a:r>
          </a:p>
          <a:p>
            <a:pPr marL="285750" indent="-285750">
              <a:lnSpc>
                <a:spcPct val="150000"/>
              </a:lnSpc>
              <a:buClr>
                <a:srgbClr val="0D9488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Proporcionar detalles</a:t>
            </a:r>
            <a:endParaRPr lang="es-ES" sz="2000" b="0" i="0" strike="noStrike" cap="none" baseline="0" dirty="0">
              <a:solidFill>
                <a:srgbClr val="1E293B"/>
              </a:solidFill>
              <a:effectLst/>
              <a:latin typeface="Segoe UI"/>
              <a:ea typeface="Segoe UI"/>
              <a:cs typeface="Segoe UI"/>
            </a:endParaRPr>
          </a:p>
          <a:p>
            <a:pPr marL="285750" indent="-285750" algn="l">
              <a:lnSpc>
                <a:spcPct val="150000"/>
              </a:lnSpc>
              <a:buClr>
                <a:srgbClr val="0D9488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Hacerlo ameno y cercano</a:t>
            </a:r>
          </a:p>
          <a:p>
            <a:pPr marL="285750" indent="-285750">
              <a:lnSpc>
                <a:spcPct val="150000"/>
              </a:lnSpc>
              <a:buClr>
                <a:srgbClr val="0D9488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Ser cortés</a:t>
            </a:r>
          </a:p>
          <a:p>
            <a:pPr marL="285750" indent="-285750">
              <a:lnSpc>
                <a:spcPct val="150000"/>
              </a:lnSpc>
              <a:buClr>
                <a:srgbClr val="0D9488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Escribir de manera legible</a:t>
            </a:r>
          </a:p>
          <a:p>
            <a:pPr marL="285750" indent="-285750">
              <a:lnSpc>
                <a:spcPct val="150000"/>
              </a:lnSpc>
              <a:buClr>
                <a:srgbClr val="0D9488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Pedir comentarios</a:t>
            </a:r>
          </a:p>
          <a:p>
            <a:pPr marL="285750" indent="-285750" algn="l">
              <a:lnSpc>
                <a:spcPct val="150000"/>
              </a:lnSpc>
              <a:buClr>
                <a:srgbClr val="0D9488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Verificar la precisión</a:t>
            </a:r>
          </a:p>
          <a:p>
            <a:pPr marL="285750" indent="-285750" algn="l">
              <a:lnSpc>
                <a:spcPct val="150000"/>
              </a:lnSpc>
              <a:buClr>
                <a:srgbClr val="0D9488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Iterar y refinar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60D914-9DEE-34C4-66CD-5B7F64E77A0E}"/>
              </a:ext>
            </a:extLst>
          </p:cNvPr>
          <p:cNvSpPr txBox="1"/>
          <p:nvPr/>
        </p:nvSpPr>
        <p:spPr>
          <a:xfrm>
            <a:off x="6096000" y="1863661"/>
            <a:ext cx="5507738" cy="31872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Ser impreciso</a:t>
            </a:r>
          </a:p>
          <a:p>
            <a:pPr marL="342900" indent="-342900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Usar argot, jerga o lenguaje informal</a:t>
            </a:r>
            <a:endParaRPr lang="es-ES" sz="2000" b="0" i="0" strike="noStrike" cap="none" baseline="0" dirty="0">
              <a:solidFill>
                <a:srgbClr val="1E293B"/>
              </a:solidFill>
              <a:effectLst/>
              <a:latin typeface="Segoe UI"/>
              <a:ea typeface="Segoe UI"/>
              <a:cs typeface="Segoe UI"/>
            </a:endParaRP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Solicitar contenido inapropiado o poco ético</a:t>
            </a: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Dar instrucciones contradictorias</a:t>
            </a: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Interrumpir o cambiar de tema abruptamente</a:t>
            </a: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endParaRPr lang="en-US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BEE0F09-3F67-7303-8F20-2796F6DB8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5277393" y="1863661"/>
            <a:ext cx="0" cy="4097660"/>
          </a:xfrm>
          <a:prstGeom prst="line">
            <a:avLst/>
          </a:prstGeom>
          <a:ln w="38100">
            <a:headEnd type="none" w="lg" len="med"/>
            <a:tailEnd type="none" w="lg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2B30F533-5CE5-55A0-415A-CE8179CBDF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8638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>
            <a:extLst>
              <a:ext uri="{FF2B5EF4-FFF2-40B4-BE49-F238E27FC236}">
                <a16:creationId xmlns:a16="http://schemas.microsoft.com/office/drawing/2014/main" id="{C2DFE902-0187-ED05-156B-41B1AF827B2D}"/>
              </a:ext>
            </a:extLst>
          </p:cNvPr>
          <p:cNvSpPr/>
          <p:nvPr/>
        </p:nvSpPr>
        <p:spPr>
          <a:xfrm>
            <a:off x="975360" y="1584960"/>
            <a:ext cx="4876800" cy="4267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10802A72-DBDF-E5F3-EF41-5C24D49D0E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1889760"/>
            <a:ext cx="487680" cy="487680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53A41915-A9CF-6DC2-8E53-772A758D9B5F}"/>
              </a:ext>
            </a:extLst>
          </p:cNvPr>
          <p:cNvSpPr/>
          <p:nvPr/>
        </p:nvSpPr>
        <p:spPr>
          <a:xfrm>
            <a:off x="2011680" y="1828800"/>
            <a:ext cx="35356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67" b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¿Qué es y cuándo usar?</a:t>
            </a:r>
            <a:endParaRPr lang="en-US" sz="2267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A2A7FDA-8421-516C-31A8-FB8A477400A3}"/>
              </a:ext>
            </a:extLst>
          </p:cNvPr>
          <p:cNvSpPr/>
          <p:nvPr/>
        </p:nvSpPr>
        <p:spPr>
          <a:xfrm>
            <a:off x="1341120" y="2560320"/>
            <a:ext cx="4145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189" indent="-457189">
              <a:spcAft>
                <a:spcPts val="1067"/>
              </a:spcAft>
              <a:buSzPct val="100000"/>
              <a:buChar char="•"/>
            </a:pPr>
            <a:r>
              <a:rPr lang="en-US" sz="1733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Prompts detallados con múltiples instrucciones en un solo mensaje.</a:t>
            </a:r>
            <a:endParaRPr lang="en-US" sz="1733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7189" indent="-457189">
              <a:spcAft>
                <a:spcPts val="1067"/>
              </a:spcAft>
              <a:buSzPct val="100000"/>
              <a:buChar char="•"/>
            </a:pPr>
            <a:r>
              <a:rPr lang="en-US" sz="1733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Incluyen rol, contexto, formato, ejemplos y restricciones.</a:t>
            </a:r>
            <a:endParaRPr lang="en-US" sz="1733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7189" indent="-457189">
              <a:spcAft>
                <a:spcPts val="1067"/>
              </a:spcAft>
              <a:buSzPct val="100000"/>
              <a:buChar char="•"/>
            </a:pPr>
            <a:r>
              <a:rPr lang="en-US" sz="1733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Ideal para tareas complejas que requieren precisión.</a:t>
            </a:r>
            <a:endParaRPr lang="en-US" sz="1733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7189" indent="-457189">
              <a:spcAft>
                <a:spcPts val="1067"/>
              </a:spcAft>
              <a:buSzPct val="100000"/>
              <a:buChar char="•"/>
            </a:pPr>
            <a:r>
              <a:rPr lang="en-US" sz="1733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Reducen la necesidad de múltiples iteraciones.</a:t>
            </a:r>
            <a:endParaRPr lang="en-US" sz="1733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942EC47-F372-E842-F803-9955E6635C04}"/>
              </a:ext>
            </a:extLst>
          </p:cNvPr>
          <p:cNvSpPr/>
          <p:nvPr/>
        </p:nvSpPr>
        <p:spPr>
          <a:xfrm>
            <a:off x="6339840" y="1584960"/>
            <a:ext cx="4876800" cy="4267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Image 1" descr="preencoded.png">
            <a:extLst>
              <a:ext uri="{FF2B5EF4-FFF2-40B4-BE49-F238E27FC236}">
                <a16:creationId xmlns:a16="http://schemas.microsoft.com/office/drawing/2014/main" id="{47DCEE9B-E344-F80E-375E-3686095C9B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600" y="1889760"/>
            <a:ext cx="487680" cy="487680"/>
          </a:xfrm>
          <a:prstGeom prst="rect">
            <a:avLst/>
          </a:prstGeom>
        </p:spPr>
      </p:pic>
      <p:sp>
        <p:nvSpPr>
          <p:cNvPr id="8" name="Text 5">
            <a:extLst>
              <a:ext uri="{FF2B5EF4-FFF2-40B4-BE49-F238E27FC236}">
                <a16:creationId xmlns:a16="http://schemas.microsoft.com/office/drawing/2014/main" id="{EA6FC6EC-5248-85B5-7BFF-DE704E07C056}"/>
              </a:ext>
            </a:extLst>
          </p:cNvPr>
          <p:cNvSpPr/>
          <p:nvPr/>
        </p:nvSpPr>
        <p:spPr>
          <a:xfrm>
            <a:off x="7376160" y="1828800"/>
            <a:ext cx="35356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67" b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Ejemplo de superprompt</a:t>
            </a:r>
            <a:endParaRPr lang="en-US" sz="2267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BCEC472-63DF-D7A3-2B77-EA9842B2115C}"/>
              </a:ext>
            </a:extLst>
          </p:cNvPr>
          <p:cNvSpPr/>
          <p:nvPr/>
        </p:nvSpPr>
        <p:spPr>
          <a:xfrm>
            <a:off x="6705600" y="2560320"/>
            <a:ext cx="4145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067"/>
              </a:spcAft>
              <a:buSzPct val="100000"/>
            </a:pP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"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Actúa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como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experto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en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marketing digital.</a:t>
            </a:r>
            <a:endParaRPr lang="en-US" sz="1733" i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spcAft>
                <a:spcPts val="1067"/>
              </a:spcAft>
              <a:buSzPct val="100000"/>
            </a:pP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Crea 3 ideas de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campaña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para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una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marca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café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sostenible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.</a:t>
            </a:r>
            <a:endParaRPr lang="en-US" sz="1733" i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spcAft>
                <a:spcPts val="1067"/>
              </a:spcAft>
              <a:buSzPct val="100000"/>
            </a:pP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Público: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jóvenes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25-35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años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tono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cercano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e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inspirador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.</a:t>
            </a:r>
            <a:endParaRPr lang="en-US" sz="1733" i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spcAft>
                <a:spcPts val="1067"/>
              </a:spcAft>
              <a:buSzPct val="100000"/>
            </a:pP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Formato: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título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mensaje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clave y CTA. Evita clichés</a:t>
            </a:r>
            <a:r>
              <a:rPr lang="en-US" sz="1733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."</a:t>
            </a:r>
            <a:endParaRPr lang="en-US" sz="1733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3F67F1D3-B21C-9AD0-EA8A-E1A7906179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E0FA534A-E8C7-BBFC-9D48-52C5610E83C9}"/>
              </a:ext>
            </a:extLst>
          </p:cNvPr>
          <p:cNvSpPr txBox="1">
            <a:spLocks/>
          </p:cNvSpPr>
          <p:nvPr/>
        </p:nvSpPr>
        <p:spPr>
          <a:xfrm>
            <a:off x="588262" y="585216"/>
            <a:ext cx="8193024" cy="553998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Superprompts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42443948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>
            <a:extLst>
              <a:ext uri="{FF2B5EF4-FFF2-40B4-BE49-F238E27FC236}">
                <a16:creationId xmlns:a16="http://schemas.microsoft.com/office/drawing/2014/main" id="{C2DFE902-0187-ED05-156B-41B1AF827B2D}"/>
              </a:ext>
            </a:extLst>
          </p:cNvPr>
          <p:cNvSpPr/>
          <p:nvPr/>
        </p:nvSpPr>
        <p:spPr>
          <a:xfrm>
            <a:off x="975360" y="1584960"/>
            <a:ext cx="4876800" cy="4267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10802A72-DBDF-E5F3-EF41-5C24D49D0E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1889760"/>
            <a:ext cx="487680" cy="487680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53A41915-A9CF-6DC2-8E53-772A758D9B5F}"/>
              </a:ext>
            </a:extLst>
          </p:cNvPr>
          <p:cNvSpPr/>
          <p:nvPr/>
        </p:nvSpPr>
        <p:spPr>
          <a:xfrm>
            <a:off x="2011680" y="1828800"/>
            <a:ext cx="35356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67" b="1">
                <a:solidFill>
                  <a:srgbClr val="0D9488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¿Qué es y cuándo usar?</a:t>
            </a:r>
            <a:endParaRPr lang="en-US" sz="2267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A2A7FDA-8421-516C-31A8-FB8A477400A3}"/>
              </a:ext>
            </a:extLst>
          </p:cNvPr>
          <p:cNvSpPr/>
          <p:nvPr/>
        </p:nvSpPr>
        <p:spPr>
          <a:xfrm>
            <a:off x="1341120" y="2560320"/>
            <a:ext cx="4145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189" indent="-457189">
              <a:spcAft>
                <a:spcPts val="1067"/>
              </a:spcAft>
              <a:buSzPct val="100000"/>
              <a:buChar char="•"/>
            </a:pPr>
            <a:r>
              <a:rPr lang="en-US" sz="1733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Técnica que pide a la IA razonar "paso a paso".</a:t>
            </a:r>
            <a:endParaRPr lang="en-US" sz="1733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7189" indent="-457189">
              <a:spcAft>
                <a:spcPts val="1067"/>
              </a:spcAft>
              <a:buSzPct val="100000"/>
              <a:buChar char="•"/>
            </a:pPr>
            <a:r>
              <a:rPr lang="en-US" sz="1733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Hace visible el proceso de razonamiento del modelo.</a:t>
            </a:r>
            <a:endParaRPr lang="en-US" sz="1733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7189" indent="-457189">
              <a:spcAft>
                <a:spcPts val="1067"/>
              </a:spcAft>
              <a:buSzPct val="100000"/>
              <a:buChar char="•"/>
            </a:pPr>
            <a:r>
              <a:rPr lang="en-US" sz="1733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Útil en razonamiento lógico, matemático o de decisiones.</a:t>
            </a:r>
            <a:endParaRPr lang="en-US" sz="1733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7189" indent="-457189">
              <a:spcAft>
                <a:spcPts val="1067"/>
              </a:spcAft>
              <a:buSzPct val="100000"/>
              <a:buChar char="•"/>
            </a:pPr>
            <a:r>
              <a:rPr lang="en-US" sz="1733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Reduce errores en problemas con varios pasos.</a:t>
            </a:r>
            <a:endParaRPr lang="en-US" sz="1733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942EC47-F372-E842-F803-9955E6635C04}"/>
              </a:ext>
            </a:extLst>
          </p:cNvPr>
          <p:cNvSpPr/>
          <p:nvPr/>
        </p:nvSpPr>
        <p:spPr>
          <a:xfrm>
            <a:off x="6339840" y="1584960"/>
            <a:ext cx="4876800" cy="4267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Image 1" descr="preencoded.png">
            <a:extLst>
              <a:ext uri="{FF2B5EF4-FFF2-40B4-BE49-F238E27FC236}">
                <a16:creationId xmlns:a16="http://schemas.microsoft.com/office/drawing/2014/main" id="{47DCEE9B-E344-F80E-375E-3686095C9B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600" y="1889760"/>
            <a:ext cx="487680" cy="487680"/>
          </a:xfrm>
          <a:prstGeom prst="rect">
            <a:avLst/>
          </a:prstGeom>
        </p:spPr>
      </p:pic>
      <p:sp>
        <p:nvSpPr>
          <p:cNvPr id="8" name="Text 5">
            <a:extLst>
              <a:ext uri="{FF2B5EF4-FFF2-40B4-BE49-F238E27FC236}">
                <a16:creationId xmlns:a16="http://schemas.microsoft.com/office/drawing/2014/main" id="{EA6FC6EC-5248-85B5-7BFF-DE704E07C056}"/>
              </a:ext>
            </a:extLst>
          </p:cNvPr>
          <p:cNvSpPr/>
          <p:nvPr/>
        </p:nvSpPr>
        <p:spPr>
          <a:xfrm>
            <a:off x="7376160" y="1828800"/>
            <a:ext cx="35356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67" b="1">
                <a:solidFill>
                  <a:srgbClr val="0D9488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Ejemplo de Chain of Thoughts</a:t>
            </a:r>
            <a:endParaRPr lang="en-US" sz="2267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BCEC472-63DF-D7A3-2B77-EA9842B2115C}"/>
              </a:ext>
            </a:extLst>
          </p:cNvPr>
          <p:cNvSpPr/>
          <p:nvPr/>
        </p:nvSpPr>
        <p:spPr>
          <a:xfrm>
            <a:off x="6705600" y="2560320"/>
            <a:ext cx="4145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067"/>
              </a:spcAft>
              <a:buSzPct val="100000"/>
            </a:pP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"Tengo 3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proveedores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con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distintos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precios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y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plazos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.</a:t>
            </a:r>
            <a:endParaRPr lang="en-US" sz="1733" i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spcAft>
                <a:spcPts val="1067"/>
              </a:spcAft>
              <a:buSzPct val="100000"/>
            </a:pP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Antes de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recomendar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uno,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piensa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paso a paso:</a:t>
            </a:r>
            <a:endParaRPr lang="en-US" sz="1733" i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spcAft>
                <a:spcPts val="1067"/>
              </a:spcAft>
              <a:buSzPct val="100000"/>
            </a:pP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1)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compara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coste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2)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valora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plazo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3)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evalúa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riesgo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.</a:t>
            </a:r>
            <a:endParaRPr lang="en-US" sz="1733" i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spcAft>
                <a:spcPts val="1067"/>
              </a:spcAft>
              <a:buSzPct val="100000"/>
            </a:pP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Después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justifica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tu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</a:t>
            </a:r>
            <a:r>
              <a:rPr lang="en-US" sz="1733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elección</a:t>
            </a:r>
            <a:r>
              <a:rPr lang="en-US" sz="1733" i="1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final."</a:t>
            </a:r>
            <a:endParaRPr lang="en-US" sz="1733" i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3F67F1D3-B21C-9AD0-EA8A-E1A7906179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E0FA534A-E8C7-BBFC-9D48-52C5610E83C9}"/>
              </a:ext>
            </a:extLst>
          </p:cNvPr>
          <p:cNvSpPr txBox="1">
            <a:spLocks/>
          </p:cNvSpPr>
          <p:nvPr/>
        </p:nvSpPr>
        <p:spPr>
          <a:xfrm>
            <a:off x="588262" y="585216"/>
            <a:ext cx="8193024" cy="553998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Chain of Thoughts</a:t>
            </a:r>
            <a:endParaRPr lang="en-US" sz="3600"/>
          </a:p>
        </p:txBody>
      </p:sp>
    </p:spTree>
    <p:extLst>
      <p:ext uri="{BB962C8B-B14F-4D97-AF65-F5344CB8AC3E}">
        <p14:creationId xmlns:p14="http://schemas.microsoft.com/office/powerpoint/2010/main" val="42443948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mparisonTable"/>
          <p:cNvGraphicFramePr>
            <a:graphicFrameLocks noGrp="1"/>
          </p:cNvGraphicFramePr>
          <p:nvPr/>
        </p:nvGraphicFramePr>
        <p:xfrm>
          <a:off x="975360" y="1584960"/>
          <a:ext cx="10241280" cy="426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algn="l"/>
                      <a:r>
                        <a:rPr lang="es-ES" sz="18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Aspecto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20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Superprompts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20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Chain of Thoughts</a:t>
                      </a:r>
                    </a:p>
                  </a:txBody>
                  <a:tcPr anchor="ctr"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Enfoque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Instrucciones densas en un solo mensaje.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Razonamiento explícito paso a paso.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Objetivo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Maximizar precisión del resultado final.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Mejorar la calidad del razonamiento.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Ideal para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Creación de contenido y tareas estructuradas.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Lógica, matemáticas y toma de decisiones.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Ventaja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Respuesta completa al primer intento.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Respuestas más fiables y auditables.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3F67F1D3-B21C-9AD0-EA8A-E1A790617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E0FA534A-E8C7-BBFC-9D48-52C5610E83C9}"/>
              </a:ext>
            </a:extLst>
          </p:cNvPr>
          <p:cNvSpPr txBox="1">
            <a:spLocks/>
          </p:cNvSpPr>
          <p:nvPr/>
        </p:nvSpPr>
        <p:spPr>
          <a:xfrm>
            <a:off x="588262" y="585216"/>
            <a:ext cx="8193024" cy="553998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Superprompts vs. Chain of Thoughts</a:t>
            </a:r>
            <a:endParaRPr lang="en-US" sz="3600"/>
          </a:p>
        </p:txBody>
      </p:sp>
      <p:sp>
        <p:nvSpPr>
          <p:cNvPr id="99" name="Footer"/>
          <p:cNvSpPr txBox="1"/>
          <p:nvPr/>
        </p:nvSpPr>
        <p:spPr>
          <a:xfrm>
            <a:off x="588262" y="6096000"/>
            <a:ext cx="1101547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s-ES" sz="1200" i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Existen más técnicas de prompting: Few-shot, Zero-shot, Role Prompting, Self-Consistency, Tree of Thoughts, ReAct, entre otras.</a:t>
            </a:r>
          </a:p>
        </p:txBody>
      </p:sp>
    </p:spTree>
    <p:extLst>
      <p:ext uri="{BB962C8B-B14F-4D97-AF65-F5344CB8AC3E}">
        <p14:creationId xmlns:p14="http://schemas.microsoft.com/office/powerpoint/2010/main" val="42443948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0C34DD-B926-3A6F-456E-6DD8AACC8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AD0BCD12-EBBD-6D21-6F97-44E5C8F62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D824FCE-61F1-2836-B8AB-41956DDB76C0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Creación de </a:t>
            </a:r>
            <a:r>
              <a:rPr lang="es-ES" sz="3200" b="1" i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prompts</a:t>
            </a:r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efectivos con el marco RCTF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4FBE873-0321-7B28-3892-3CA75B8F8DA2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B8F765C8-D969-6170-E435-ED668667E149}"/>
              </a:ext>
            </a:extLst>
          </p:cNvPr>
          <p:cNvSpPr/>
          <p:nvPr/>
        </p:nvSpPr>
        <p:spPr>
          <a:xfrm>
            <a:off x="1463040" y="1950720"/>
            <a:ext cx="975360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La calidad de las respuestas de una IA generativa depende directamente de la calidad de las instrucciones que recibe. Un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vago produce resultados genéricos; un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estructurado produce resultados utilizables.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Tiempo estimado: 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20 minutos</a:t>
            </a:r>
          </a:p>
          <a:p>
            <a:pPr>
              <a:spcAft>
                <a:spcPts val="1600"/>
              </a:spcAft>
            </a:pPr>
            <a:endParaRPr lang="es-ES" sz="2000" dirty="0">
              <a:solidFill>
                <a:srgbClr val="334155"/>
              </a:solidFill>
              <a:latin typeface="Segoe UI Semibold" panose="020B0702040204020203" pitchFamily="34" charset="0"/>
              <a:ea typeface="Segoe UI" pitchFamily="34" charset="-122"/>
              <a:cs typeface="Segoe UI Semibold" panose="020B0702040204020203" pitchFamily="34" charset="0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Creación de </a:t>
            </a:r>
            <a:r>
              <a:rPr lang="es-ES" sz="2000" dirty="0" err="1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prompts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 efectivos con el marco RCTF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 </a:t>
            </a: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BF886C7B-47C4-CF69-E8CD-57A92B6FA2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5617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D9997F-0931-C2D3-7A52-6DB110F82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9E3C7175-B9F8-5592-E9D3-F84BE78B7F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48BCE0-DEEE-A8DB-CDE2-7D7528760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AF82062-C324-AF14-CF68-A7AE422C12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F0940F9F-3D1B-6936-647D-34081FC554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5CF8108A-27CB-6B90-7AAD-D7421755A6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5AC437D0-6A88-D942-53CA-33B27A07BF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DEA6F6B6-40CF-7DB8-97B1-34778ED854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F2230BFD-6753-B640-7F66-417EB6A2E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56EC3E84-B5BC-C55C-1A21-7250462181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3E6A744E-7343-71E2-76E6-E1EB576D3E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6F0349AD-E937-C97C-D572-CD921E7D77F9}"/>
              </a:ext>
            </a:extLst>
          </p:cNvPr>
          <p:cNvSpPr txBox="1">
            <a:spLocks/>
          </p:cNvSpPr>
          <p:nvPr/>
        </p:nvSpPr>
        <p:spPr>
          <a:xfrm>
            <a:off x="3102552" y="224178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Multimodalidad en M365 </a:t>
            </a:r>
            <a:r>
              <a:rPr lang="es-ES" sz="5400" spc="300" dirty="0" err="1">
                <a:solidFill>
                  <a:prstClr val="black"/>
                </a:solidFill>
                <a:latin typeface="Aptos Display" panose="02110004020202020204"/>
              </a:rPr>
              <a:t>Copilot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4960297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Multimodalidad</a:t>
            </a:r>
            <a:r>
              <a:rPr lang="en-US" sz="3467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467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467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IA</a:t>
            </a:r>
            <a:endParaRPr lang="en-US" sz="3467" dirty="0"/>
          </a:p>
        </p:txBody>
      </p:sp>
      <p:sp>
        <p:nvSpPr>
          <p:cNvPr id="200" name="Subtitle"/>
          <p:cNvSpPr/>
          <p:nvPr/>
        </p:nvSpPr>
        <p:spPr>
          <a:xfrm>
            <a:off x="975360" y="1393408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 dirty="0">
                <a:latin typeface="Segoe UI" panose="020B0502040204020203" pitchFamily="34" charset="0"/>
                <a:cs typeface="Segoe UI" panose="020B0502040204020203" pitchFamily="34" charset="0"/>
              </a:rPr>
              <a:t>Capacidad de la IA para procesar y generar múltiples tipos de contenido — texto, imágenes, audio y video — de forma conjunta.</a:t>
            </a:r>
          </a:p>
        </p:txBody>
      </p:sp>
      <p:sp>
        <p:nvSpPr>
          <p:cNvPr id="3" name="Shape 1"/>
          <p:cNvSpPr/>
          <p:nvPr/>
        </p:nvSpPr>
        <p:spPr>
          <a:xfrm>
            <a:off x="975360" y="2178208"/>
            <a:ext cx="3169920" cy="368808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4" name="Shape 2"/>
          <p:cNvSpPr/>
          <p:nvPr/>
        </p:nvSpPr>
        <p:spPr>
          <a:xfrm>
            <a:off x="975360" y="2178208"/>
            <a:ext cx="3169920" cy="7315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604928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41120" y="3275488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Texto</a:t>
            </a:r>
            <a:endParaRPr lang="en-US" sz="2133" dirty="0"/>
          </a:p>
        </p:txBody>
      </p:sp>
      <p:sp>
        <p:nvSpPr>
          <p:cNvPr id="7" name="Text 4"/>
          <p:cNvSpPr/>
          <p:nvPr/>
        </p:nvSpPr>
        <p:spPr>
          <a:xfrm>
            <a:off x="1341120" y="3570321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Artículos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emails,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informes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traducciones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adaptaciones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tono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automáticas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con IA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generativa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11040" y="2178208"/>
            <a:ext cx="3169920" cy="368808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9" name="Shape 6"/>
          <p:cNvSpPr/>
          <p:nvPr/>
        </p:nvSpPr>
        <p:spPr>
          <a:xfrm>
            <a:off x="4511040" y="2178208"/>
            <a:ext cx="3169920" cy="731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2604928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876800" y="3275488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Imágenes</a:t>
            </a:r>
            <a:r>
              <a:rPr lang="en-US" sz="2133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y video</a:t>
            </a:r>
            <a:endParaRPr lang="en-US" sz="2133" dirty="0"/>
          </a:p>
        </p:txBody>
      </p:sp>
      <p:sp>
        <p:nvSpPr>
          <p:cNvPr id="12" name="Text 8"/>
          <p:cNvSpPr/>
          <p:nvPr/>
        </p:nvSpPr>
        <p:spPr>
          <a:xfrm>
            <a:off x="4876800" y="3570321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Generación de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imágenes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desde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texto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con Microsoft Designer y Create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Copilot Chat.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variaciones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automáticas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046720" y="2178208"/>
            <a:ext cx="3169920" cy="368808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14" name="Shape 10"/>
          <p:cNvSpPr/>
          <p:nvPr/>
        </p:nvSpPr>
        <p:spPr>
          <a:xfrm>
            <a:off x="8046720" y="2178208"/>
            <a:ext cx="316992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604928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12480" y="3275488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Voz y audio</a:t>
            </a:r>
            <a:endParaRPr lang="en-US" sz="2133" dirty="0"/>
          </a:p>
        </p:txBody>
      </p:sp>
      <p:sp>
        <p:nvSpPr>
          <p:cNvPr id="17" name="Text 12"/>
          <p:cNvSpPr/>
          <p:nvPr/>
        </p:nvSpPr>
        <p:spPr>
          <a:xfrm>
            <a:off x="8412480" y="3570321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Transcripción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160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reuniones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audio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sintético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traducción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simultánea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asistentes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voz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600" dirty="0"/>
          </a:p>
        </p:txBody>
      </p:sp>
      <p:pic>
        <p:nvPicPr>
          <p:cNvPr id="18" name="Image 0" descr="preencoded.png">
            <a:extLst>
              <a:ext uri="{FF2B5EF4-FFF2-40B4-BE49-F238E27FC236}">
                <a16:creationId xmlns:a16="http://schemas.microsoft.com/office/drawing/2014/main" id="{F8B61EA2-7F67-464A-6944-BD18E26286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467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Create en Copilot Chat</a:t>
            </a:r>
            <a:endParaRPr lang="es-ES" sz="3467"/>
          </a:p>
        </p:txBody>
      </p:sp>
      <p:sp>
        <p:nvSpPr>
          <p:cNvPr id="200" name="Subtitle"/>
          <p:cNvSpPr/>
          <p:nvPr/>
        </p:nvSpPr>
        <p:spPr>
          <a:xfrm>
            <a:off x="975360" y="1393408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De la idea al contenido: genera documentos, presentaciones, imágenes y más directamente desde el chat.</a:t>
            </a:r>
          </a:p>
        </p:txBody>
      </p:sp>
      <p:pic>
        <p:nvPicPr>
          <p:cNvPr id="18" name="Top Bar" descr="gradient b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p Bar BG">
            <a:extLst>
              <a:ext uri="{FF2B5EF4-FFF2-40B4-BE49-F238E27FC236}">
                <a16:creationId xmlns:a16="http://schemas.microsoft.com/office/drawing/2014/main" id="{5819C8F6-E0E4-13E4-A916-D57626A705E8}"/>
              </a:ext>
            </a:extLst>
          </p:cNvPr>
          <p:cNvSpPr/>
          <p:nvPr/>
        </p:nvSpPr>
        <p:spPr>
          <a:xfrm>
            <a:off x="975360" y="6100000"/>
            <a:ext cx="10241280" cy="480000"/>
          </a:xfrm>
          <a:prstGeom prst="roundRect">
            <a:avLst>
              <a:gd name="adj" fmla="val 16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76200" dist="19050" dir="5400000" algn="b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4" name="Tip Icon">
            <a:extLst>
              <a:ext uri="{FF2B5EF4-FFF2-40B4-BE49-F238E27FC236}">
                <a16:creationId xmlns:a16="http://schemas.microsoft.com/office/drawing/2014/main" id="{DC7F1546-D72B-208C-6D4A-A9DE8611C254}"/>
              </a:ext>
            </a:extLst>
          </p:cNvPr>
          <p:cNvSpPr/>
          <p:nvPr/>
        </p:nvSpPr>
        <p:spPr>
          <a:xfrm>
            <a:off x="1135360" y="6170000"/>
            <a:ext cx="340000" cy="34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Segoe UI" pitchFamily="34" charset="0"/>
              </a:rPr>
              <a:t>i</a:t>
            </a:r>
          </a:p>
        </p:txBody>
      </p:sp>
      <p:sp>
        <p:nvSpPr>
          <p:cNvPr id="5" name="Tip Text">
            <a:extLst>
              <a:ext uri="{FF2B5EF4-FFF2-40B4-BE49-F238E27FC236}">
                <a16:creationId xmlns:a16="http://schemas.microsoft.com/office/drawing/2014/main" id="{B8FA3EF2-FC17-D5C8-F61A-6F6E0ADE208A}"/>
              </a:ext>
            </a:extLst>
          </p:cNvPr>
          <p:cNvSpPr/>
          <p:nvPr/>
        </p:nvSpPr>
        <p:spPr>
          <a:xfrm>
            <a:off x="1620000" y="6100000"/>
            <a:ext cx="939664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b="1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Consejo</a:t>
            </a:r>
            <a:r>
              <a:rPr lang="es-ES" sz="120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—  Sé detallado en tus descripciones: incluye estilo, colores, composición y contexto. Itera generando varias versiones para refinar el resultado.</a:t>
            </a:r>
            <a:endParaRPr lang="es-ES" sz="12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9A04F1-8C27-43CF-E199-43C54ABA74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0168" y="1977488"/>
            <a:ext cx="7894572" cy="375538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04EE8B-BF6A-E34C-80A4-200B1062E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3B439AE0-A2A1-6F13-075D-E35DEF9F1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6B8BD6C-FB27-1190-B9B6-E2E8D8D1739D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Crea contenido multimedia con “Create” en Microsoft 365 Copilot Chat  </a:t>
            </a:r>
            <a:endParaRPr lang="es-ES" sz="3200" b="0" i="0" strike="noStrike" cap="none" baseline="0" dirty="0">
              <a:solidFill>
                <a:srgbClr val="1E293B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999" name="Content Card"/>
          <p:cNvSpPr/>
          <p:nvPr/>
        </p:nvSpPr>
        <p:spPr>
          <a:xfrm>
            <a:off x="915360" y="1524960"/>
            <a:ext cx="10361280" cy="47529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>
            <a:outerShdw blurRad="63500" dist="12700" dir="5400000" algn="t" rotWithShape="0">
              <a:srgbClr val="1E293B">
                <a:alpha val="6000"/>
              </a:srgbClr>
            </a:outerShdw>
          </a:effectLst>
        </p:spPr>
        <p:txBody>
          <a:bodyPr wrap="square" rtlCol="0" anchor="ctr"/>
          <a:lstStyle/>
          <a:p>
            <a:endParaRPr lang="es-ES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26408FF-F650-498F-D055-B2EA87E478E8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A22EAFA-B696-D460-1BCD-F444A3E9B41E}"/>
              </a:ext>
            </a:extLst>
          </p:cNvPr>
          <p:cNvSpPr/>
          <p:nvPr/>
        </p:nvSpPr>
        <p:spPr>
          <a:xfrm>
            <a:off x="1463040" y="1950720"/>
            <a:ext cx="975360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 dirty="0"/>
              <a:t>Imagina que trabajas en una consultora tecnológica y necesitas generar rápidamente contenido visual y narrativo para campañas internas y clientes. Usarás </a:t>
            </a:r>
            <a:r>
              <a:rPr lang="es-ES" sz="2000" b="1" dirty="0" err="1"/>
              <a:t>Create</a:t>
            </a:r>
            <a:r>
              <a:rPr lang="es-ES" sz="2000" dirty="0"/>
              <a:t> para diseñar imágenes, vídeos, historias y materiales visuales listos para usar.</a:t>
            </a:r>
          </a:p>
          <a:p>
            <a:pPr defTabSz="914367">
              <a:spcBef>
                <a:spcPct val="0"/>
              </a:spcBef>
              <a:buSzTx/>
              <a:defRPr/>
            </a:pPr>
            <a:endParaRPr lang="en-US" sz="2000" dirty="0"/>
          </a:p>
          <a:p>
            <a:pPr defTabSz="914367">
              <a:spcBef>
                <a:spcPct val="0"/>
              </a:spcBef>
              <a:defRPr/>
            </a:pPr>
            <a:r>
              <a:rPr lang="es-ES" sz="2000" b="1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Tiempo estimado</a:t>
            </a: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: 30 minutos</a:t>
            </a:r>
          </a:p>
          <a:p>
            <a:pPr defTabSz="914367">
              <a:spcBef>
                <a:spcPct val="0"/>
              </a:spcBef>
              <a:defRPr/>
            </a:pPr>
            <a:endParaRPr lang="es-ES" sz="20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 lvl="0">
              <a:defRPr/>
            </a:pPr>
            <a:r>
              <a:rPr lang="it-IT" sz="2000" dirty="0">
                <a:solidFill>
                  <a:srgbClr val="1E293B"/>
                </a:solidFill>
                <a:latin typeface="Segoe UI"/>
                <a:ea typeface="Segoe UI"/>
                <a:cs typeface="Segoe UI"/>
                <a:hlinkClick r:id="rId5"/>
              </a:rPr>
              <a:t>Crea contenido multimedia con “Create” en Microsoft 365 Copilot Chat</a:t>
            </a: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</a:t>
            </a:r>
            <a:endParaRPr lang="en-US" sz="2000" dirty="0">
              <a:solidFill>
                <a:srgbClr val="1E293B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9893751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6FA5B4C3-8727-EBB1-41CC-661AAF12040F}"/>
              </a:ext>
            </a:extLst>
          </p:cNvPr>
          <p:cNvSpPr txBox="1">
            <a:spLocks/>
          </p:cNvSpPr>
          <p:nvPr/>
        </p:nvSpPr>
        <p:spPr>
          <a:xfrm>
            <a:off x="588263" y="585216"/>
            <a:ext cx="10430257" cy="307777"/>
          </a:xfrm>
          <a:prstGeom prst="rect">
            <a:avLst/>
          </a:prstGeom>
          <a:noFill/>
          <a:ln>
            <a:noFill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32742">
              <a:lnSpc>
                <a:spcPct val="100000"/>
              </a:lnSpc>
              <a:spcAft>
                <a:spcPts val="600"/>
              </a:spcAft>
              <a:defRPr/>
            </a:pPr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Copilot Voice</a:t>
            </a:r>
            <a:endParaRPr lang="es-ES" sz="3600" dirty="0">
              <a:solidFill>
                <a:srgbClr val="1E293B"/>
              </a:solidFill>
              <a:latin typeface="Segoe UI Semibold"/>
              <a:ea typeface="Segoe UI Semibold"/>
              <a:cs typeface="Segoe UI Semibold"/>
            </a:endParaRPr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8DED099D-938E-084C-1188-EEE6E4EA7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pic>
        <p:nvPicPr>
          <p:cNvPr id="4" name="Online Media 18" title="Voice in Microsoft 365 Copilot: A more productive way to work on the go">
            <a:hlinkClick r:id="" action="ppaction://media"/>
            <a:extLst>
              <a:ext uri="{FF2B5EF4-FFF2-40B4-BE49-F238E27FC236}">
                <a16:creationId xmlns:a16="http://schemas.microsoft.com/office/drawing/2014/main" id="{CFFF8E7A-9633-505C-3FEB-38F8EB8987F8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2106621" y="1290277"/>
            <a:ext cx="7978758" cy="4508010"/>
          </a:xfrm>
          <a:prstGeom prst="rect">
            <a:avLst/>
          </a:prstGeom>
        </p:spPr>
      </p:pic>
      <p:sp>
        <p:nvSpPr>
          <p:cNvPr id="5" name="SecurityNote">
            <a:extLst>
              <a:ext uri="{FF2B5EF4-FFF2-40B4-BE49-F238E27FC236}">
                <a16:creationId xmlns:a16="http://schemas.microsoft.com/office/drawing/2014/main" id="{E5F2CE83-21CD-2BAA-7562-744ECE50EFDD}"/>
              </a:ext>
            </a:extLst>
          </p:cNvPr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todas estas capacidades requieren licencia Microsoft 365 </a:t>
            </a:r>
            <a:r>
              <a:rPr lang="es-ES" sz="1400" dirty="0" err="1">
                <a:solidFill>
                  <a:srgbClr val="92400E"/>
                </a:solidFill>
                <a:latin typeface="Segoe UI"/>
                <a:cs typeface="Segoe UI"/>
              </a:rPr>
              <a:t>Copilot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 y respetan los permisos existentes de cada usuario en Microsoft Graph.</a:t>
            </a:r>
          </a:p>
        </p:txBody>
      </p:sp>
    </p:spTree>
    <p:extLst>
      <p:ext uri="{BB962C8B-B14F-4D97-AF65-F5344CB8AC3E}">
        <p14:creationId xmlns:p14="http://schemas.microsoft.com/office/powerpoint/2010/main" val="1897527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467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Configura tus kits de marca en Create</a:t>
            </a:r>
            <a:endParaRPr lang="es-ES" sz="3467"/>
          </a:p>
        </p:txBody>
      </p:sp>
      <p:sp>
        <p:nvSpPr>
          <p:cNvPr id="200" name="Subtitle"/>
          <p:cNvSpPr/>
          <p:nvPr/>
        </p:nvSpPr>
        <p:spPr>
          <a:xfrm>
            <a:off x="975360" y="1393408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Aplica colores, tipografías y logotipos de tu marca a todo lo que generes en Copilot Chat en seis pasos.</a:t>
            </a:r>
          </a:p>
        </p:txBody>
      </p:sp>
      <p:pic>
        <p:nvPicPr>
          <p:cNvPr id="18" name="Top Bar" descr="gradient b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6" name="SecurityNote">
            <a:extLst>
              <a:ext uri="{FF2B5EF4-FFF2-40B4-BE49-F238E27FC236}">
                <a16:creationId xmlns:a16="http://schemas.microsoft.com/office/drawing/2014/main" id="{A19C4CD7-7DA4-88F6-5311-2E4CCFC96A74}"/>
              </a:ext>
            </a:extLst>
          </p:cNvPr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todas estas capacidades requieren licencia Microsoft 365 </a:t>
            </a:r>
            <a:r>
              <a:rPr lang="es-ES" sz="1400" dirty="0" err="1">
                <a:solidFill>
                  <a:srgbClr val="92400E"/>
                </a:solidFill>
                <a:latin typeface="Segoe UI"/>
                <a:cs typeface="Segoe UI"/>
              </a:rPr>
              <a:t>Copilot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 y respetan los permisos existentes de cada usuario en Microsoft Graph.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E80BAE-F14D-0319-80D4-A6871C91C6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0180" y="1962220"/>
            <a:ext cx="3916513" cy="308209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BDBF0A-38DE-D801-72C1-9C2EE45A5F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9364" y="3227208"/>
            <a:ext cx="3526068" cy="241033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1" name="BenefitsList"/>
          <p:cNvSpPr/>
          <p:nvPr/>
        </p:nvSpPr>
        <p:spPr>
          <a:xfrm>
            <a:off x="859613" y="2185847"/>
            <a:ext cx="5500000" cy="35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85750" indent="-285750">
              <a:spcBef>
                <a:spcPts val="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Consistencia de marca garantizada.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Colores, tipografías y logotipos se aplican automáticamente a cada documento, imagen o presentación.</a:t>
            </a:r>
          </a:p>
          <a:p>
            <a:pPr marL="285750" indent="-285750">
              <a:spcBef>
                <a:spcPts val="20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Ahorro de tiempo y costes de diseño.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Reduce ciclos de revisión y acelera la salida al mercado de campañas y materiales internos.</a:t>
            </a:r>
          </a:p>
          <a:p>
            <a:pPr marL="285750" indent="-285750">
              <a:spcBef>
                <a:spcPts val="20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Escala a toda la organización.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Cada empleado produce contenido alineado a la marca sin depender del equipo creativo.</a:t>
            </a:r>
          </a:p>
          <a:p>
            <a:pPr marL="285750" indent="-285750">
              <a:spcBef>
                <a:spcPts val="20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Gobierno centralizado de la identidad visual.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Define y actualiza los activos de marca una sola vez para que se reflejen en toda la empresa.</a:t>
            </a:r>
          </a:p>
          <a:p>
            <a:pPr marL="285750" indent="-285750">
              <a:spcBef>
                <a:spcPts val="200"/>
              </a:spcBef>
              <a:spcAft>
                <a:spcPts val="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Comunicación más profesional y confiable.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Refuerza la percepción de marca con materiales internos y externos siempre coherentes.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/>
          <p:nvPr/>
        </p:nvSpPr>
        <p:spPr>
          <a:xfrm>
            <a:off x="762000" y="418934"/>
            <a:ext cx="96316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en aplicaciones de Microsoft 365</a:t>
            </a:r>
          </a:p>
        </p:txBody>
      </p:sp>
      <p:sp>
        <p:nvSpPr>
          <p:cNvPr id="10" name="Card1BG"/>
          <p:cNvSpPr/>
          <p:nvPr/>
        </p:nvSpPr>
        <p:spPr>
          <a:xfrm>
            <a:off x="609600" y="1466667"/>
            <a:ext cx="2133600" cy="38081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11" name="Card1Icon"/>
          <p:cNvSpPr/>
          <p:nvPr/>
        </p:nvSpPr>
        <p:spPr>
          <a:xfrm>
            <a:off x="1371600" y="1733333"/>
            <a:ext cx="609600" cy="609600"/>
          </a:xfrm>
          <a:prstGeom prst="ellipse">
            <a:avLst/>
          </a:prstGeom>
          <a:solidFill>
            <a:srgbClr val="2B579A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667" b="1">
                <a:solidFill>
                  <a:srgbClr val="FFFFFF"/>
                </a:solidFill>
                <a:latin typeface="Segoe UI Semibold" panose="020B0702040204020203" pitchFamily="34" charset="0"/>
              </a:rPr>
              <a:t>W</a:t>
            </a:r>
          </a:p>
        </p:txBody>
      </p:sp>
      <p:sp>
        <p:nvSpPr>
          <p:cNvPr id="12" name="Card1Title"/>
          <p:cNvSpPr/>
          <p:nvPr/>
        </p:nvSpPr>
        <p:spPr>
          <a:xfrm>
            <a:off x="731520" y="2466667"/>
            <a:ext cx="1889760" cy="4876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867" b="1">
                <a:solidFill>
                  <a:srgbClr val="1E293B"/>
                </a:solidFill>
                <a:latin typeface="Segoe UI Semibold" panose="020B0702040204020203" pitchFamily="34" charset="0"/>
              </a:rPr>
              <a:t>Word</a:t>
            </a:r>
          </a:p>
        </p:txBody>
      </p:sp>
      <p:sp>
        <p:nvSpPr>
          <p:cNvPr id="13" name="Card1Text"/>
          <p:cNvSpPr/>
          <p:nvPr/>
        </p:nvSpPr>
        <p:spPr>
          <a:xfrm>
            <a:off x="731520" y="3066667"/>
            <a:ext cx="1889760" cy="2933333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467">
                <a:solidFill>
                  <a:srgbClr val="334155"/>
                </a:solidFill>
                <a:latin typeface="Segoe UI" pitchFamily="34" charset="0"/>
              </a:rPr>
              <a:t>Genera borradores, resume documentos largos y reescribe secciones con diferente tono o estilo.</a:t>
            </a:r>
          </a:p>
        </p:txBody>
      </p:sp>
      <p:sp>
        <p:nvSpPr>
          <p:cNvPr id="20" name="Card2BG"/>
          <p:cNvSpPr/>
          <p:nvPr/>
        </p:nvSpPr>
        <p:spPr>
          <a:xfrm>
            <a:off x="2865120" y="1466667"/>
            <a:ext cx="2133600" cy="38081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21" name="Card2Icon"/>
          <p:cNvSpPr/>
          <p:nvPr/>
        </p:nvSpPr>
        <p:spPr>
          <a:xfrm>
            <a:off x="3627120" y="1733333"/>
            <a:ext cx="609600" cy="609600"/>
          </a:xfrm>
          <a:prstGeom prst="ellipse">
            <a:avLst/>
          </a:prstGeom>
          <a:solidFill>
            <a:srgbClr val="217346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667" b="1">
                <a:solidFill>
                  <a:srgbClr val="FFFFFF"/>
                </a:solidFill>
                <a:latin typeface="Segoe UI Semibold" panose="020B0702040204020203" pitchFamily="34" charset="0"/>
              </a:rPr>
              <a:t>X</a:t>
            </a:r>
          </a:p>
        </p:txBody>
      </p:sp>
      <p:sp>
        <p:nvSpPr>
          <p:cNvPr id="22" name="Card2Title"/>
          <p:cNvSpPr/>
          <p:nvPr/>
        </p:nvSpPr>
        <p:spPr>
          <a:xfrm>
            <a:off x="2987040" y="2466667"/>
            <a:ext cx="1889760" cy="4876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867" b="1">
                <a:solidFill>
                  <a:srgbClr val="1E293B"/>
                </a:solidFill>
                <a:latin typeface="Segoe UI Semibold" panose="020B0702040204020203" pitchFamily="34" charset="0"/>
              </a:rPr>
              <a:t>Excel</a:t>
            </a:r>
          </a:p>
        </p:txBody>
      </p:sp>
      <p:sp>
        <p:nvSpPr>
          <p:cNvPr id="23" name="Card2Text"/>
          <p:cNvSpPr/>
          <p:nvPr/>
        </p:nvSpPr>
        <p:spPr>
          <a:xfrm>
            <a:off x="2987040" y="3066667"/>
            <a:ext cx="1889760" cy="2933333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467">
                <a:solidFill>
                  <a:srgbClr val="334155"/>
                </a:solidFill>
                <a:latin typeface="Segoe UI" pitchFamily="34" charset="0"/>
              </a:rPr>
              <a:t>Analiza datos con lenguaje natural, crea fórmulas y genera gráficos y tablas dinámicas automáticamente.</a:t>
            </a:r>
          </a:p>
        </p:txBody>
      </p:sp>
      <p:sp>
        <p:nvSpPr>
          <p:cNvPr id="30" name="Card3BG"/>
          <p:cNvSpPr/>
          <p:nvPr/>
        </p:nvSpPr>
        <p:spPr>
          <a:xfrm>
            <a:off x="5120640" y="1466667"/>
            <a:ext cx="2133600" cy="38081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31" name="Card3Icon"/>
          <p:cNvSpPr/>
          <p:nvPr/>
        </p:nvSpPr>
        <p:spPr>
          <a:xfrm>
            <a:off x="5882640" y="1733333"/>
            <a:ext cx="609600" cy="609600"/>
          </a:xfrm>
          <a:prstGeom prst="ellipse">
            <a:avLst/>
          </a:prstGeom>
          <a:solidFill>
            <a:srgbClr val="D24726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667" b="1">
                <a:solidFill>
                  <a:srgbClr val="FFFFFF"/>
                </a:solidFill>
                <a:latin typeface="Segoe UI Semibold" panose="020B0702040204020203" pitchFamily="34" charset="0"/>
              </a:rPr>
              <a:t>P</a:t>
            </a:r>
          </a:p>
        </p:txBody>
      </p:sp>
      <p:sp>
        <p:nvSpPr>
          <p:cNvPr id="32" name="Card3Title"/>
          <p:cNvSpPr/>
          <p:nvPr/>
        </p:nvSpPr>
        <p:spPr>
          <a:xfrm>
            <a:off x="5242560" y="2466667"/>
            <a:ext cx="1889760" cy="4876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867" b="1">
                <a:solidFill>
                  <a:srgbClr val="1E293B"/>
                </a:solidFill>
                <a:latin typeface="Segoe UI Semibold" panose="020B0702040204020203" pitchFamily="34" charset="0"/>
              </a:rPr>
              <a:t>PowerPoint</a:t>
            </a:r>
          </a:p>
        </p:txBody>
      </p:sp>
      <p:sp>
        <p:nvSpPr>
          <p:cNvPr id="33" name="Card3Text"/>
          <p:cNvSpPr/>
          <p:nvPr/>
        </p:nvSpPr>
        <p:spPr>
          <a:xfrm>
            <a:off x="5242560" y="3066667"/>
            <a:ext cx="1889760" cy="2933333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467">
                <a:solidFill>
                  <a:srgbClr val="334155"/>
                </a:solidFill>
                <a:latin typeface="Segoe UI" pitchFamily="34" charset="0"/>
              </a:rPr>
              <a:t>Crea presentaciones desde un tema o documento, reorganiza contenido y convierte texto en elementos visuales.</a:t>
            </a:r>
          </a:p>
        </p:txBody>
      </p:sp>
      <p:sp>
        <p:nvSpPr>
          <p:cNvPr id="40" name="Card4BG"/>
          <p:cNvSpPr/>
          <p:nvPr/>
        </p:nvSpPr>
        <p:spPr>
          <a:xfrm>
            <a:off x="7376160" y="1466667"/>
            <a:ext cx="2133600" cy="38081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41" name="Card4Icon"/>
          <p:cNvSpPr/>
          <p:nvPr/>
        </p:nvSpPr>
        <p:spPr>
          <a:xfrm>
            <a:off x="8138160" y="1733333"/>
            <a:ext cx="609600" cy="609600"/>
          </a:xfrm>
          <a:prstGeom prst="ellipse">
            <a:avLst/>
          </a:prstGeom>
          <a:solidFill>
            <a:srgbClr val="3B82F6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667" b="1">
                <a:solidFill>
                  <a:srgbClr val="FFFFFF"/>
                </a:solidFill>
                <a:latin typeface="Segoe UI Semibold" panose="020B0702040204020203" pitchFamily="34" charset="0"/>
              </a:rPr>
              <a:t>O</a:t>
            </a:r>
          </a:p>
        </p:txBody>
      </p:sp>
      <p:sp>
        <p:nvSpPr>
          <p:cNvPr id="42" name="Card4Title"/>
          <p:cNvSpPr/>
          <p:nvPr/>
        </p:nvSpPr>
        <p:spPr>
          <a:xfrm>
            <a:off x="7498080" y="2466667"/>
            <a:ext cx="1889760" cy="4876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867" b="1">
                <a:solidFill>
                  <a:srgbClr val="1E293B"/>
                </a:solidFill>
                <a:latin typeface="Segoe UI Semibold" panose="020B0702040204020203" pitchFamily="34" charset="0"/>
              </a:rPr>
              <a:t>Outlook</a:t>
            </a:r>
          </a:p>
        </p:txBody>
      </p:sp>
      <p:sp>
        <p:nvSpPr>
          <p:cNvPr id="43" name="Card4Text"/>
          <p:cNvSpPr/>
          <p:nvPr/>
        </p:nvSpPr>
        <p:spPr>
          <a:xfrm>
            <a:off x="7498080" y="3066667"/>
            <a:ext cx="1889760" cy="2933333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467">
                <a:solidFill>
                  <a:srgbClr val="334155"/>
                </a:solidFill>
                <a:latin typeface="Segoe UI" pitchFamily="34" charset="0"/>
              </a:rPr>
              <a:t>Resume hilos de email, genera borradores con el tono adecuado y sugiere acciones como agendar reuniones.</a:t>
            </a:r>
          </a:p>
        </p:txBody>
      </p:sp>
      <p:sp>
        <p:nvSpPr>
          <p:cNvPr id="50" name="Card5BG"/>
          <p:cNvSpPr/>
          <p:nvPr/>
        </p:nvSpPr>
        <p:spPr>
          <a:xfrm>
            <a:off x="9631680" y="1466667"/>
            <a:ext cx="2133600" cy="38081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51" name="Card5Icon"/>
          <p:cNvSpPr/>
          <p:nvPr/>
        </p:nvSpPr>
        <p:spPr>
          <a:xfrm>
            <a:off x="10393680" y="1733333"/>
            <a:ext cx="609600" cy="609600"/>
          </a:xfrm>
          <a:prstGeom prst="ellipse">
            <a:avLst/>
          </a:prstGeom>
          <a:solidFill>
            <a:srgbClr val="6264A7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667" b="1">
                <a:solidFill>
                  <a:srgbClr val="FFFFFF"/>
                </a:solidFill>
                <a:latin typeface="Segoe UI Semibold" panose="020B0702040204020203" pitchFamily="34" charset="0"/>
              </a:rPr>
              <a:t>T</a:t>
            </a:r>
          </a:p>
        </p:txBody>
      </p:sp>
      <p:sp>
        <p:nvSpPr>
          <p:cNvPr id="52" name="Card5Title"/>
          <p:cNvSpPr/>
          <p:nvPr/>
        </p:nvSpPr>
        <p:spPr>
          <a:xfrm>
            <a:off x="9753600" y="2466667"/>
            <a:ext cx="1889760" cy="4876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867" b="1">
                <a:solidFill>
                  <a:srgbClr val="1E293B"/>
                </a:solidFill>
                <a:latin typeface="Segoe UI Semibold" panose="020B0702040204020203" pitchFamily="34" charset="0"/>
              </a:rPr>
              <a:t>Teams</a:t>
            </a:r>
          </a:p>
        </p:txBody>
      </p:sp>
      <p:sp>
        <p:nvSpPr>
          <p:cNvPr id="53" name="Card5Text"/>
          <p:cNvSpPr/>
          <p:nvPr/>
        </p:nvSpPr>
        <p:spPr>
          <a:xfrm>
            <a:off x="9753600" y="3066667"/>
            <a:ext cx="1889760" cy="2933333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467">
                <a:solidFill>
                  <a:srgbClr val="334155"/>
                </a:solidFill>
                <a:latin typeface="Segoe UI" pitchFamily="34" charset="0"/>
              </a:rPr>
              <a:t>Resume reuniones en tiempo real, genera actas automáticas y responde preguntas sobre lo discutido.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0872302-D9F3-6A8E-1C80-4C4FA146E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4" name="SecurityNote">
            <a:extLst>
              <a:ext uri="{FF2B5EF4-FFF2-40B4-BE49-F238E27FC236}">
                <a16:creationId xmlns:a16="http://schemas.microsoft.com/office/drawing/2014/main" id="{6D6F5C8E-0B42-C8E0-512B-E16ABAFB1D63}"/>
              </a:ext>
            </a:extLst>
          </p:cNvPr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todas estas capacidades requieren licencia Microsoft 365 </a:t>
            </a:r>
            <a:r>
              <a:rPr lang="es-ES" sz="1400" dirty="0" err="1">
                <a:solidFill>
                  <a:srgbClr val="92400E"/>
                </a:solidFill>
                <a:latin typeface="Segoe UI"/>
                <a:cs typeface="Segoe UI"/>
              </a:rPr>
              <a:t>Copilot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 y respetan los permisos existentes de cada usuario en Microsoft Graph.</a:t>
            </a:r>
          </a:p>
        </p:txBody>
      </p:sp>
    </p:spTree>
    <p:extLst>
      <p:ext uri="{BB962C8B-B14F-4D97-AF65-F5344CB8AC3E}">
        <p14:creationId xmlns:p14="http://schemas.microsoft.com/office/powerpoint/2010/main" val="4268619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0D89CD-66F9-A698-85B7-0D58EA9FB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080494CC-38D8-D873-3891-3B55A8EBC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7B7A525-96D5-5CD3-E7E6-EDD93531CB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4AB0244-D500-4384-3B2F-AD68E45D7A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B6339685-65F0-AB54-B7AF-6591A56DF1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6A112A5B-CB36-8E90-606E-3ACE8F3330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22A1CBC-E153-D09B-4607-C6653DB03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FF13F70-5370-D95B-A596-AB898A6808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EECE3B2-786B-F232-FEDE-064540A6A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F00CFE2F-2649-25AA-1B8D-EBC7C90BDC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7B0F1424-574A-CA94-B23C-E3B5556AF7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C5862504-9742-95F6-BA5A-27462780B168}"/>
              </a:ext>
            </a:extLst>
          </p:cNvPr>
          <p:cNvSpPr txBox="1">
            <a:spLocks/>
          </p:cNvSpPr>
          <p:nvPr/>
        </p:nvSpPr>
        <p:spPr>
          <a:xfrm>
            <a:off x="3102552" y="224178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Ética en el uso de la IA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16640628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Top Bar" descr="gradient b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2" name="Title"/>
          <p:cNvSpPr/>
          <p:nvPr/>
        </p:nvSpPr>
        <p:spPr>
          <a:xfrm>
            <a:off x="975360" y="548640"/>
            <a:ext cx="6800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3200" b="1" dirty="0">
                <a:solidFill>
                  <a:srgbClr val="1E293B"/>
                </a:solidFill>
                <a:latin typeface="Segoe UI Semibold"/>
                <a:cs typeface="Segoe UI Semibold"/>
              </a:rPr>
              <a:t>Por qué importa usar la IA generativa con criterio</a:t>
            </a:r>
          </a:p>
        </p:txBody>
      </p:sp>
      <p:sp>
        <p:nvSpPr>
          <p:cNvPr id="4" name="Lead"/>
          <p:cNvSpPr/>
          <p:nvPr/>
        </p:nvSpPr>
        <p:spPr>
          <a:xfrm>
            <a:off x="975360" y="1720000"/>
            <a:ext cx="6500000" cy="1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800" dirty="0">
                <a:solidFill>
                  <a:srgbClr val="334155"/>
                </a:solidFill>
                <a:latin typeface="Segoe UI"/>
                <a:cs typeface="Segoe UI"/>
              </a:rPr>
              <a:t>La IA generativa ya forma parte del día a día de millones de profesionales. Lo que hoy parece un atajo puede convertirse mañana en una decisión con consecuencias reales para </a:t>
            </a:r>
            <a:r>
              <a:rPr lang="es-ES" sz="1800" b="1" dirty="0">
                <a:solidFill>
                  <a:srgbClr val="1E293B"/>
                </a:solidFill>
                <a:latin typeface="Segoe UI Semibold"/>
                <a:cs typeface="Segoe UI Semibold"/>
              </a:rPr>
              <a:t>las personas, los datos y la propia organización</a:t>
            </a:r>
            <a:r>
              <a:rPr lang="es-ES" sz="1800" dirty="0">
                <a:solidFill>
                  <a:srgbClr val="334155"/>
                </a:solidFill>
                <a:latin typeface="Segoe UI"/>
                <a:cs typeface="Segoe UI"/>
              </a:rPr>
              <a:t>.</a:t>
            </a:r>
          </a:p>
        </p:txBody>
      </p:sp>
      <p:sp>
        <p:nvSpPr>
          <p:cNvPr id="5" name="Why1"/>
          <p:cNvSpPr/>
          <p:nvPr/>
        </p:nvSpPr>
        <p:spPr>
          <a:xfrm>
            <a:off x="975360" y="3400000"/>
            <a:ext cx="65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500" b="1">
                <a:solidFill>
                  <a:srgbClr val="6E2EBF"/>
                </a:solidFill>
                <a:latin typeface="Segoe UI Semibold"/>
                <a:cs typeface="Segoe UI Semibold"/>
              </a:rPr>
              <a:t>Afecta a personas reales.  </a:t>
            </a:r>
            <a:r>
              <a:rPr lang="es-ES" sz="1500">
                <a:solidFill>
                  <a:srgbClr val="334155"/>
                </a:solidFill>
                <a:latin typeface="Segoe UI"/>
                <a:cs typeface="Segoe UI"/>
              </a:rPr>
              <a:t>Detrás de cada respuesta hay clientes, compañeros y comunidades que pueden ser beneficiados — o perjudicados — por lo que generamos.</a:t>
            </a:r>
          </a:p>
        </p:txBody>
      </p:sp>
      <p:sp>
        <p:nvSpPr>
          <p:cNvPr id="6" name="Why2"/>
          <p:cNvSpPr/>
          <p:nvPr/>
        </p:nvSpPr>
        <p:spPr>
          <a:xfrm>
            <a:off x="975360" y="4350000"/>
            <a:ext cx="65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500" b="1">
                <a:solidFill>
                  <a:srgbClr val="0E7490"/>
                </a:solidFill>
                <a:latin typeface="Segoe UI Semibold"/>
                <a:cs typeface="Segoe UI Semibold"/>
              </a:rPr>
              <a:t>Construye o destruye confianza.  </a:t>
            </a:r>
            <a:r>
              <a:rPr lang="es-ES" sz="1500">
                <a:solidFill>
                  <a:srgbClr val="334155"/>
                </a:solidFill>
                <a:latin typeface="Segoe UI"/>
                <a:cs typeface="Segoe UI"/>
              </a:rPr>
              <a:t>La credibilidad de nuestro trabajo, nuestra marca y nuestra organización depende de cómo usemos estas herramientas hoy.</a:t>
            </a:r>
          </a:p>
        </p:txBody>
      </p:sp>
      <p:sp>
        <p:nvSpPr>
          <p:cNvPr id="7" name="Why3"/>
          <p:cNvSpPr/>
          <p:nvPr/>
        </p:nvSpPr>
        <p:spPr>
          <a:xfrm>
            <a:off x="975360" y="5300000"/>
            <a:ext cx="65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500" b="1">
                <a:solidFill>
                  <a:srgbClr val="047857"/>
                </a:solidFill>
                <a:latin typeface="Segoe UI Semibold"/>
                <a:cs typeface="Segoe UI Semibold"/>
              </a:rPr>
              <a:t>Define la cultura del mañana.  </a:t>
            </a:r>
            <a:r>
              <a:rPr lang="es-ES" sz="1500">
                <a:solidFill>
                  <a:srgbClr val="334155"/>
                </a:solidFill>
                <a:latin typeface="Segoe UI"/>
                <a:cs typeface="Segoe UI"/>
              </a:rPr>
              <a:t>Cada hábito que adoptamos ahora marca cómo la IA se integrará en nuestros equipos, procesos y decisiones durante los próximos años.</a:t>
            </a:r>
          </a:p>
        </p:txBody>
      </p:sp>
      <p:pic>
        <p:nvPicPr>
          <p:cNvPr id="30" name="EthicsIllustration"/>
          <p:cNvPicPr>
            <a:picLocks noChangeAspect="1"/>
          </p:cNvPicPr>
          <p:nvPr/>
        </p:nvPicPr>
        <p:blipFill>
          <a:blip r:embed="rId4"/>
          <a:srcRect l="547" r="557"/>
          <a:stretch>
            <a:fillRect/>
          </a:stretch>
        </p:blipFill>
        <p:spPr>
          <a:xfrm>
            <a:off x="8000000" y="900000"/>
            <a:ext cx="3500000" cy="5300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CFE51-0093-542A-4FAC-E051EFED7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66EB2E8-1E91-8337-DFC3-2FE283474052}"/>
              </a:ext>
            </a:extLst>
          </p:cNvPr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Escenarios</a:t>
            </a:r>
            <a:r>
              <a:rPr lang="en-US" sz="3467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reales</a:t>
            </a:r>
            <a:endParaRPr lang="en-US" sz="3467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D39B2CA-D95C-A493-4B92-E64D90D91AC2}"/>
              </a:ext>
            </a:extLst>
          </p:cNvPr>
          <p:cNvSpPr/>
          <p:nvPr/>
        </p:nvSpPr>
        <p:spPr>
          <a:xfrm>
            <a:off x="97536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2AA82F5-5A7A-7BC9-9A7F-B020793AEAA8}"/>
              </a:ext>
            </a:extLst>
          </p:cNvPr>
          <p:cNvSpPr/>
          <p:nvPr/>
        </p:nvSpPr>
        <p:spPr>
          <a:xfrm>
            <a:off x="975360" y="1584960"/>
            <a:ext cx="3169920" cy="7315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0B5367EB-FCDB-422C-6173-66FA3C2AB1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011680"/>
            <a:ext cx="548640" cy="548640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69065F0C-B035-1273-EBD7-1B44838CA88E}"/>
              </a:ext>
            </a:extLst>
          </p:cNvPr>
          <p:cNvSpPr/>
          <p:nvPr/>
        </p:nvSpPr>
        <p:spPr>
          <a:xfrm>
            <a:off x="134112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Mata v. Avianca</a:t>
            </a:r>
            <a:endParaRPr lang="en-US" sz="2133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DCABFC1-0E3A-4A50-1C91-AEAD8ACD56FE}"/>
              </a:ext>
            </a:extLst>
          </p:cNvPr>
          <p:cNvSpPr/>
          <p:nvPr/>
        </p:nvSpPr>
        <p:spPr>
          <a:xfrm>
            <a:off x="1341120" y="3291840"/>
            <a:ext cx="2611204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abogado de Nueva York usó </a:t>
            </a:r>
            <a:r>
              <a:rPr lang="es-ES" sz="15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ChatGPT</a:t>
            </a:r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para redactar un escrito legal con citas de casos judiciales completamente inventados. El juez lo sancionó con una multa de 5 000 $ por presentar jurisprudencia falsa.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4F79B570-EF6B-3741-F9C7-16B7F166FAAE}"/>
              </a:ext>
            </a:extLst>
          </p:cNvPr>
          <p:cNvSpPr/>
          <p:nvPr/>
        </p:nvSpPr>
        <p:spPr>
          <a:xfrm>
            <a:off x="451104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B22531D-2369-E988-585A-39A1A45B0F6B}"/>
              </a:ext>
            </a:extLst>
          </p:cNvPr>
          <p:cNvSpPr/>
          <p:nvPr/>
        </p:nvSpPr>
        <p:spPr>
          <a:xfrm>
            <a:off x="4511040" y="1584960"/>
            <a:ext cx="3169920" cy="731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CA8F6750-DF05-7382-E1B1-404D974DC6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2011680"/>
            <a:ext cx="548640" cy="548640"/>
          </a:xfrm>
          <a:prstGeom prst="rect">
            <a:avLst/>
          </a:prstGeom>
        </p:spPr>
      </p:pic>
      <p:sp>
        <p:nvSpPr>
          <p:cNvPr id="11" name="Text 7">
            <a:extLst>
              <a:ext uri="{FF2B5EF4-FFF2-40B4-BE49-F238E27FC236}">
                <a16:creationId xmlns:a16="http://schemas.microsoft.com/office/drawing/2014/main" id="{55158818-3EF9-5DB6-A74C-8EF6353DE4CB}"/>
              </a:ext>
            </a:extLst>
          </p:cNvPr>
          <p:cNvSpPr/>
          <p:nvPr/>
        </p:nvSpPr>
        <p:spPr>
          <a:xfrm>
            <a:off x="487680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Samsung Data Leak</a:t>
            </a:r>
            <a:endParaRPr lang="en-US" sz="2133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BBC71E90-1EC0-522D-4F3D-688F5CBD9F3B}"/>
              </a:ext>
            </a:extLst>
          </p:cNvPr>
          <p:cNvSpPr/>
          <p:nvPr/>
        </p:nvSpPr>
        <p:spPr>
          <a:xfrm>
            <a:off x="4876800" y="3717552"/>
            <a:ext cx="2718011" cy="1419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Empleados de Samsung pegaron código fuente confidencial y actas de reuniones internas en </a:t>
            </a:r>
            <a:r>
              <a:rPr lang="es-ES" sz="15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ChatGPT</a:t>
            </a:r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para depurar y resumir. Los datos quedaron expuestos como datos de entrenamiento. Samsung prohibió el uso interno de IA generativa.</a:t>
            </a: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C4161CBE-0ABE-176D-1E35-66F456BFEDB5}"/>
              </a:ext>
            </a:extLst>
          </p:cNvPr>
          <p:cNvSpPr/>
          <p:nvPr/>
        </p:nvSpPr>
        <p:spPr>
          <a:xfrm>
            <a:off x="804672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4EC6A7F-AA7D-6DE6-B9C7-8095292E12B0}"/>
              </a:ext>
            </a:extLst>
          </p:cNvPr>
          <p:cNvSpPr/>
          <p:nvPr/>
        </p:nvSpPr>
        <p:spPr>
          <a:xfrm>
            <a:off x="8046720" y="1584960"/>
            <a:ext cx="316992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5" name="Image 2" descr="preencoded.png">
            <a:extLst>
              <a:ext uri="{FF2B5EF4-FFF2-40B4-BE49-F238E27FC236}">
                <a16:creationId xmlns:a16="http://schemas.microsoft.com/office/drawing/2014/main" id="{A76F3D7F-29E9-32D8-5EEF-098C2BE273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011680"/>
            <a:ext cx="548640" cy="548640"/>
          </a:xfrm>
          <a:prstGeom prst="rect">
            <a:avLst/>
          </a:prstGeom>
        </p:spPr>
      </p:pic>
      <p:sp>
        <p:nvSpPr>
          <p:cNvPr id="16" name="Text 11">
            <a:extLst>
              <a:ext uri="{FF2B5EF4-FFF2-40B4-BE49-F238E27FC236}">
                <a16:creationId xmlns:a16="http://schemas.microsoft.com/office/drawing/2014/main" id="{F26096D8-E9DF-6A3E-26CA-A3A2591D4268}"/>
              </a:ext>
            </a:extLst>
          </p:cNvPr>
          <p:cNvSpPr/>
          <p:nvPr/>
        </p:nvSpPr>
        <p:spPr>
          <a:xfrm>
            <a:off x="841248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CNET Artículos IA</a:t>
            </a:r>
            <a:endParaRPr lang="en-US" sz="2133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A9208001-6C51-0348-2BD3-DA3D35ECF83C}"/>
              </a:ext>
            </a:extLst>
          </p:cNvPr>
          <p:cNvSpPr/>
          <p:nvPr/>
        </p:nvSpPr>
        <p:spPr>
          <a:xfrm>
            <a:off x="8412480" y="3413760"/>
            <a:ext cx="254508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CNET publicó decenas de artículos financieros generados con IA sin revelar su autoría. Los textos contenían errores factuales graves. Al descubrirse, la credibilidad del medio se desplomó y tuvieron que corregir y etiquetar retroactivamente todos los artículos.</a:t>
            </a:r>
          </a:p>
        </p:txBody>
      </p:sp>
      <p:pic>
        <p:nvPicPr>
          <p:cNvPr id="18" name="Image 0" descr="preencoded.png">
            <a:extLst>
              <a:ext uri="{FF2B5EF4-FFF2-40B4-BE49-F238E27FC236}">
                <a16:creationId xmlns:a16="http://schemas.microsoft.com/office/drawing/2014/main" id="{DA34D2E2-02A6-8F70-D8D5-47E9F2531B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0839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5360" y="548640"/>
            <a:ext cx="102412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Principios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de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uso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responsable</a:t>
            </a:r>
            <a:endParaRPr lang="en-US" sz="3200" dirty="0"/>
          </a:p>
        </p:txBody>
      </p:sp>
      <p:sp>
        <p:nvSpPr>
          <p:cNvPr id="600" name="Subtitle"/>
          <p:cNvSpPr/>
          <p:nvPr/>
        </p:nvSpPr>
        <p:spPr>
          <a:xfrm>
            <a:off x="975360" y="1100000"/>
            <a:ext cx="1024128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Pautas para usar con criterio cualquier asistente de IA generativa en tu día a día profesional</a:t>
            </a:r>
            <a:endParaRPr lang="es-ES" sz="1400" dirty="0"/>
          </a:p>
        </p:txBody>
      </p:sp>
      <p:sp>
        <p:nvSpPr>
          <p:cNvPr id="100" name="Card0 BG"/>
          <p:cNvSpPr/>
          <p:nvPr/>
        </p:nvSpPr>
        <p:spPr>
          <a:xfrm>
            <a:off x="975360" y="1400000"/>
            <a:ext cx="3247100" cy="23000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1" name="Card0 Band"/>
          <p:cNvSpPr/>
          <p:nvPr/>
        </p:nvSpPr>
        <p:spPr>
          <a:xfrm>
            <a:off x="975360" y="1400000"/>
            <a:ext cx="3247100" cy="609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2" name="Card0 IconBg"/>
          <p:cNvSpPr/>
          <p:nvPr/>
        </p:nvSpPr>
        <p:spPr>
          <a:xfrm>
            <a:off x="1175360" y="1620000"/>
            <a:ext cx="426720" cy="426720"/>
          </a:xfrm>
          <a:prstGeom prst="ellipse">
            <a:avLst/>
          </a:prstGeom>
          <a:solidFill>
            <a:srgbClr val="3B82F6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1</a:t>
            </a:r>
            <a:endParaRPr lang="en-US" sz="1800"/>
          </a:p>
        </p:txBody>
      </p:sp>
      <p:sp>
        <p:nvSpPr>
          <p:cNvPr id="103" name="Card0 Title"/>
          <p:cNvSpPr/>
          <p:nvPr/>
        </p:nvSpPr>
        <p:spPr>
          <a:xfrm>
            <a:off x="1702080" y="1660000"/>
            <a:ext cx="23203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7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Equidad</a:t>
            </a:r>
            <a:endParaRPr lang="es-ES" sz="1700"/>
          </a:p>
        </p:txBody>
      </p:sp>
      <p:sp>
        <p:nvSpPr>
          <p:cNvPr id="104" name="Card0 Desc"/>
          <p:cNvSpPr/>
          <p:nvPr/>
        </p:nvSpPr>
        <p:spPr>
          <a:xfrm>
            <a:off x="1175360" y="2250000"/>
            <a:ext cx="2847100" cy="1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Cuando uses un asistente de IA, revisa que sus respuestas no contengan sesgos de género, raza, cultura o ideología. Contrasta con fuentes diversas antes de actuar sobre ellas.</a:t>
            </a:r>
            <a:endParaRPr lang="es-ES" sz="1400"/>
          </a:p>
        </p:txBody>
      </p:sp>
      <p:sp>
        <p:nvSpPr>
          <p:cNvPr id="105" name="Card1 BG"/>
          <p:cNvSpPr/>
          <p:nvPr/>
        </p:nvSpPr>
        <p:spPr>
          <a:xfrm>
            <a:off x="4472460" y="1400000"/>
            <a:ext cx="3247100" cy="23000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6" name="Card1 Band"/>
          <p:cNvSpPr/>
          <p:nvPr/>
        </p:nvSpPr>
        <p:spPr>
          <a:xfrm>
            <a:off x="4472460" y="1400000"/>
            <a:ext cx="3247100" cy="609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7" name="Card1 IconBg"/>
          <p:cNvSpPr/>
          <p:nvPr/>
        </p:nvSpPr>
        <p:spPr>
          <a:xfrm>
            <a:off x="4672460" y="1620000"/>
            <a:ext cx="426720" cy="426720"/>
          </a:xfrm>
          <a:prstGeom prst="ellipse">
            <a:avLst/>
          </a:prstGeom>
          <a:solidFill>
            <a:srgbClr val="0D9488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2</a:t>
            </a:r>
            <a:endParaRPr lang="en-US" sz="1800"/>
          </a:p>
        </p:txBody>
      </p:sp>
      <p:sp>
        <p:nvSpPr>
          <p:cNvPr id="108" name="Card1 Title"/>
          <p:cNvSpPr/>
          <p:nvPr/>
        </p:nvSpPr>
        <p:spPr>
          <a:xfrm>
            <a:off x="5199180" y="1660000"/>
            <a:ext cx="23203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7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Fiabilidad y seguridad</a:t>
            </a:r>
            <a:endParaRPr lang="es-ES" sz="1700"/>
          </a:p>
        </p:txBody>
      </p:sp>
      <p:sp>
        <p:nvSpPr>
          <p:cNvPr id="109" name="Card1 Desc"/>
          <p:cNvSpPr/>
          <p:nvPr/>
        </p:nvSpPr>
        <p:spPr>
          <a:xfrm>
            <a:off x="4672460" y="2250000"/>
            <a:ext cx="2847100" cy="1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Trata las respuestas del asistente como un primer borrador, no como verdad: pueden contener errores o invenciones. Valida los datos críticos antes de usarlos.</a:t>
            </a:r>
            <a:endParaRPr lang="es-ES" sz="1400"/>
          </a:p>
        </p:txBody>
      </p:sp>
      <p:sp>
        <p:nvSpPr>
          <p:cNvPr id="110" name="Card2 BG"/>
          <p:cNvSpPr/>
          <p:nvPr/>
        </p:nvSpPr>
        <p:spPr>
          <a:xfrm>
            <a:off x="7969560" y="1400000"/>
            <a:ext cx="3247100" cy="23000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1" name="Card2 Band"/>
          <p:cNvSpPr/>
          <p:nvPr/>
        </p:nvSpPr>
        <p:spPr>
          <a:xfrm>
            <a:off x="7969560" y="1400000"/>
            <a:ext cx="3247100" cy="60960"/>
          </a:xfrm>
          <a:prstGeom prst="rect">
            <a:avLst/>
          </a:prstGeom>
          <a:solidFill>
            <a:srgbClr val="5B21B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2" name="Card2 IconBg"/>
          <p:cNvSpPr/>
          <p:nvPr/>
        </p:nvSpPr>
        <p:spPr>
          <a:xfrm>
            <a:off x="8169560" y="1620000"/>
            <a:ext cx="426720" cy="426720"/>
          </a:xfrm>
          <a:prstGeom prst="ellipse">
            <a:avLst/>
          </a:prstGeom>
          <a:solidFill>
            <a:srgbClr val="5B21B6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3</a:t>
            </a:r>
            <a:endParaRPr lang="en-US" sz="1800"/>
          </a:p>
        </p:txBody>
      </p:sp>
      <p:sp>
        <p:nvSpPr>
          <p:cNvPr id="113" name="Card2 Title"/>
          <p:cNvSpPr/>
          <p:nvPr/>
        </p:nvSpPr>
        <p:spPr>
          <a:xfrm>
            <a:off x="8696280" y="1660000"/>
            <a:ext cx="23203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7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Privacidad y seguridad</a:t>
            </a:r>
            <a:endParaRPr lang="es-ES" sz="1700"/>
          </a:p>
        </p:txBody>
      </p:sp>
      <p:sp>
        <p:nvSpPr>
          <p:cNvPr id="114" name="Card2 Desc"/>
          <p:cNvSpPr/>
          <p:nvPr/>
        </p:nvSpPr>
        <p:spPr>
          <a:xfrm>
            <a:off x="8169560" y="2250000"/>
            <a:ext cx="2847100" cy="1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copies datos personales, confidenciales o de clientes en tus prompts. Sigue siempre la política de uso de IA y de datos de tu organización antes de pegar información sensible.</a:t>
            </a:r>
            <a:endParaRPr lang="es-ES" sz="1400"/>
          </a:p>
        </p:txBody>
      </p:sp>
      <p:sp>
        <p:nvSpPr>
          <p:cNvPr id="115" name="Card3 BG"/>
          <p:cNvSpPr/>
          <p:nvPr/>
        </p:nvSpPr>
        <p:spPr>
          <a:xfrm>
            <a:off x="975360" y="3900000"/>
            <a:ext cx="3247100" cy="23000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6" name="Card3 Band"/>
          <p:cNvSpPr/>
          <p:nvPr/>
        </p:nvSpPr>
        <p:spPr>
          <a:xfrm>
            <a:off x="975360" y="3900000"/>
            <a:ext cx="3247100" cy="6096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7" name="Card3 IconBg"/>
          <p:cNvSpPr/>
          <p:nvPr/>
        </p:nvSpPr>
        <p:spPr>
          <a:xfrm>
            <a:off x="1175360" y="4120000"/>
            <a:ext cx="426720" cy="426720"/>
          </a:xfrm>
          <a:prstGeom prst="ellipse">
            <a:avLst/>
          </a:prstGeom>
          <a:solidFill>
            <a:srgbClr val="F97316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4</a:t>
            </a:r>
            <a:endParaRPr lang="en-US" sz="1800"/>
          </a:p>
        </p:txBody>
      </p:sp>
      <p:sp>
        <p:nvSpPr>
          <p:cNvPr id="118" name="Card3 Title"/>
          <p:cNvSpPr/>
          <p:nvPr/>
        </p:nvSpPr>
        <p:spPr>
          <a:xfrm>
            <a:off x="1702080" y="4160000"/>
            <a:ext cx="23203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7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Inclusión</a:t>
            </a:r>
            <a:endParaRPr lang="es-ES" sz="1700"/>
          </a:p>
        </p:txBody>
      </p:sp>
      <p:sp>
        <p:nvSpPr>
          <p:cNvPr id="119" name="Card3 Desc"/>
          <p:cNvSpPr/>
          <p:nvPr/>
        </p:nvSpPr>
        <p:spPr>
          <a:xfrm>
            <a:off x="1175360" y="4750000"/>
            <a:ext cx="2847100" cy="1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Diseña y utiliza la IA pensando en personas 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 todas las capacidades, orígenes y contextos</a:t>
            </a:r>
            <a:r>
              <a:rPr lang="es-ES" sz="140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y asegúrate de que las soluciones sean accesibles para todos.</a:t>
            </a:r>
            <a:endParaRPr lang="es-ES" sz="1400" dirty="0"/>
          </a:p>
        </p:txBody>
      </p:sp>
      <p:sp>
        <p:nvSpPr>
          <p:cNvPr id="120" name="Card4 BG"/>
          <p:cNvSpPr/>
          <p:nvPr/>
        </p:nvSpPr>
        <p:spPr>
          <a:xfrm>
            <a:off x="4472460" y="3900000"/>
            <a:ext cx="3247100" cy="23000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1" name="Card4 Band"/>
          <p:cNvSpPr/>
          <p:nvPr/>
        </p:nvSpPr>
        <p:spPr>
          <a:xfrm>
            <a:off x="4472460" y="3900000"/>
            <a:ext cx="3247100" cy="6096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2" name="Card4 IconBg"/>
          <p:cNvSpPr/>
          <p:nvPr/>
        </p:nvSpPr>
        <p:spPr>
          <a:xfrm>
            <a:off x="4672460" y="4120000"/>
            <a:ext cx="426720" cy="426720"/>
          </a:xfrm>
          <a:prstGeom prst="ellipse">
            <a:avLst/>
          </a:prstGeom>
          <a:solidFill>
            <a:srgbClr val="7C3AED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5</a:t>
            </a:r>
            <a:endParaRPr lang="en-US" sz="1800"/>
          </a:p>
        </p:txBody>
      </p:sp>
      <p:sp>
        <p:nvSpPr>
          <p:cNvPr id="123" name="Card4 Title"/>
          <p:cNvSpPr/>
          <p:nvPr/>
        </p:nvSpPr>
        <p:spPr>
          <a:xfrm>
            <a:off x="5199180" y="4160000"/>
            <a:ext cx="23203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7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Transparencia</a:t>
            </a:r>
            <a:endParaRPr lang="es-ES" sz="1700"/>
          </a:p>
        </p:txBody>
      </p:sp>
      <p:sp>
        <p:nvSpPr>
          <p:cNvPr id="124" name="Card4 Desc"/>
          <p:cNvSpPr/>
          <p:nvPr/>
        </p:nvSpPr>
        <p:spPr>
          <a:xfrm>
            <a:off x="4672460" y="4750000"/>
            <a:ext cx="2847100" cy="1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Indica cuándo un texto, imagen o análisis ha sido generado o asistido por IA. Sé honesto con tu equipo, clientes y audiencia sobre cómo lo has elaborado.</a:t>
            </a:r>
            <a:endParaRPr lang="es-ES" sz="1400"/>
          </a:p>
        </p:txBody>
      </p:sp>
      <p:sp>
        <p:nvSpPr>
          <p:cNvPr id="125" name="Card5 BG"/>
          <p:cNvSpPr/>
          <p:nvPr/>
        </p:nvSpPr>
        <p:spPr>
          <a:xfrm>
            <a:off x="7969560" y="3900000"/>
            <a:ext cx="3247100" cy="23000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6" name="Card5 Band"/>
          <p:cNvSpPr/>
          <p:nvPr/>
        </p:nvSpPr>
        <p:spPr>
          <a:xfrm>
            <a:off x="7969560" y="3900000"/>
            <a:ext cx="3247100" cy="6096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7" name="Card5 IconBg"/>
          <p:cNvSpPr/>
          <p:nvPr/>
        </p:nvSpPr>
        <p:spPr>
          <a:xfrm>
            <a:off x="8169560" y="4120000"/>
            <a:ext cx="426720" cy="426720"/>
          </a:xfrm>
          <a:prstGeom prst="ellipse">
            <a:avLst/>
          </a:prstGeom>
          <a:solidFill>
            <a:srgbClr val="EC4899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6</a:t>
            </a:r>
            <a:endParaRPr lang="en-US" sz="1800"/>
          </a:p>
        </p:txBody>
      </p:sp>
      <p:sp>
        <p:nvSpPr>
          <p:cNvPr id="128" name="Card5 Title"/>
          <p:cNvSpPr/>
          <p:nvPr/>
        </p:nvSpPr>
        <p:spPr>
          <a:xfrm>
            <a:off x="8696280" y="4160000"/>
            <a:ext cx="23203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7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Responsabilidad</a:t>
            </a:r>
            <a:endParaRPr lang="es-ES" sz="1700"/>
          </a:p>
        </p:txBody>
      </p:sp>
      <p:sp>
        <p:nvSpPr>
          <p:cNvPr id="129" name="Card5 Desc"/>
          <p:cNvSpPr/>
          <p:nvPr/>
        </p:nvSpPr>
        <p:spPr>
          <a:xfrm>
            <a:off x="8169560" y="4750000"/>
            <a:ext cx="2847100" cy="1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Tú firmas el resultado final, no el asistente. Verifica, edita y valida cada respuesta antes de compartirla o tomar decisiones basadas en ella.</a:t>
            </a:r>
            <a:endParaRPr lang="es-ES" sz="1400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3B76BCD6-9067-44C4-B8D2-AB9B7A3F1A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00000" y="350000"/>
            <a:ext cx="11000000" cy="6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2800" b="1">
                <a:solidFill>
                  <a:srgbClr val="1E293B"/>
                </a:solidFill>
                <a:latin typeface="Segoe UI Semibold"/>
              </a:rPr>
              <a:t>Human-in-the-Loop (HITL)</a:t>
            </a:r>
          </a:p>
        </p:txBody>
      </p:sp>
      <p:sp>
        <p:nvSpPr>
          <p:cNvPr id="3" name="Subtitle"/>
          <p:cNvSpPr/>
          <p:nvPr/>
        </p:nvSpPr>
        <p:spPr>
          <a:xfrm>
            <a:off x="600000" y="980000"/>
            <a:ext cx="1100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>
                <a:solidFill>
                  <a:srgbClr val="64748B"/>
                </a:solidFill>
                <a:latin typeface="Segoe UI"/>
              </a:rPr>
              <a:t>Enfoque que integra la supervisión y el juicio humano en el ciclo de vida de la IA</a:t>
            </a:r>
          </a:p>
        </p:txBody>
      </p:sp>
      <p:sp>
        <p:nvSpPr>
          <p:cNvPr id="10" name="DiagramHeader"/>
          <p:cNvSpPr/>
          <p:nvPr/>
        </p:nvSpPr>
        <p:spPr>
          <a:xfrm>
            <a:off x="600000" y="1500000"/>
            <a:ext cx="5500000" cy="35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/>
              </a:rPr>
              <a:t>Ciclo Humano-Modelo</a:t>
            </a:r>
          </a:p>
        </p:txBody>
      </p:sp>
      <p:sp>
        <p:nvSpPr>
          <p:cNvPr id="11" name="DiagramBG"/>
          <p:cNvSpPr/>
          <p:nvPr/>
        </p:nvSpPr>
        <p:spPr>
          <a:xfrm>
            <a:off x="600000" y="1920000"/>
            <a:ext cx="5500000" cy="4600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0" name="NodeA"/>
          <p:cNvSpPr/>
          <p:nvPr/>
        </p:nvSpPr>
        <p:spPr>
          <a:xfrm>
            <a:off x="900000" y="220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Datos / Entrada</a:t>
            </a:r>
          </a:p>
        </p:txBody>
      </p:sp>
      <p:sp>
        <p:nvSpPr>
          <p:cNvPr id="21" name="NodeB"/>
          <p:cNvSpPr/>
          <p:nvPr/>
        </p:nvSpPr>
        <p:spPr>
          <a:xfrm>
            <a:off x="4000000" y="220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Modelo de IA</a:t>
            </a:r>
          </a:p>
        </p:txBody>
      </p:sp>
      <p:sp>
        <p:nvSpPr>
          <p:cNvPr id="22" name="NodeC"/>
          <p:cNvSpPr/>
          <p:nvPr/>
        </p:nvSpPr>
        <p:spPr>
          <a:xfrm>
            <a:off x="4000000" y="535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5B21B6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Predicción</a:t>
            </a:r>
          </a:p>
        </p:txBody>
      </p:sp>
      <p:sp>
        <p:nvSpPr>
          <p:cNvPr id="23" name="NodeD"/>
          <p:cNvSpPr/>
          <p:nvPr/>
        </p:nvSpPr>
        <p:spPr>
          <a:xfrm>
            <a:off x="900000" y="535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F97316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Revisión humana</a:t>
            </a:r>
          </a:p>
        </p:txBody>
      </p:sp>
      <p:cxnSp>
        <p:nvCxnSpPr>
          <p:cNvPr id="30" name="ArrowAB"/>
          <p:cNvCxnSpPr/>
          <p:nvPr/>
        </p:nvCxnSpPr>
        <p:spPr>
          <a:xfrm>
            <a:off x="2700000" y="2580000"/>
            <a:ext cx="1300000" cy="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cxnSp>
        <p:nvCxnSpPr>
          <p:cNvPr id="31" name="ArrowBC"/>
          <p:cNvCxnSpPr/>
          <p:nvPr/>
        </p:nvCxnSpPr>
        <p:spPr>
          <a:xfrm>
            <a:off x="4900000" y="3000000"/>
            <a:ext cx="0" cy="235000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cxnSp>
        <p:nvCxnSpPr>
          <p:cNvPr id="32" name="ArrowCD"/>
          <p:cNvCxnSpPr/>
          <p:nvPr/>
        </p:nvCxnSpPr>
        <p:spPr>
          <a:xfrm flipH="1">
            <a:off x="2700000" y="5730000"/>
            <a:ext cx="1300000" cy="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cxnSp>
        <p:nvCxnSpPr>
          <p:cNvPr id="33" name="ArrowDA"/>
          <p:cNvCxnSpPr/>
          <p:nvPr/>
        </p:nvCxnSpPr>
        <p:spPr>
          <a:xfrm flipV="1">
            <a:off x="1800000" y="3000000"/>
            <a:ext cx="0" cy="235000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sp>
        <p:nvSpPr>
          <p:cNvPr id="40" name="CenterLabel"/>
          <p:cNvSpPr/>
          <p:nvPr/>
        </p:nvSpPr>
        <p:spPr>
          <a:xfrm>
            <a:off x="2550000" y="3850000"/>
            <a:ext cx="1600000" cy="80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txBody>
          <a:bodyPr wrap="square" lIns="40000" tIns="40000" rIns="40000" bIns="40000" anchor="ctr"/>
          <a:lstStyle/>
          <a:p>
            <a:pPr algn="ctr"/>
            <a:r>
              <a:rPr lang="es-ES" sz="1100" b="1">
                <a:solidFill>
                  <a:srgbClr val="EC4899"/>
                </a:solidFill>
                <a:latin typeface="Segoe UI Semibold"/>
              </a:rPr>
              <a:t>Feedback continuo</a:t>
            </a:r>
          </a:p>
        </p:txBody>
      </p:sp>
      <p:sp>
        <p:nvSpPr>
          <p:cNvPr id="41" name="LblTop"/>
          <p:cNvSpPr/>
          <p:nvPr/>
        </p:nvSpPr>
        <p:spPr>
          <a:xfrm>
            <a:off x="2700000" y="2380000"/>
            <a:ext cx="13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900" i="1">
                <a:solidFill>
                  <a:srgbClr val="64748B"/>
                </a:solidFill>
                <a:latin typeface="Segoe UI"/>
              </a:rPr>
              <a:t>entrenamiento</a:t>
            </a:r>
          </a:p>
        </p:txBody>
      </p:sp>
      <p:sp>
        <p:nvSpPr>
          <p:cNvPr id="42" name="LblRight"/>
          <p:cNvSpPr/>
          <p:nvPr/>
        </p:nvSpPr>
        <p:spPr>
          <a:xfrm>
            <a:off x="4960000" y="4050000"/>
            <a:ext cx="9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lang="es-ES" sz="900" i="1">
                <a:solidFill>
                  <a:srgbClr val="64748B"/>
                </a:solidFill>
                <a:latin typeface="Segoe UI"/>
              </a:rPr>
              <a:t>resultado</a:t>
            </a:r>
          </a:p>
        </p:txBody>
      </p:sp>
      <p:sp>
        <p:nvSpPr>
          <p:cNvPr id="43" name="LblBottom"/>
          <p:cNvSpPr/>
          <p:nvPr/>
        </p:nvSpPr>
        <p:spPr>
          <a:xfrm>
            <a:off x="2700000" y="5780000"/>
            <a:ext cx="13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900" i="1">
                <a:solidFill>
                  <a:srgbClr val="64748B"/>
                </a:solidFill>
                <a:latin typeface="Segoe UI"/>
              </a:rPr>
              <a:t>validación</a:t>
            </a:r>
          </a:p>
        </p:txBody>
      </p:sp>
      <p:sp>
        <p:nvSpPr>
          <p:cNvPr id="44" name="LblLeft"/>
          <p:cNvSpPr/>
          <p:nvPr/>
        </p:nvSpPr>
        <p:spPr>
          <a:xfrm>
            <a:off x="850000" y="4050000"/>
            <a:ext cx="9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r"/>
            <a:r>
              <a:rPr lang="es-ES" sz="900" i="1">
                <a:solidFill>
                  <a:srgbClr val="64748B"/>
                </a:solidFill>
                <a:latin typeface="Segoe UI"/>
              </a:rPr>
              <a:t>correcciones</a:t>
            </a:r>
          </a:p>
        </p:txBody>
      </p:sp>
      <p:sp>
        <p:nvSpPr>
          <p:cNvPr id="50" name="CardsHeader"/>
          <p:cNvSpPr/>
          <p:nvPr/>
        </p:nvSpPr>
        <p:spPr>
          <a:xfrm>
            <a:off x="6300000" y="1500000"/>
            <a:ext cx="5300000" cy="35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/>
              </a:rPr>
              <a:t>Conceptos clave</a:t>
            </a:r>
          </a:p>
        </p:txBody>
      </p:sp>
      <p:sp>
        <p:nvSpPr>
          <p:cNvPr id="60" name="Card1BG"/>
          <p:cNvSpPr/>
          <p:nvPr/>
        </p:nvSpPr>
        <p:spPr>
          <a:xfrm>
            <a:off x="6300000" y="192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1" name="Card1Band"/>
          <p:cNvSpPr/>
          <p:nvPr/>
        </p:nvSpPr>
        <p:spPr>
          <a:xfrm>
            <a:off x="6300000" y="1920000"/>
            <a:ext cx="100000" cy="7800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2" name="Card1Text"/>
          <p:cNvSpPr/>
          <p:nvPr/>
        </p:nvSpPr>
        <p:spPr>
          <a:xfrm>
            <a:off x="6520000" y="199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Supervisión humana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Personas que revisan, aprueban o modifican las decisiones del modelo.</a:t>
            </a:r>
          </a:p>
        </p:txBody>
      </p:sp>
      <p:sp>
        <p:nvSpPr>
          <p:cNvPr id="70" name="Card2BG"/>
          <p:cNvSpPr/>
          <p:nvPr/>
        </p:nvSpPr>
        <p:spPr>
          <a:xfrm>
            <a:off x="6300000" y="280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1" name="Card2Band"/>
          <p:cNvSpPr/>
          <p:nvPr/>
        </p:nvSpPr>
        <p:spPr>
          <a:xfrm>
            <a:off x="6300000" y="2800000"/>
            <a:ext cx="100000" cy="7800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2" name="Card2Text"/>
          <p:cNvSpPr/>
          <p:nvPr/>
        </p:nvSpPr>
        <p:spPr>
          <a:xfrm>
            <a:off x="6520000" y="287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Validación y corrección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Expertos verifican predicciones y corrigen errores como referencia.</a:t>
            </a:r>
          </a:p>
        </p:txBody>
      </p:sp>
      <p:sp>
        <p:nvSpPr>
          <p:cNvPr id="80" name="Card3BG"/>
          <p:cNvSpPr/>
          <p:nvPr/>
        </p:nvSpPr>
        <p:spPr>
          <a:xfrm>
            <a:off x="6300000" y="368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1" name="Card3Band"/>
          <p:cNvSpPr/>
          <p:nvPr/>
        </p:nvSpPr>
        <p:spPr>
          <a:xfrm>
            <a:off x="6300000" y="3680000"/>
            <a:ext cx="100000" cy="780000"/>
          </a:xfrm>
          <a:prstGeom prst="rect">
            <a:avLst/>
          </a:prstGeom>
          <a:solidFill>
            <a:srgbClr val="5B21B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2" name="Card3Text"/>
          <p:cNvSpPr/>
          <p:nvPr/>
        </p:nvSpPr>
        <p:spPr>
          <a:xfrm>
            <a:off x="6520000" y="375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Retroalimentación continua (RLHF)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El feedback humano reentrena el modelo de forma iterativa.</a:t>
            </a:r>
          </a:p>
        </p:txBody>
      </p:sp>
      <p:sp>
        <p:nvSpPr>
          <p:cNvPr id="90" name="Card4BG"/>
          <p:cNvSpPr/>
          <p:nvPr/>
        </p:nvSpPr>
        <p:spPr>
          <a:xfrm>
            <a:off x="6300000" y="456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1" name="Card4Band"/>
          <p:cNvSpPr/>
          <p:nvPr/>
        </p:nvSpPr>
        <p:spPr>
          <a:xfrm>
            <a:off x="6300000" y="4560000"/>
            <a:ext cx="100000" cy="7800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2" name="Card4Text"/>
          <p:cNvSpPr/>
          <p:nvPr/>
        </p:nvSpPr>
        <p:spPr>
          <a:xfrm>
            <a:off x="6520000" y="463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Decisiones críticas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El humano decide en salud, finanzas o legal; la IA es copiloto.</a:t>
            </a:r>
          </a:p>
        </p:txBody>
      </p:sp>
      <p:sp>
        <p:nvSpPr>
          <p:cNvPr id="100" name="ExampleBG"/>
          <p:cNvSpPr/>
          <p:nvPr/>
        </p:nvSpPr>
        <p:spPr>
          <a:xfrm>
            <a:off x="6300000" y="5470000"/>
            <a:ext cx="5300000" cy="10500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9525">
            <a:solidFill>
              <a:srgbClr val="F59E0B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01" name="ExampleText"/>
          <p:cNvSpPr/>
          <p:nvPr/>
        </p:nvSpPr>
        <p:spPr>
          <a:xfrm>
            <a:off x="6500000" y="5550000"/>
            <a:ext cx="49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300" b="1">
                <a:solidFill>
                  <a:srgbClr val="92400E"/>
                </a:solidFill>
                <a:latin typeface="Segoe UI Semibold"/>
              </a:rPr>
              <a:t>Ejemplo práctico: Moderación de contenido</a:t>
            </a:r>
          </a:p>
          <a:p>
            <a:r>
              <a:rPr lang="es-ES" sz="1100">
                <a:solidFill>
                  <a:srgbClr val="78350F"/>
                </a:solidFill>
                <a:latin typeface="Segoe UI"/>
              </a:rPr>
              <a:t>Un modelo de IA filtra publicaciones automáticamente. Los moderadores humanos revisan los casos ambiguos y sus correcciones se utilizan para reentrenar el modelo, mejorando progresivamente su precisión y reduciendo falsos positivos.</a:t>
            </a:r>
          </a:p>
        </p:txBody>
      </p:sp>
      <p:pic>
        <p:nvPicPr>
          <p:cNvPr id="20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C326D7-9EE4-993D-553F-C48BA1972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FE6501CE-0D09-FEFD-9DD9-E0DE1EF1E3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5D4DF46-179C-3C9A-EDA0-73366E461FD1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</a:t>
            </a:r>
            <a:r>
              <a:rPr lang="en-US" sz="3200" b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Ética</a:t>
            </a:r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la IA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8DEFBA9A-F5A8-91EC-B16F-691B5B3E56A8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6D2BF139-DCA4-C44A-722F-80C2E70D4AEE}"/>
              </a:ext>
            </a:extLst>
          </p:cNvPr>
          <p:cNvSpPr/>
          <p:nvPr/>
        </p:nvSpPr>
        <p:spPr>
          <a:xfrm>
            <a:off x="1463040" y="1950720"/>
            <a:ext cx="926592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La inteligencia artificial generativa puede redactar informes, analizar datos y automatizar flujos de trabajo en segundos. Sin embargo, esa velocidad solo es útil si los resultados son justos, seguros y verificables. Comprender los principios de IA responsable y saber cuando un ser humano debe intervenir es tan importante como saber escribir un buen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.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Tiempo estimado: 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40 minutos</a:t>
            </a:r>
          </a:p>
          <a:p>
            <a:pPr>
              <a:spcAft>
                <a:spcPts val="1600"/>
              </a:spcAft>
            </a:pP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Ética en la IA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 </a:t>
            </a: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94999772-A858-7CC1-C60E-1AB14BFBA1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52466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0"/>
          <p:cNvSpPr/>
          <p:nvPr/>
        </p:nvSpPr>
        <p:spPr>
          <a:xfrm>
            <a:off x="323718" y="155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1" name="Bg1"/>
          <p:cNvSpPr/>
          <p:nvPr/>
        </p:nvSpPr>
        <p:spPr>
          <a:xfrm>
            <a:off x="323718" y="247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2" name="Bg2"/>
          <p:cNvSpPr/>
          <p:nvPr/>
        </p:nvSpPr>
        <p:spPr>
          <a:xfrm>
            <a:off x="323718" y="339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3" name="Bg3"/>
          <p:cNvSpPr/>
          <p:nvPr/>
        </p:nvSpPr>
        <p:spPr>
          <a:xfrm>
            <a:off x="323718" y="431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4" name="Bg4"/>
          <p:cNvSpPr/>
          <p:nvPr/>
        </p:nvSpPr>
        <p:spPr>
          <a:xfrm>
            <a:off x="323718" y="523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5" name="Pill0"/>
          <p:cNvSpPr txBox="1">
            <a:spLocks/>
          </p:cNvSpPr>
          <p:nvPr/>
        </p:nvSpPr>
        <p:spPr>
          <a:xfrm>
            <a:off x="481143" y="173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0D9488"/>
              </a:gs>
              <a:gs pos="80000">
                <a:srgbClr val="0D9488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1</a:t>
            </a:r>
          </a:p>
        </p:txBody>
      </p:sp>
      <p:sp>
        <p:nvSpPr>
          <p:cNvPr id="16" name="Pill1"/>
          <p:cNvSpPr txBox="1">
            <a:spLocks/>
          </p:cNvSpPr>
          <p:nvPr/>
        </p:nvSpPr>
        <p:spPr>
          <a:xfrm>
            <a:off x="481143" y="265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85000">
                <a:srgbClr val="0D9488"/>
              </a:gs>
              <a:gs pos="15000">
                <a:srgbClr val="3B82F6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2</a:t>
            </a:r>
          </a:p>
        </p:txBody>
      </p:sp>
      <p:sp>
        <p:nvSpPr>
          <p:cNvPr id="17" name="Pill2"/>
          <p:cNvSpPr txBox="1">
            <a:spLocks/>
          </p:cNvSpPr>
          <p:nvPr/>
        </p:nvSpPr>
        <p:spPr>
          <a:xfrm>
            <a:off x="481143" y="357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3B82F6"/>
              </a:gs>
              <a:gs pos="80000">
                <a:srgbClr val="3B82F6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3</a:t>
            </a:r>
          </a:p>
        </p:txBody>
      </p:sp>
      <p:sp>
        <p:nvSpPr>
          <p:cNvPr id="18" name="Pill3"/>
          <p:cNvSpPr txBox="1">
            <a:spLocks/>
          </p:cNvSpPr>
          <p:nvPr/>
        </p:nvSpPr>
        <p:spPr>
          <a:xfrm>
            <a:off x="481143" y="449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85000">
                <a:srgbClr val="3B82F6"/>
              </a:gs>
              <a:gs pos="15000">
                <a:srgbClr val="7C3AED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4</a:t>
            </a:r>
          </a:p>
        </p:txBody>
      </p:sp>
      <p:sp>
        <p:nvSpPr>
          <p:cNvPr id="19" name="Pill4"/>
          <p:cNvSpPr txBox="1">
            <a:spLocks/>
          </p:cNvSpPr>
          <p:nvPr/>
        </p:nvSpPr>
        <p:spPr>
          <a:xfrm>
            <a:off x="481143" y="541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7C3AED"/>
              </a:gs>
              <a:gs pos="80000">
                <a:srgbClr val="7C3AED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5</a:t>
            </a:r>
          </a:p>
        </p:txBody>
      </p:sp>
      <p:sp>
        <p:nvSpPr>
          <p:cNvPr id="20" name="Text0"/>
          <p:cNvSpPr txBox="1">
            <a:spLocks/>
          </p:cNvSpPr>
          <p:nvPr/>
        </p:nvSpPr>
        <p:spPr>
          <a:xfrm>
            <a:off x="1371600" y="155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Introducción a la IA generativa</a:t>
            </a:r>
          </a:p>
        </p:txBody>
      </p:sp>
      <p:sp>
        <p:nvSpPr>
          <p:cNvPr id="21" name="Text1"/>
          <p:cNvSpPr txBox="1">
            <a:spLocks/>
          </p:cNvSpPr>
          <p:nvPr/>
        </p:nvSpPr>
        <p:spPr>
          <a:xfrm>
            <a:off x="1371600" y="247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Microsoft 365 Copilot en acción</a:t>
            </a:r>
          </a:p>
        </p:txBody>
      </p:sp>
      <p:sp>
        <p:nvSpPr>
          <p:cNvPr id="22" name="Text2"/>
          <p:cNvSpPr txBox="1">
            <a:spLocks/>
          </p:cNvSpPr>
          <p:nvPr/>
        </p:nvSpPr>
        <p:spPr>
          <a:xfrm>
            <a:off x="1371600" y="339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El arte del prompting</a:t>
            </a:r>
          </a:p>
        </p:txBody>
      </p:sp>
      <p:sp>
        <p:nvSpPr>
          <p:cNvPr id="23" name="Text3"/>
          <p:cNvSpPr txBox="1">
            <a:spLocks/>
          </p:cNvSpPr>
          <p:nvPr/>
        </p:nvSpPr>
        <p:spPr>
          <a:xfrm>
            <a:off x="1371600" y="431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Multimodalidad en la IA</a:t>
            </a:r>
          </a:p>
        </p:txBody>
      </p:sp>
      <p:sp>
        <p:nvSpPr>
          <p:cNvPr id="24" name="Text4"/>
          <p:cNvSpPr txBox="1">
            <a:spLocks/>
          </p:cNvSpPr>
          <p:nvPr/>
        </p:nvSpPr>
        <p:spPr>
          <a:xfrm>
            <a:off x="1371600" y="523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Ética en el uso de la IA</a:t>
            </a: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975360" y="487680"/>
            <a:ext cx="1024128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4267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de la sesión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97517CC-A537-821C-1895-FBDCCA45A0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514" y="270210"/>
            <a:ext cx="10666972" cy="757079"/>
          </a:xfrm>
        </p:spPr>
        <p:txBody>
          <a:bodyPr/>
          <a:lstStyle/>
          <a:p>
            <a:r>
              <a:rPr lang="es-ES" sz="2000" dirty="0"/>
              <a:t>Al responder a esta pregunta, </a:t>
            </a:r>
            <a:r>
              <a:rPr lang="es-ES" sz="2000"/>
              <a:t>por favor, </a:t>
            </a:r>
            <a:r>
              <a:rPr lang="es-ES" sz="2000" dirty="0"/>
              <a:t>reflexiona sobre tus respuestas anteriores. Tu respuesta debe reflejar tu impresión general sobre la calidad del curso y no un aspecto específico.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C93655-E292-759D-332F-304614A5DA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706" y="1027289"/>
            <a:ext cx="7430144" cy="44961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1A08289-EA60-4953-D93A-AF664AB18D13}"/>
              </a:ext>
            </a:extLst>
          </p:cNvPr>
          <p:cNvSpPr txBox="1"/>
          <p:nvPr/>
        </p:nvSpPr>
        <p:spPr>
          <a:xfrm>
            <a:off x="462844" y="5634227"/>
            <a:ext cx="1152595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Es importante destacar que solo el 9 y el 10 representan ‘Satisfecho’</a:t>
            </a:r>
          </a:p>
          <a:p>
            <a:pPr algn="ctr"/>
            <a:endParaRPr lang="es-ES" b="1" dirty="0"/>
          </a:p>
          <a:p>
            <a:pPr algn="ctr"/>
            <a:r>
              <a:rPr lang="es-ES" sz="2400" b="1" dirty="0"/>
              <a:t>¡Muchas gracias!</a:t>
            </a:r>
            <a:endParaRPr lang="en-GB" sz="2400" b="1" dirty="0"/>
          </a:p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7970877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MODEL_TYPE" val="cover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2675</TotalTime>
  <Words>5886</Words>
  <Application>Microsoft Office PowerPoint</Application>
  <PresentationFormat>Widescreen</PresentationFormat>
  <Paragraphs>600</Paragraphs>
  <Slides>43</Slides>
  <Notes>43</Notes>
  <HiddenSlides>0</HiddenSlides>
  <MMClips>1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4" baseType="lpstr">
      <vt:lpstr>Aptos</vt:lpstr>
      <vt:lpstr>Aptos Display</vt:lpstr>
      <vt:lpstr>Arial</vt:lpstr>
      <vt:lpstr>Cambria Math</vt:lpstr>
      <vt:lpstr>Segoe Sans Text</vt:lpstr>
      <vt:lpstr>Segoe UI</vt:lpstr>
      <vt:lpstr>Segoe UI Semibold</vt:lpstr>
      <vt:lpstr>Segoe UI Symbol</vt:lpstr>
      <vt:lpstr>Wingdings</vt:lpstr>
      <vt:lpstr>Wingdings 2</vt:lpstr>
      <vt:lpstr>Office Theme</vt:lpstr>
      <vt:lpstr>IA Generativa y  Microsoft Copilot  para profesionales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MOD Administrator</dc:creator>
  <cp:lastModifiedBy>MOD Administrator</cp:lastModifiedBy>
  <cp:revision>27</cp:revision>
  <dcterms:created xsi:type="dcterms:W3CDTF">2026-06-04T08:20:33Z</dcterms:created>
  <dcterms:modified xsi:type="dcterms:W3CDTF">2026-06-08T11:20:39Z</dcterms:modified>
</cp:coreProperties>
</file>