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22.svg" ContentType="image/svg"/>
  <Override PartName="/ppt/media/image23.svg" ContentType="image/sv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7" r:id="rId2"/>
    <p:sldId id="296" r:id="rId3"/>
    <p:sldId id="2147479800" r:id="rId4"/>
    <p:sldId id="279" r:id="rId5"/>
    <p:sldId id="260" r:id="rId6"/>
    <p:sldId id="2147479801" r:id="rId7"/>
    <p:sldId id="2147479802" r:id="rId8"/>
    <p:sldId id="2147482585" r:id="rId9"/>
    <p:sldId id="2147482588" r:id="rId10"/>
    <p:sldId id="2147482608" r:id="rId11"/>
    <p:sldId id="2147482639" r:id="rId12"/>
    <p:sldId id="2147482657" r:id="rId13"/>
    <p:sldId id="2147482589" r:id="rId14"/>
    <p:sldId id="2147478584" r:id="rId15"/>
    <p:sldId id="2147482609" r:id="rId16"/>
    <p:sldId id="2147482613" r:id="rId17"/>
    <p:sldId id="2147479900" r:id="rId18"/>
    <p:sldId id="2147482596" r:id="rId19"/>
    <p:sldId id="2147482610" r:id="rId20"/>
    <p:sldId id="2147482590" r:id="rId21"/>
    <p:sldId id="2147482638" r:id="rId22"/>
    <p:sldId id="2147482600" r:id="rId23"/>
    <p:sldId id="2147482611" r:id="rId24"/>
    <p:sldId id="2147482614" r:id="rId25"/>
    <p:sldId id="2147482623" r:id="rId26"/>
    <p:sldId id="2147482619" r:id="rId27"/>
    <p:sldId id="2147482621" r:id="rId28"/>
    <p:sldId id="2147482631" r:id="rId29"/>
    <p:sldId id="2147482632" r:id="rId30"/>
    <p:sldId id="2147482633" r:id="rId31"/>
    <p:sldId id="2147482602" r:id="rId32"/>
    <p:sldId id="2147482637" r:id="rId33"/>
    <p:sldId id="2147482592" r:id="rId34"/>
    <p:sldId id="288" r:id="rId35"/>
    <p:sldId id="2147482624" r:id="rId36"/>
    <p:sldId id="2147482642" r:id="rId37"/>
    <p:sldId id="2147482612" r:id="rId38"/>
    <p:sldId id="2147482591" r:id="rId39"/>
    <p:sldId id="2147482580" r:id="rId40"/>
    <p:sldId id="2147482626" r:id="rId41"/>
    <p:sldId id="2147482636" r:id="rId42"/>
    <p:sldId id="2147482601" r:id="rId43"/>
    <p:sldId id="2147482627" r:id="rId44"/>
    <p:sldId id="2147482628" r:id="rId45"/>
    <p:sldId id="294" r:id="rId46"/>
    <p:sldId id="2147482629" r:id="rId47"/>
    <p:sldId id="2147482603" r:id="rId48"/>
    <p:sldId id="2147482635" r:id="rId49"/>
    <p:sldId id="2147482643" r:id="rId50"/>
    <p:sldId id="2147482644" r:id="rId51"/>
    <p:sldId id="2147482645" r:id="rId52"/>
    <p:sldId id="2147482646" r:id="rId53"/>
    <p:sldId id="2147482647" r:id="rId54"/>
    <p:sldId id="2147482648" r:id="rId55"/>
    <p:sldId id="2147482649" r:id="rId56"/>
    <p:sldId id="2147482650" r:id="rId57"/>
    <p:sldId id="2147482651" r:id="rId58"/>
    <p:sldId id="2147482652" r:id="rId59"/>
    <p:sldId id="2147482653" r:id="rId60"/>
    <p:sldId id="2147482654" r:id="rId61"/>
    <p:sldId id="2147482655" r:id="rId62"/>
    <p:sldId id="2147482656" r:id="rId63"/>
    <p:sldId id="2147482594" r:id="rId64"/>
    <p:sldId id="2147482595" r:id="rId6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965D6C3-B9FA-4D3D-A351-6EFDCF75DBDD}">
          <p14:sldIdLst>
            <p14:sldId id="257"/>
            <p14:sldId id="296"/>
            <p14:sldId id="2147479800"/>
            <p14:sldId id="279"/>
          </p14:sldIdLst>
        </p14:section>
        <p14:section name="Intro a la IA generativa" id="{CD5E760E-D8FC-468C-B0AE-61EA21FEC47C}">
          <p14:sldIdLst>
            <p14:sldId id="260"/>
            <p14:sldId id="2147479801"/>
            <p14:sldId id="2147479802"/>
            <p14:sldId id="2147482585"/>
            <p14:sldId id="2147482588"/>
            <p14:sldId id="2147482608"/>
            <p14:sldId id="2147482639"/>
            <p14:sldId id="2147482657"/>
          </p14:sldIdLst>
        </p14:section>
        <p14:section name="M365 Copilot en acción" id="{00654798-0F2F-4D3B-ADA8-8EEF679E1C1B}">
          <p14:sldIdLst>
            <p14:sldId id="2147482589"/>
            <p14:sldId id="2147478584"/>
            <p14:sldId id="2147482609"/>
            <p14:sldId id="2147482613"/>
            <p14:sldId id="2147479900"/>
            <p14:sldId id="2147482596"/>
            <p14:sldId id="2147482610"/>
            <p14:sldId id="2147482590"/>
            <p14:sldId id="2147482638"/>
          </p14:sldIdLst>
        </p14:section>
        <p14:section name="El arte del prompting" id="{FC0D8D8F-B082-450B-8DC0-2F8F36D93C91}">
          <p14:sldIdLst>
            <p14:sldId id="2147482600"/>
            <p14:sldId id="2147482611"/>
            <p14:sldId id="2147482614"/>
            <p14:sldId id="2147482623"/>
            <p14:sldId id="2147482619"/>
            <p14:sldId id="2147482621"/>
            <p14:sldId id="2147482631"/>
            <p14:sldId id="2147482632"/>
            <p14:sldId id="2147482633"/>
            <p14:sldId id="2147482602"/>
            <p14:sldId id="2147482637"/>
          </p14:sldIdLst>
        </p14:section>
        <p14:section name="Multimodalidad en Copilot" id="{DB9E9850-0663-4545-B8AE-0B586BFA96C6}">
          <p14:sldIdLst>
            <p14:sldId id="2147482592"/>
            <p14:sldId id="288"/>
            <p14:sldId id="2147482624"/>
            <p14:sldId id="2147482642"/>
            <p14:sldId id="2147482612"/>
            <p14:sldId id="2147482591"/>
            <p14:sldId id="2147482580"/>
            <p14:sldId id="2147482626"/>
            <p14:sldId id="2147482636"/>
          </p14:sldIdLst>
        </p14:section>
        <p14:section name="Ética en el uso de la IA" id="{68B4B143-5D06-4580-93C2-C5D3DBC4A745}">
          <p14:sldIdLst>
            <p14:sldId id="2147482601"/>
            <p14:sldId id="2147482627"/>
            <p14:sldId id="2147482628"/>
            <p14:sldId id="294"/>
            <p14:sldId id="2147482629"/>
            <p14:sldId id="2147482603"/>
            <p14:sldId id="2147482635"/>
          </p14:sldIdLst>
        </p14:section>
        <p14:section name="Agentes de IA" id="{A6E27C41-3B5D-4F8A-9C12-7E0D5B3A9F44}">
          <p14:sldIdLst>
            <p14:sldId id="2147482643"/>
            <p14:sldId id="2147482644"/>
            <p14:sldId id="2147482645"/>
            <p14:sldId id="2147482646"/>
            <p14:sldId id="2147482647"/>
            <p14:sldId id="2147482648"/>
            <p14:sldId id="2147482649"/>
          </p14:sldIdLst>
        </p14:section>
        <p14:section name="Copilot CoWork" id="{B7F38D52-4E6C-5A9B-AD23-8F1E6C4BA055}">
          <p14:sldIdLst>
            <p14:sldId id="2147482650"/>
            <p14:sldId id="2147482651"/>
            <p14:sldId id="2147482652"/>
            <p14:sldId id="2147482653"/>
            <p14:sldId id="2147482654"/>
            <p14:sldId id="2147482655"/>
            <p14:sldId id="2147482656"/>
          </p14:sldIdLst>
        </p14:section>
        <p14:section name="Conclusion" id="{22929847-2A6F-4E17-8B5E-2D61DB933FC9}">
          <p14:sldIdLst>
            <p14:sldId id="2147482594"/>
            <p14:sldId id="21474825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50D5"/>
    <a:srgbClr val="EC55A0"/>
    <a:srgbClr val="7C3AED"/>
    <a:srgbClr val="3B82F6"/>
    <a:srgbClr val="0D9488"/>
    <a:srgbClr val="109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EDBB9A-2922-4046-B99D-0545AA58121F}" v="16" dt="2026-07-03T08:19:55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 autoAdjust="0"/>
    <p:restoredTop sz="62543" autoAdjust="0"/>
  </p:normalViewPr>
  <p:slideViewPr>
    <p:cSldViewPr snapToGrid="0">
      <p:cViewPr varScale="1">
        <p:scale>
          <a:sx n="73" d="100"/>
          <a:sy n="73" d="100"/>
        </p:scale>
        <p:origin x="1932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Quijano" userId="8fd70a15eeb99ef6" providerId="LiveId" clId="{A2C67731-1E1D-405D-96E6-2D1D11C2529B}"/>
    <pc:docChg chg="undo custSel addSld modSld sldOrd addSection modSection">
      <pc:chgData name="Juan Quijano" userId="8fd70a15eeb99ef6" providerId="LiveId" clId="{A2C67731-1E1D-405D-96E6-2D1D11C2529B}" dt="2026-07-03T08:34:02.519" v="157"/>
      <pc:docMkLst>
        <pc:docMk/>
      </pc:docMkLst>
      <pc:sldChg chg="modSp mod">
        <pc:chgData name="Juan Quijano" userId="8fd70a15eeb99ef6" providerId="LiveId" clId="{A2C67731-1E1D-405D-96E6-2D1D11C2529B}" dt="2026-07-02T07:06:04.088" v="135" actId="20577"/>
        <pc:sldMkLst>
          <pc:docMk/>
          <pc:sldMk cId="2990949632" sldId="257"/>
        </pc:sldMkLst>
        <pc:spChg chg="mod">
          <ac:chgData name="Juan Quijano" userId="8fd70a15eeb99ef6" providerId="LiveId" clId="{A2C67731-1E1D-405D-96E6-2D1D11C2529B}" dt="2026-07-02T07:06:04.088" v="135" actId="20577"/>
          <ac:spMkLst>
            <pc:docMk/>
            <pc:sldMk cId="2990949632" sldId="257"/>
            <ac:spMk id="3" creationId="{89C41FFC-98DE-D88F-0E7B-C6C97F2B6D99}"/>
          </ac:spMkLst>
        </pc:spChg>
      </pc:sldChg>
      <pc:sldChg chg="addSp modSp mod modNotesTx">
        <pc:chgData name="Juan Quijano" userId="8fd70a15eeb99ef6" providerId="LiveId" clId="{A2C67731-1E1D-405D-96E6-2D1D11C2529B}" dt="2026-07-01T07:18:21.237" v="127" actId="122"/>
        <pc:sldMkLst>
          <pc:docMk/>
          <pc:sldMk cId="2823399482" sldId="279"/>
        </pc:sldMkLst>
        <pc:spChg chg="add 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3" creationId="{BCA23890-64B5-761E-25DF-74B13B42D16C}"/>
          </ac:spMkLst>
        </pc:spChg>
        <pc:spChg chg="add mod">
          <ac:chgData name="Juan Quijano" userId="8fd70a15eeb99ef6" providerId="LiveId" clId="{A2C67731-1E1D-405D-96E6-2D1D11C2529B}" dt="2026-06-30T06:58:09.921" v="45" actId="20577"/>
          <ac:spMkLst>
            <pc:docMk/>
            <pc:sldMk cId="2823399482" sldId="279"/>
            <ac:spMk id="5" creationId="{D8EE3016-F7EC-FE54-C497-FCA4D69370CA}"/>
          </ac:spMkLst>
        </pc:spChg>
        <pc:spChg chg="add mod">
          <ac:chgData name="Juan Quijano" userId="8fd70a15eeb99ef6" providerId="LiveId" clId="{A2C67731-1E1D-405D-96E6-2D1D11C2529B}" dt="2026-06-30T07:29:03.054" v="88" actId="26606"/>
          <ac:spMkLst>
            <pc:docMk/>
            <pc:sldMk cId="2823399482" sldId="279"/>
            <ac:spMk id="7" creationId="{894691CA-C655-6589-71CE-CE47B8A9CFE6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10" creationId="{00000000-0000-0000-0000-000000000000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12" creationId="{00000000-0000-0000-0000-000000000000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16" creationId="{00000000-0000-0000-0000-000000000000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18" creationId="{00000000-0000-0000-0000-000000000000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20" creationId="{00000000-0000-0000-0000-000000000000}"/>
          </ac:spMkLst>
        </pc:spChg>
        <pc:spChg chg="mod">
          <ac:chgData name="Juan Quijano" userId="8fd70a15eeb99ef6" providerId="LiveId" clId="{A2C67731-1E1D-405D-96E6-2D1D11C2529B}" dt="2026-06-30T06:58:06.944" v="43" actId="1076"/>
          <ac:spMkLst>
            <pc:docMk/>
            <pc:sldMk cId="2823399482" sldId="279"/>
            <ac:spMk id="21" creationId="{00000000-0000-0000-0000-000000000000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22" creationId="{00000000-0000-0000-0000-000000000000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23" creationId="{00000000-0000-0000-0000-000000000000}"/>
          </ac:spMkLst>
        </pc:spChg>
        <pc:spChg chg="mod">
          <ac:chgData name="Juan Quijano" userId="8fd70a15eeb99ef6" providerId="LiveId" clId="{A2C67731-1E1D-405D-96E6-2D1D11C2529B}" dt="2026-06-30T07:49:53.555" v="89" actId="26606"/>
          <ac:spMkLst>
            <pc:docMk/>
            <pc:sldMk cId="2823399482" sldId="279"/>
            <ac:spMk id="24" creationId="{00000000-0000-0000-0000-000000000000}"/>
          </ac:spMkLst>
        </pc:spChg>
        <pc:spChg chg="add mod">
          <ac:chgData name="Juan Quijano" userId="8fd70a15eeb99ef6" providerId="LiveId" clId="{A2C67731-1E1D-405D-96E6-2D1D11C2529B}" dt="2026-07-01T07:18:21.237" v="127" actId="122"/>
          <ac:spMkLst>
            <pc:docMk/>
            <pc:sldMk cId="2823399482" sldId="279"/>
            <ac:spMk id="201" creationId="{D8EE3016-F7EC-FE54-C497-FCA4D69370DA}"/>
          </ac:spMkLst>
        </pc:spChg>
      </pc:sldChg>
      <pc:sldChg chg="modSp mod modNotesTx">
        <pc:chgData name="Juan Quijano" userId="8fd70a15eeb99ef6" providerId="LiveId" clId="{A2C67731-1E1D-405D-96E6-2D1D11C2529B}" dt="2026-06-29T06:55:17.759" v="38" actId="20577"/>
        <pc:sldMkLst>
          <pc:docMk/>
          <pc:sldMk cId="0" sldId="296"/>
        </pc:sldMkLst>
        <pc:spChg chg="mod">
          <ac:chgData name="Juan Quijano" userId="8fd70a15eeb99ef6" providerId="LiveId" clId="{A2C67731-1E1D-405D-96E6-2D1D11C2529B}" dt="2026-06-29T06:54:53.591" v="26"/>
          <ac:spMkLst>
            <pc:docMk/>
            <pc:sldMk cId="0" sldId="296"/>
            <ac:spMk id="17" creationId="{9C0C8499-9354-BF50-BD40-299FDE2CD005}"/>
          </ac:spMkLst>
        </pc:spChg>
      </pc:sldChg>
      <pc:sldChg chg="modSp">
        <pc:chgData name="Juan Quijano" userId="8fd70a15eeb99ef6" providerId="LiveId" clId="{A2C67731-1E1D-405D-96E6-2D1D11C2529B}" dt="2026-07-03T08:19:55.472" v="155" actId="20577"/>
        <pc:sldMkLst>
          <pc:docMk/>
          <pc:sldMk cId="1731971722" sldId="2147478584"/>
        </pc:sldMkLst>
        <pc:spChg chg="mod">
          <ac:chgData name="Juan Quijano" userId="8fd70a15eeb99ef6" providerId="LiveId" clId="{A2C67731-1E1D-405D-96E6-2D1D11C2529B}" dt="2026-07-03T08:19:55.472" v="155" actId="20577"/>
          <ac:spMkLst>
            <pc:docMk/>
            <pc:sldMk cId="1731971722" sldId="2147478584"/>
            <ac:spMk id="65" creationId="{8BEBA12B-F407-7CD4-8DE5-AB78DBB5D2B3}"/>
          </ac:spMkLst>
        </pc:spChg>
      </pc:sldChg>
      <pc:sldChg chg="ord">
        <pc:chgData name="Juan Quijano" userId="8fd70a15eeb99ef6" providerId="LiveId" clId="{A2C67731-1E1D-405D-96E6-2D1D11C2529B}" dt="2026-07-02T12:17:20.169" v="144"/>
        <pc:sldMkLst>
          <pc:docMk/>
          <pc:sldMk cId="426861932" sldId="2147482580"/>
        </pc:sldMkLst>
      </pc:sldChg>
      <pc:sldChg chg="mod modShow">
        <pc:chgData name="Juan Quijano" userId="8fd70a15eeb99ef6" providerId="LiveId" clId="{A2C67731-1E1D-405D-96E6-2D1D11C2529B}" dt="2026-06-29T06:56:21.295" v="40" actId="729"/>
        <pc:sldMkLst>
          <pc:docMk/>
          <pc:sldMk cId="0" sldId="2147482585"/>
        </pc:sldMkLst>
      </pc:sldChg>
      <pc:sldChg chg="ord">
        <pc:chgData name="Juan Quijano" userId="8fd70a15eeb99ef6" providerId="LiveId" clId="{A2C67731-1E1D-405D-96E6-2D1D11C2529B}" dt="2026-07-02T10:19:06.220" v="138" actId="20578"/>
        <pc:sldMkLst>
          <pc:docMk/>
          <pc:sldMk cId="668563675" sldId="2147482608"/>
        </pc:sldMkLst>
      </pc:sldChg>
      <pc:sldChg chg="ord">
        <pc:chgData name="Juan Quijano" userId="8fd70a15eeb99ef6" providerId="LiveId" clId="{A2C67731-1E1D-405D-96E6-2D1D11C2529B}" dt="2026-07-03T08:34:02.519" v="157"/>
        <pc:sldMkLst>
          <pc:docMk/>
          <pc:sldMk cId="0" sldId="2147482613"/>
        </pc:sldMkLst>
      </pc:sldChg>
      <pc:sldChg chg="ord">
        <pc:chgData name="Juan Quijano" userId="8fd70a15eeb99ef6" providerId="LiveId" clId="{A2C67731-1E1D-405D-96E6-2D1D11C2529B}" dt="2026-07-02T12:17:10.826" v="142"/>
        <pc:sldMkLst>
          <pc:docMk/>
          <pc:sldMk cId="426861933" sldId="2147482642"/>
        </pc:sldMkLst>
      </pc:sldChg>
      <pc:sldChg chg="add">
        <pc:chgData name="Juan Quijano" userId="8fd70a15eeb99ef6" providerId="LiveId" clId="{A2C67731-1E1D-405D-96E6-2D1D11C2529B}" dt="2026-06-30T07:29:03.054" v="88" actId="26606"/>
        <pc:sldMkLst>
          <pc:docMk/>
          <pc:sldMk cId="4166406280" sldId="2147482643"/>
        </pc:sldMkLst>
      </pc:sldChg>
      <pc:sldChg chg="add">
        <pc:chgData name="Juan Quijano" userId="8fd70a15eeb99ef6" providerId="LiveId" clId="{A2C67731-1E1D-405D-96E6-2D1D11C2529B}" dt="2026-06-30T07:29:03.054" v="88" actId="26606"/>
        <pc:sldMkLst>
          <pc:docMk/>
          <pc:sldMk cId="1317048943" sldId="2147482644"/>
        </pc:sldMkLst>
      </pc:sldChg>
      <pc:sldChg chg="modSp add mod">
        <pc:chgData name="Juan Quijano" userId="8fd70a15eeb99ef6" providerId="LiveId" clId="{A2C67731-1E1D-405D-96E6-2D1D11C2529B}" dt="2026-06-30T08:54:09.035" v="122" actId="20577"/>
        <pc:sldMkLst>
          <pc:docMk/>
          <pc:sldMk cId="0" sldId="2147482645"/>
        </pc:sldMkLst>
        <pc:spChg chg="mod">
          <ac:chgData name="Juan Quijano" userId="8fd70a15eeb99ef6" providerId="LiveId" clId="{A2C67731-1E1D-405D-96E6-2D1D11C2529B}" dt="2026-06-30T08:54:09.035" v="122" actId="20577"/>
          <ac:spMkLst>
            <pc:docMk/>
            <pc:sldMk cId="0" sldId="2147482645"/>
            <ac:spMk id="22" creationId="{00000000-0000-0000-0000-000000000000}"/>
          </ac:spMkLst>
        </pc:spChg>
      </pc:sldChg>
      <pc:sldChg chg="add">
        <pc:chgData name="Juan Quijano" userId="8fd70a15eeb99ef6" providerId="LiveId" clId="{A2C67731-1E1D-405D-96E6-2D1D11C2529B}" dt="2026-06-30T07:29:03.054" v="88" actId="26606"/>
        <pc:sldMkLst>
          <pc:docMk/>
          <pc:sldMk cId="2987356401" sldId="2147482646"/>
        </pc:sldMkLst>
      </pc:sldChg>
      <pc:sldChg chg="add">
        <pc:chgData name="Juan Quijano" userId="8fd70a15eeb99ef6" providerId="LiveId" clId="{A2C67731-1E1D-405D-96E6-2D1D11C2529B}" dt="2026-06-30T07:29:03.054" v="88" actId="26606"/>
        <pc:sldMkLst>
          <pc:docMk/>
          <pc:sldMk cId="674540213" sldId="2147482647"/>
        </pc:sldMkLst>
      </pc:sldChg>
      <pc:sldChg chg="add">
        <pc:chgData name="Juan Quijano" userId="8fd70a15eeb99ef6" providerId="LiveId" clId="{A2C67731-1E1D-405D-96E6-2D1D11C2529B}" dt="2026-06-30T07:29:03.054" v="88" actId="26606"/>
        <pc:sldMkLst>
          <pc:docMk/>
          <pc:sldMk cId="113264384" sldId="2147482648"/>
        </pc:sldMkLst>
      </pc:sldChg>
      <pc:sldChg chg="add">
        <pc:chgData name="Juan Quijano" userId="8fd70a15eeb99ef6" providerId="LiveId" clId="{A2C67731-1E1D-405D-96E6-2D1D11C2529B}" dt="2026-06-30T07:29:03.054" v="88" actId="26606"/>
        <pc:sldMkLst>
          <pc:docMk/>
          <pc:sldMk cId="0" sldId="2147482649"/>
        </pc:sldMkLst>
      </pc:sldChg>
      <pc:sldChg chg="add">
        <pc:chgData name="Juan Quijano" userId="8fd70a15eeb99ef6" providerId="LiveId" clId="{A2C67731-1E1D-405D-96E6-2D1D11C2529B}" dt="2026-06-30T07:49:53.555" v="89" actId="26606"/>
        <pc:sldMkLst>
          <pc:docMk/>
          <pc:sldMk cId="4166406280" sldId="2147482650"/>
        </pc:sldMkLst>
      </pc:sldChg>
      <pc:sldChg chg="add">
        <pc:chgData name="Juan Quijano" userId="8fd70a15eeb99ef6" providerId="LiveId" clId="{A2C67731-1E1D-405D-96E6-2D1D11C2529B}" dt="2026-06-30T07:49:53.555" v="89" actId="26606"/>
        <pc:sldMkLst>
          <pc:docMk/>
          <pc:sldMk cId="1317048943" sldId="2147482651"/>
        </pc:sldMkLst>
      </pc:sldChg>
      <pc:sldChg chg="add">
        <pc:chgData name="Juan Quijano" userId="8fd70a15eeb99ef6" providerId="LiveId" clId="{A2C67731-1E1D-405D-96E6-2D1D11C2529B}" dt="2026-06-30T07:49:53.555" v="89" actId="26606"/>
        <pc:sldMkLst>
          <pc:docMk/>
          <pc:sldMk cId="0" sldId="2147482652"/>
        </pc:sldMkLst>
      </pc:sldChg>
      <pc:sldChg chg="add">
        <pc:chgData name="Juan Quijano" userId="8fd70a15eeb99ef6" providerId="LiveId" clId="{A2C67731-1E1D-405D-96E6-2D1D11C2529B}" dt="2026-06-30T07:49:53.555" v="89" actId="26606"/>
        <pc:sldMkLst>
          <pc:docMk/>
          <pc:sldMk cId="2987356401" sldId="2147482653"/>
        </pc:sldMkLst>
      </pc:sldChg>
      <pc:sldChg chg="add">
        <pc:chgData name="Juan Quijano" userId="8fd70a15eeb99ef6" providerId="LiveId" clId="{A2C67731-1E1D-405D-96E6-2D1D11C2529B}" dt="2026-06-30T07:49:53.555" v="89" actId="26606"/>
        <pc:sldMkLst>
          <pc:docMk/>
          <pc:sldMk cId="674540213" sldId="2147482654"/>
        </pc:sldMkLst>
      </pc:sldChg>
      <pc:sldChg chg="add">
        <pc:chgData name="Juan Quijano" userId="8fd70a15eeb99ef6" providerId="LiveId" clId="{A2C67731-1E1D-405D-96E6-2D1D11C2529B}" dt="2026-06-30T07:49:53.555" v="89" actId="26606"/>
        <pc:sldMkLst>
          <pc:docMk/>
          <pc:sldMk cId="113264384" sldId="2147482655"/>
        </pc:sldMkLst>
      </pc:sldChg>
      <pc:sldChg chg="add">
        <pc:chgData name="Juan Quijano" userId="8fd70a15eeb99ef6" providerId="LiveId" clId="{A2C67731-1E1D-405D-96E6-2D1D11C2529B}" dt="2026-06-30T07:49:53.555" v="89" actId="26606"/>
        <pc:sldMkLst>
          <pc:docMk/>
          <pc:sldMk cId="0" sldId="2147482656"/>
        </pc:sldMkLst>
      </pc:sldChg>
      <pc:sldChg chg="addSp delSp modSp new mod">
        <pc:chgData name="Juan Quijano" userId="8fd70a15eeb99ef6" providerId="LiveId" clId="{A2C67731-1E1D-405D-96E6-2D1D11C2529B}" dt="2026-07-01T08:04:51.716" v="133"/>
        <pc:sldMkLst>
          <pc:docMk/>
          <pc:sldMk cId="2636134843" sldId="21474826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A21E6-DD49-4AD4-A49B-C63125EF9D72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E7C20-BC88-45D6-B320-F3AF01C8D5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253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knowledge.az1.qualtrics.com/jfe/form/SV_2l9xxtKvLOyJCKN?EVENTID=ES74105" TargetMode="External"/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Diapositiva de espera mientras se incorporan los participantes.</a:t>
            </a:r>
          </a:p>
          <a:p>
            <a:r>
              <a:rPr lang="es-ES" dirty="0"/>
              <a:t>Dar la bienvenida y confirmar que el curso trata sobre IA generativa y Microsoft </a:t>
            </a:r>
            <a:r>
              <a:rPr lang="es-ES" dirty="0" err="1"/>
              <a:t>Copilot</a:t>
            </a:r>
            <a:r>
              <a:rPr lang="es-ES" dirty="0"/>
              <a:t> para profesionales.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AE7D9C-7997-4B0E-99F1-D84FA702949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586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de la formadora: Juan Quijano, Microsoft </a:t>
            </a:r>
            <a:r>
              <a:rPr lang="es-ES" dirty="0" err="1"/>
              <a:t>Certified</a:t>
            </a:r>
            <a:r>
              <a:rPr lang="es-ES" dirty="0"/>
              <a:t> Trainer.</a:t>
            </a:r>
          </a:p>
          <a:p>
            <a:r>
              <a:rPr lang="es-ES" dirty="0"/>
              <a:t>Más de 10 años de experiencia en formación en Power BI, Power </a:t>
            </a:r>
            <a:r>
              <a:rPr lang="es-ES" dirty="0" err="1"/>
              <a:t>Platform</a:t>
            </a:r>
            <a:r>
              <a:rPr lang="es-ES" dirty="0"/>
              <a:t>, </a:t>
            </a:r>
            <a:r>
              <a:rPr lang="es-ES" dirty="0" err="1"/>
              <a:t>Fabric</a:t>
            </a:r>
            <a:r>
              <a:rPr lang="es-ES" dirty="0"/>
              <a:t> y Azure.</a:t>
            </a:r>
          </a:p>
          <a:p>
            <a:r>
              <a:rPr lang="es-ES" dirty="0"/>
              <a:t>Especializada en datos: IA, data </a:t>
            </a:r>
            <a:r>
              <a:rPr lang="es-ES" dirty="0" err="1"/>
              <a:t>science</a:t>
            </a:r>
            <a:r>
              <a:rPr lang="es-ES" dirty="0"/>
              <a:t> y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F84DE-91BD-4FF3-806C-425FEE8B7025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Horario: 9 a 15</a:t>
            </a:r>
          </a:p>
          <a:p>
            <a:r>
              <a:rPr lang="es-ES" dirty="0"/>
              <a:t>Descansos: ~11:00 (30 min), ~13:15 (15 min)</a:t>
            </a:r>
          </a:p>
          <a:p>
            <a:r>
              <a:rPr lang="es-ES" dirty="0" err="1"/>
              <a:t>Mics</a:t>
            </a:r>
            <a:r>
              <a:rPr lang="es-ES" dirty="0"/>
              <a:t> y video apagados, levantar la mano para preguntas (son grupos grandes)</a:t>
            </a:r>
          </a:p>
          <a:p>
            <a:r>
              <a:rPr lang="es-ES" dirty="0"/>
              <a:t>Les paso la evaluación con el último </a:t>
            </a:r>
            <a:r>
              <a:rPr lang="es-ES" dirty="0" err="1"/>
              <a:t>lab</a:t>
            </a:r>
            <a:r>
              <a:rPr lang="es-ES" dirty="0"/>
              <a:t> y de nuevo para cerrar la clase</a:t>
            </a:r>
          </a:p>
          <a:p>
            <a:endParaRPr lang="es-ES" dirty="0"/>
          </a:p>
          <a:p>
            <a:r>
              <a:rPr lang="es-ES" dirty="0"/>
              <a:t>Recursos: </a:t>
            </a:r>
            <a:br>
              <a:rPr lang="es-ES" dirty="0"/>
            </a:br>
            <a:r>
              <a:rPr lang="es-ES" dirty="0"/>
              <a:t>- Materiales: https://github.com/quizeth/Labs/tree/main/IA%20y%20Copilot%20para%20business%20professionals</a:t>
            </a:r>
          </a:p>
          <a:p>
            <a:r>
              <a:rPr lang="es-ES" dirty="0"/>
              <a:t>- PPT: https://github.com/quizeth/Labs/blob/main/IA%20y%20Copilot%20para%20business%20professionals/IA%20Generativa%20y%20Microsoft%20Copilot%20para%20profesionales.pptx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9720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Presentar los cinco bloques del curso:</a:t>
            </a:r>
          </a:p>
          <a:p>
            <a:pPr marL="228600" indent="-228600">
              <a:buAutoNum type="arabicParenR"/>
            </a:pPr>
            <a:r>
              <a:rPr lang="es-ES" dirty="0"/>
              <a:t>Introducción a la IA generativa. 2) Microsoft 365 </a:t>
            </a:r>
            <a:r>
              <a:rPr lang="es-ES" dirty="0" err="1"/>
              <a:t>Copilot</a:t>
            </a:r>
            <a:r>
              <a:rPr lang="es-ES" dirty="0"/>
              <a:t> en acción. 3) El arte del </a:t>
            </a:r>
            <a:r>
              <a:rPr lang="es-ES" dirty="0" err="1"/>
              <a:t>prompting</a:t>
            </a:r>
            <a:r>
              <a:rPr lang="es-ES" dirty="0"/>
              <a:t>. 4) Multimodalidad en la IA. 5) Ética en el uso de la IA. 6) Agentes y </a:t>
            </a:r>
            <a:r>
              <a:rPr lang="es-ES" dirty="0" err="1"/>
              <a:t>Cowork</a:t>
            </a:r>
            <a:endParaRPr lang="es-ES" dirty="0"/>
          </a:p>
          <a:p>
            <a:pPr marL="0" indent="0">
              <a:buNone/>
            </a:pPr>
            <a:endParaRPr lang="es-E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8219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Transición al primer bloque: Introducción a la IA generativa.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5671BD-0411-45FF-8531-FDACC0C9F18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15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Definir IA como el conjunto de técnicas que imitan capacidades humanas: comprender lenguaje, ver imágenes, razonar y decidir.</a:t>
            </a:r>
          </a:p>
          <a:p>
            <a:r>
              <a:rPr lang="es-ES"/>
              <a:t>Explicar el ciclo de aprendizaje automático en cuatro pasos: 1) aprende de los datos, 2) crea un modelo, 3) responde en contexto, 4) mejora continuamente con uso y supervisión humana.</a:t>
            </a:r>
          </a:p>
          <a:p>
            <a:r>
              <a:rPr lang="es-ES"/>
              <a:t>Mensaje clave para los alumnos: la IA no "piensa", reconoce patrones estadísticos en grandes volúmenes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Introducir el concepto de IA generativa partiendo de una definición sencilla: modelos entrenados con enormes cantidades de texto que aprenden patrones del lenguaje y generan respuestas coherentes.</a:t>
            </a:r>
          </a:p>
          <a:p>
            <a:r>
              <a:rPr lang="es-ES" dirty="0"/>
              <a:t>Explicar qué es un LLM (Large Language Model) y por qué constituye el motor detrás de asistentes como Microsoft Copilot.</a:t>
            </a:r>
          </a:p>
          <a:p>
            <a:r>
              <a:rPr lang="es-ES" dirty="0"/>
              <a:t>Recorrer las tres fases del funcionamiento: 1) interpretación del prompt, donde el modelo convierte la instrucción en intención y contexto; 2) generación token a token; 3) producción de la respuesta final manteniendo coherencia.</a:t>
            </a:r>
          </a:p>
          <a:p>
            <a:r>
              <a:rPr lang="es-ES" dirty="0"/>
              <a:t>Usar una analogía cotidiana (por ejemplo, autocompletar muy avanzado) para que la audiencia conecte con la idea antes de pasar a los ejemplos prácticos de la siguiente sección.</a:t>
            </a:r>
          </a:p>
          <a:p>
            <a:r>
              <a:rPr lang="es-ES" dirty="0"/>
              <a:t>Recordar que el modelo no “entiende” como una persona: predice la siguiente palabra más probable, lo cual enlaza con la importancia de validar las respuestas que veremos en los principios de uso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E7C20-BC88-45D6-B320-F3AF01C8D59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540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Tres </a:t>
            </a:r>
            <a:r>
              <a:rPr lang="es-ES" dirty="0"/>
              <a:t>grandes áreas </a:t>
            </a:r>
            <a:r>
              <a:rPr lang="es-ES"/>
              <a:t>profesionales</a:t>
            </a:r>
            <a:r>
              <a:rPr lang="es-ES" dirty="0"/>
              <a:t>: </a:t>
            </a:r>
            <a:r>
              <a:rPr lang="es-ES"/>
              <a:t>documentación (informes, emails, resúmenes), análisis (</a:t>
            </a:r>
            <a:r>
              <a:rPr lang="es-ES" dirty="0"/>
              <a:t>datos</a:t>
            </a:r>
            <a:r>
              <a:rPr lang="es-ES"/>
              <a:t>, gráficos, tendencias) y comunicación (traducción, </a:t>
            </a:r>
            <a:r>
              <a:rPr lang="es-ES" dirty="0"/>
              <a:t>tono </a:t>
            </a:r>
            <a:r>
              <a:rPr lang="es-ES"/>
              <a:t>adaptado</a:t>
            </a:r>
            <a:r>
              <a:rPr lang="es-ES" dirty="0"/>
              <a:t>, </a:t>
            </a:r>
            <a:r>
              <a:rPr lang="es-ES"/>
              <a:t>FAQs).</a:t>
            </a:r>
            <a:endParaRPr lang="es-ES" dirty="0"/>
          </a:p>
          <a:p>
            <a:r>
              <a:rPr lang="es-ES"/>
              <a:t>Preguntar</a:t>
            </a:r>
            <a:r>
              <a:rPr lang="es-ES" dirty="0"/>
              <a:t>: ¿</a:t>
            </a:r>
            <a:r>
              <a:rPr lang="es-ES"/>
              <a:t>en</a:t>
            </a:r>
            <a:r>
              <a:rPr lang="es-ES" dirty="0"/>
              <a:t> cuál de estas tres áreas perdéis más tiempo actualmente?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69BF-AAC2-935B-969F-1640B11F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F078B-068D-55B0-2693-A7AC22744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DFF8B-DAA0-875C-EE75-2CE2F4A25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Fuente: </a:t>
            </a:r>
            <a:br>
              <a:rPr lang="es-ES" dirty="0"/>
            </a:br>
            <a:r>
              <a:rPr lang="es-ES" dirty="0"/>
              <a:t>https://www.anthropic.com/research/labor-market-impacts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39EBF-F066-45E6-8E66-826933173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8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Comparar Shadow AI (herramientas no autorizadas) frente a </a:t>
            </a:r>
            <a:r>
              <a:rPr lang="es-ES" dirty="0" err="1"/>
              <a:t>Copilot</a:t>
            </a:r>
            <a:r>
              <a:rPr lang="es-ES" dirty="0"/>
              <a:t> empresarial.</a:t>
            </a:r>
          </a:p>
          <a:p>
            <a:r>
              <a:rPr lang="es-ES" dirty="0"/>
              <a:t>Riesgos de Shadow AI: fuga de datos, sin cumplimiento legal, datos que entrenan modelos externos.</a:t>
            </a:r>
          </a:p>
          <a:p>
            <a:r>
              <a:rPr lang="es-ES" dirty="0" err="1"/>
              <a:t>Copilot</a:t>
            </a:r>
            <a:r>
              <a:rPr lang="es-ES" dirty="0"/>
              <a:t>: datos seguros en tu entorno, cumple GDPR, control total para TI y tus datos nunca entrenan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9806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Transición al segundo bloque: Microsoft 365 Copilot en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B9107C-3FFB-44DE-9448-B3AEC06E96D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378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179C-626E-B8BE-845D-2C918556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9AA94-336A-DB25-4E82-A8EABC555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4EF0E-3C0B-084A-18DC-64E8187BF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Diferenciar Copilot Chat (gratuito, chat web con IA) de Microsoft 365 Copilot (asistente completo integrado en apps M365).</a:t>
            </a:r>
          </a:p>
          <a:p>
            <a:r>
              <a:rPr lang="es-ES"/>
              <a:t>Copilot Chat: chat seguro con últimos modelos, agentes de pago por uso y controles de TI.</a:t>
            </a:r>
          </a:p>
          <a:p>
            <a:r>
              <a:rPr lang="es-ES"/>
              <a:t>M365 Copilot: todo lo anterior más chat fundamentado en datos de trabajo, agentes sin pago por consumo, Copilot en todas las apps y herramientas de administración avanzadas.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918389A-174A-E1C0-B7A5-EB38DA62AAEA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0394C-1BE6-7872-5367-012C1AC39E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Sans Text"/>
                <a:ea typeface="Segoe Sans Text"/>
                <a:cs typeface="Segoe Sans Text"/>
              </a:rPr>
              <a:t>© Microsoft Corporation. Todos los derechos reservados. MICROSOFT NO OFRECE NINGUNA GARANTÍA, YA SEA EXPRESA, IMPLÍCITA O REGLAMENTARIA, RESPECTO A LA INFORMACIÓN DE ESTA PRESENTACIÓN.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1AFA84-1788-3EF7-96EF-E6446BDF0E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DB6565-EEE0-442A-8DC8-09FA435478BA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7/3/2026 9:00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F8C78-70C5-9DFE-A47B-E3F62797B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598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Repasar el cuadro comparativo entre la versión básica (gratuita) y la versión con licencia de Microsoft 365 </a:t>
            </a:r>
            <a:r>
              <a:rPr lang="es-ES" dirty="0" err="1"/>
              <a:t>Copilot</a:t>
            </a:r>
            <a:r>
              <a:rPr lang="es-ES" dirty="0"/>
              <a:t>.</a:t>
            </a:r>
          </a:p>
          <a:p>
            <a:r>
              <a:rPr lang="es-ES" dirty="0"/>
              <a:t>Versión básica: chat web con los últimos LLM, búsqueda en la web, carga de archivos, generación de imágenes y contenido, agentes de pago por uso y protección de datos empresariales.</a:t>
            </a:r>
          </a:p>
          <a:p>
            <a:r>
              <a:rPr lang="es-ES" dirty="0"/>
              <a:t>Versión con licencia: todo lo anterior más chat fundamentado en los datos de la organización, </a:t>
            </a:r>
            <a:r>
              <a:rPr lang="es-ES" dirty="0" err="1"/>
              <a:t>Copilot</a:t>
            </a:r>
            <a:r>
              <a:rPr lang="es-ES" dirty="0"/>
              <a:t> integrado en Word, Excel, PowerPoint, Outlook y </a:t>
            </a:r>
            <a:r>
              <a:rPr lang="es-ES" dirty="0" err="1"/>
              <a:t>Teams</a:t>
            </a:r>
            <a:r>
              <a:rPr lang="es-ES" dirty="0"/>
              <a:t>, agentes sin pago por consumo y administración y análisis avanzados.</a:t>
            </a:r>
          </a:p>
          <a:p>
            <a:r>
              <a:rPr lang="es-ES" dirty="0"/>
              <a:t>Advertir: algunas funcionalidades pueden estar restringidas según la política de seguridad de cada organización.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15</a:t>
            </a:fld>
            <a:endParaRPr 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DEMO – REQUIERE CUENTA PREMIUM</a:t>
            </a:r>
          </a:p>
          <a:p>
            <a:endParaRPr lang="es-ES" dirty="0"/>
          </a:p>
          <a:p>
            <a:r>
              <a:rPr lang="es-ES" dirty="0"/>
              <a:t>Capacidades reservadas a los usuarios con licencia Microsoft 365 </a:t>
            </a:r>
            <a:r>
              <a:rPr lang="es-ES" dirty="0" err="1"/>
              <a:t>Copilot</a:t>
            </a:r>
            <a:r>
              <a:rPr lang="es-ES" dirty="0"/>
              <a:t>: Agentes (sin pago por uso) y Work </a:t>
            </a:r>
            <a:r>
              <a:rPr lang="es-ES" dirty="0" err="1"/>
              <a:t>mode</a:t>
            </a:r>
            <a:r>
              <a:rPr lang="es-ES" dirty="0"/>
              <a:t> (chat fundamentado en los datos de la organización).</a:t>
            </a:r>
          </a:p>
          <a:p>
            <a:r>
              <a:rPr lang="es-ES" dirty="0"/>
              <a:t>Agentes: asistentes especializados que combinan LLM, instrucciones, conocimiento y acciones para resolver tareas concretas. Pueden venir del </a:t>
            </a:r>
            <a:r>
              <a:rPr lang="es-ES" dirty="0" err="1"/>
              <a:t>marketplace</a:t>
            </a:r>
            <a:r>
              <a:rPr lang="es-ES" dirty="0"/>
              <a:t> de Microsoft, crearse con </a:t>
            </a:r>
            <a:r>
              <a:rPr lang="es-ES" dirty="0" err="1"/>
              <a:t>Copilot</a:t>
            </a:r>
            <a:r>
              <a:rPr lang="es-ES" dirty="0"/>
              <a:t> Studio o ser publicados por TI.</a:t>
            </a:r>
          </a:p>
          <a:p>
            <a:r>
              <a:rPr lang="es-ES" dirty="0"/>
              <a:t>Work </a:t>
            </a:r>
            <a:r>
              <a:rPr lang="es-ES" dirty="0" err="1"/>
              <a:t>mode</a:t>
            </a:r>
            <a:r>
              <a:rPr lang="es-ES" dirty="0"/>
              <a:t>: acceso a correos, archivos, chats y reuniones a través de Microsoft Graph, páginas de </a:t>
            </a:r>
            <a:r>
              <a:rPr lang="es-ES" dirty="0" err="1"/>
              <a:t>Copilot</a:t>
            </a:r>
            <a:r>
              <a:rPr lang="es-ES" dirty="0"/>
              <a:t> para colaborar en tiempo real y </a:t>
            </a:r>
            <a:r>
              <a:rPr lang="es-ES" dirty="0" err="1"/>
              <a:t>Copilot</a:t>
            </a:r>
            <a:r>
              <a:rPr lang="es-ES" dirty="0"/>
              <a:t> integrado en Word, Excel, PowerPoint y Outlook.</a:t>
            </a:r>
          </a:p>
          <a:p>
            <a:r>
              <a:rPr lang="es-ES" dirty="0"/>
              <a:t>Recordar: todas estas capacidades respetan los permisos existentes de cada usuario en Microsoft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16</a:t>
            </a:fld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Dos formas de acceder a Copilot Chat en web: directamente en m365.cloud.microsoft o desde el icono de Copilot en Microsoft Edge.</a:t>
            </a:r>
          </a:p>
          <a:p>
            <a:r>
              <a:rPr lang="es-ES"/>
              <a:t>Iniciar sesión con la cuenta profesional.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7/3/2026 9:00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01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Incidir en que la app de escritorio es Microsoft 365 </a:t>
            </a:r>
            <a:r>
              <a:rPr lang="es-ES" dirty="0" err="1"/>
              <a:t>Copilot</a:t>
            </a:r>
            <a:r>
              <a:rPr lang="es-ES" dirty="0"/>
              <a:t>, no </a:t>
            </a:r>
            <a:r>
              <a:rPr lang="es-ES" dirty="0" err="1"/>
              <a:t>Copilot</a:t>
            </a:r>
            <a:r>
              <a:rPr lang="es-ES" dirty="0"/>
              <a:t> a secas.</a:t>
            </a:r>
          </a:p>
          <a:p>
            <a:endParaRPr lang="es-ES" dirty="0"/>
          </a:p>
          <a:p>
            <a:r>
              <a:rPr lang="es-ES" dirty="0"/>
              <a:t>Acceso desde escritorio (</a:t>
            </a:r>
            <a:r>
              <a:rPr lang="es-ES" dirty="0" err="1"/>
              <a:t>Teams</a:t>
            </a:r>
            <a:r>
              <a:rPr lang="es-ES" dirty="0"/>
              <a:t> o app Microsoft 365 en Windows/macOS) y desde móvil (app Microsoft 365 </a:t>
            </a:r>
            <a:r>
              <a:rPr lang="es-ES" dirty="0" err="1"/>
              <a:t>Copilot</a:t>
            </a:r>
            <a:r>
              <a:rPr lang="es-ES" dirty="0"/>
              <a:t> en iOS/Android).</a:t>
            </a:r>
          </a:p>
          <a:p>
            <a:r>
              <a:rPr lang="es-ES" dirty="0"/>
              <a:t>La experiencia es la misma en todas las plataformas.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6F82A-437E-42E5-B08A-AE2E32932C84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0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DEMO – CUENTA BÁSICA</a:t>
            </a:r>
          </a:p>
          <a:p>
            <a:pPr marL="171450" indent="-171450">
              <a:buFontTx/>
              <a:buChar char="-"/>
            </a:pPr>
            <a:r>
              <a:rPr lang="es-ES" dirty="0"/>
              <a:t>Explicar qué son las páginas, que salen en el </a:t>
            </a:r>
            <a:r>
              <a:rPr lang="es-ES" dirty="0" err="1"/>
              <a:t>lab</a:t>
            </a:r>
            <a:endParaRPr lang="es-ES" dirty="0"/>
          </a:p>
          <a:p>
            <a:pPr marL="0" indent="0">
              <a:buFontTx/>
              <a:buNone/>
            </a:pPr>
            <a:endParaRPr lang="es-ES" dirty="0"/>
          </a:p>
          <a:p>
            <a:r>
              <a:rPr lang="es-ES" dirty="0"/>
              <a:t>Recorrer la interfaz de </a:t>
            </a:r>
            <a:r>
              <a:rPr lang="es-ES" dirty="0" err="1"/>
              <a:t>Copilot</a:t>
            </a:r>
            <a:r>
              <a:rPr lang="es-ES" dirty="0"/>
              <a:t> Chat por zonas: menú de agentes, botón de nuevo chat, historial de conversaciones, cuadro de </a:t>
            </a:r>
            <a:r>
              <a:rPr lang="es-ES" dirty="0" err="1"/>
              <a:t>prompt</a:t>
            </a:r>
            <a:r>
              <a:rPr lang="es-ES" dirty="0"/>
              <a:t>, dictado, añadir contenido (archivos e imágenes), galería de </a:t>
            </a:r>
            <a:r>
              <a:rPr lang="es-ES" dirty="0" err="1"/>
              <a:t>prompts</a:t>
            </a:r>
            <a:r>
              <a:rPr lang="es-ES" dirty="0"/>
              <a:t>, </a:t>
            </a:r>
            <a:r>
              <a:rPr lang="es-ES" dirty="0" err="1"/>
              <a:t>prompts</a:t>
            </a:r>
            <a:r>
              <a:rPr lang="es-ES" dirty="0"/>
              <a:t> sugeridos y páginas de </a:t>
            </a:r>
            <a:r>
              <a:rPr lang="es-ES" dirty="0" err="1"/>
              <a:t>Copilot</a:t>
            </a:r>
            <a:r>
              <a:rPr lang="es-ES" dirty="0"/>
              <a:t>.</a:t>
            </a:r>
          </a:p>
          <a:p>
            <a:r>
              <a:rPr lang="es-ES" dirty="0"/>
              <a:t>Sugerencia didáctica: hacer una demo en vivo abriendo </a:t>
            </a:r>
            <a:r>
              <a:rPr lang="es-ES" dirty="0" err="1"/>
              <a:t>Copilot</a:t>
            </a:r>
            <a:r>
              <a:rPr lang="es-ES" dirty="0"/>
              <a:t> Chat y señalando cada elemento sobre la pantalla.</a:t>
            </a:r>
          </a:p>
          <a:p>
            <a:r>
              <a:rPr lang="es-ES" dirty="0"/>
              <a:t>Animar a los alumnos a explorar la galería de </a:t>
            </a:r>
            <a:r>
              <a:rPr lang="es-ES" dirty="0" err="1"/>
              <a:t>prompts</a:t>
            </a:r>
            <a:r>
              <a:rPr lang="es-ES" dirty="0"/>
              <a:t> y a guardar los suyos para reutilizarlos.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19</a:t>
            </a:fld>
            <a:endParaRPr 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8539-FE48-2AC9-C805-EDBCBF13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26CB2-34C2-02A7-A55F-A6F65ECFF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6EF7E-742D-B013-44CB-53F0EA0E6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https://github.com/quizeth/Labs/blob/main/IA%20y%20Copilot%20para%20business%20professionals/Lab%201%3A%20Primeros%20pasos%20con%20Microsoft%20365%20Copilot%20Chat.md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A42B5-73E9-9667-40A0-D40FC798D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19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Transición al tercer bloque: El arte del </a:t>
            </a:r>
            <a:r>
              <a:rPr lang="es-ES" dirty="0" err="1"/>
              <a:t>prompting</a:t>
            </a:r>
            <a:r>
              <a:rPr lang="es-E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79DC54-3EA6-4423-976D-0AB4DA0D869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4830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Definir prompt como la entrada que damos al LLM: una pregunta, un comando o incluso un comentario informal para iniciar una conversación.</a:t>
            </a:r>
          </a:p>
          <a:p>
            <a:r>
              <a:rPr lang="es-ES"/>
              <a:t>Diferenciar dos tipos: prompts de sistema, que fijan el comportamiento, el tono y las restricciones del modelo, y prompts de usuario, que son la consulta concreta.</a:t>
            </a:r>
          </a:p>
          <a:p>
            <a:r>
              <a:rPr lang="es-ES"/>
              <a:t>Recorrer los ejemplos en pantalla para mostrar la diferencia entre uno y otro.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23</a:t>
            </a:fld>
            <a:endParaRPr lang="es-E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Tres palancas para personalizar Copilot sin tener que repetir el contexto en cada prompt:</a:t>
            </a:r>
          </a:p>
          <a:p>
            <a:r>
              <a:rPr lang="es-ES"/>
              <a:t>1) Instrucciones personalizadas: definen tono, formato, idioma y reglas de comportamiento que se aplican en segundo plano en cada conversación.</a:t>
            </a:r>
          </a:p>
          <a:p>
            <a:r>
              <a:rPr lang="es-ES"/>
              <a:t>2) Perfil de trabajo: contexto organizacional (rol, departamento, área de expertise) que Copilot usa para adaptar las respuestas.</a:t>
            </a:r>
          </a:p>
          <a:p>
            <a:r>
              <a:rPr lang="es-ES"/>
              <a:t>3) Recuerdos guardados: datos y hechos que Copilot recuerda entre conversaciones, como proyectos activos o preferencias.</a:t>
            </a:r>
          </a:p>
          <a:p>
            <a:r>
              <a:rPr lang="es-ES"/>
              <a:t>Ruta para los alumnos: Configuración → Personalización → Instrucciones personalizadas.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24</a:t>
            </a:fld>
            <a:endParaRPr lang="es-E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Explicar cómo Copilot mantiene el contexto turno a turno dentro de una misma conversación: prompt del usuario, contexto resumido del historial reciente, generación combinando ambos y respuesta que se añade al historial.</a:t>
            </a:r>
          </a:p>
          <a:p>
            <a:r>
              <a:rPr lang="es-ES"/>
              <a:t>Contexto entre sesiones: las conversaciones se guardan hasta 18 meses y se pueden retomar, renombrar o eliminar desde el panel lateral.</a:t>
            </a:r>
          </a:p>
          <a:p>
            <a:r>
              <a:rPr lang="es-ES"/>
              <a:t>Recomendación práctica: abrir un nuevo chat cuando se cambia de tema para no contaminar el contexto con conversaciones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25</a:t>
            </a:fld>
            <a:endParaRPr lang="es-E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Presentar el framework RCTF como receta básica para construir un buen prompt: Rol, Contexto, Tarea, Formato.</a:t>
            </a:r>
          </a:p>
          <a:p>
            <a:r>
              <a:rPr lang="es-ES"/>
              <a:t>Rol: qué papel debe asumir la IA (analista, redactor, formador, etc.).</a:t>
            </a:r>
          </a:p>
          <a:p>
            <a:r>
              <a:rPr lang="es-ES"/>
              <a:t>Contexto: por qué lo necesitamos y quién está implicado.</a:t>
            </a:r>
          </a:p>
          <a:p>
            <a:r>
              <a:rPr lang="es-ES"/>
              <a:t>Tarea: qué queremos exactamente que haga.</a:t>
            </a:r>
          </a:p>
          <a:p>
            <a:r>
              <a:rPr lang="es-ES"/>
              <a:t>Formato: cómo debe entregar la respuesta (extensión, tono, estructura).</a:t>
            </a:r>
          </a:p>
          <a:p>
            <a:r>
              <a:rPr lang="es-ES"/>
              <a:t>Recorrer el ejemplo de inteligencia competitiva sobre Contoso para identificar cada componente.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26</a:t>
            </a:fld>
            <a:endParaRPr lang="es-E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Recorrer las buenas prácticas: ser claro y específico, proporcionar ejemplos y detalles, hacerlo ameno y cercano, ser cortés, escribir de forma legible, pedir comentarios, verificar la precisión e iterar y refinar.</a:t>
            </a:r>
          </a:p>
          <a:p>
            <a:r>
              <a:rPr lang="es-ES"/>
              <a:t>Recorrer las prácticas a evitar: ser impreciso, abusar de la jerga, solicitar contenido inapropiado o poco ético, dar instrucciones contradictorias y cambiar de tema bruscamente.</a:t>
            </a:r>
          </a:p>
          <a:p>
            <a:r>
              <a:rPr lang="es-ES"/>
              <a:t>Idea para reforzar con los alumnos: tratar la primera respuesta como un borrador, no como un resultado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27</a:t>
            </a:fld>
            <a:endParaRPr lang="es-E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Comparativa rápida: Superprompts maximizan la precisión del resultado final mediante instrucciones densas; Chain of Thoughts mejora la calidad del razonamiento haciéndolo explícito.</a:t>
            </a:r>
          </a:p>
          <a:p>
            <a:r>
              <a:rPr lang="es-ES"/>
              <a:t>Cuándo usar cada uno: Superprompts para creación de contenido y tareas estructuradas; Chain of Thoughts para lógica, matemáticas y toma de decisiones.</a:t>
            </a:r>
          </a:p>
          <a:p>
            <a:r>
              <a:rPr lang="es-ES"/>
              <a:t>Mencionar que existen más técnicas (Few-shot, Zero-shot, Role Prompting, Self-Consistency, Tree of Thoughts, ReAct) que los alumnos pueden explorar después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28</a:t>
            </a:fld>
            <a:endParaRPr lang="es-E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buNone/>
            </a:pPr>
            <a:r>
              <a:rPr lang="es-ES" sz="12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</a:t>
            </a:r>
            <a:r>
              <a:rPr lang="es-ES" sz="1200" dirty="0" err="1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superprompt</a:t>
            </a:r>
            <a:r>
              <a:rPr lang="es-ES" sz="12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 una indicación extensa y cuidadosamente diseñada que, en un único mensaje, condensa todos los elementos que el modelo necesita para resolver una tarea con precisión.</a:t>
            </a:r>
          </a:p>
          <a:p>
            <a:pPr>
              <a:spcAft>
                <a:spcPts val="600"/>
              </a:spcAft>
              <a:buNone/>
            </a:pPr>
            <a:r>
              <a:rPr lang="es-ES" sz="12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lugar de enviar varias preguntas o ir corrigiendo sobre la marcha, se anticipan los componentes clave desde el inicio: el papel que debe asumir el modelo, la situación en la que se enmarca la petición, el resultado que se espera, su estructura y las limitaciones que conviene respetar.</a:t>
            </a:r>
          </a:p>
          <a:p>
            <a:pPr>
              <a:spcAft>
                <a:spcPts val="0"/>
              </a:spcAft>
              <a:buNone/>
            </a:pPr>
            <a:r>
              <a:rPr lang="es-ES" sz="12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 objetivo es obtener una respuesta útil a la primera, reducir las iteraciones y dejar pocas zonas grises a la hora de interpretar la solicitud.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E7C20-BC88-45D6-B320-F3AF01C8D59F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337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buNone/>
            </a:pPr>
            <a:r>
              <a:rPr lang="es-ES" sz="12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 Chain </a:t>
            </a:r>
            <a:r>
              <a:rPr lang="es-ES" sz="1200" dirty="0" err="1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es-ES" sz="12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1200" dirty="0" err="1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Thought</a:t>
            </a:r>
            <a:r>
              <a:rPr lang="es-ES" sz="12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 cadena de pensamiento, consiste en invitar explícitamente al modelo a desplegar su razonamiento paso a paso antes de concluir con la respuesta definitiva.</a:t>
            </a:r>
          </a:p>
          <a:p>
            <a:pPr>
              <a:spcAft>
                <a:spcPts val="600"/>
              </a:spcAft>
              <a:buNone/>
            </a:pPr>
            <a:r>
              <a:rPr lang="es-ES" sz="12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 verbalizar cada etapa intermedia, el modelo distribuye mejor la complejidad del problema, hace visibles los supuestos y reduce los errores en tareas de aritmética, lógica, planificación o decisiones con varios criterios.</a:t>
            </a:r>
          </a:p>
          <a:p>
            <a:pPr>
              <a:spcAft>
                <a:spcPts val="0"/>
              </a:spcAft>
              <a:buNone/>
            </a:pPr>
            <a:r>
              <a:rPr lang="es-ES" sz="12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Suele activarse con frases como «razona paso a paso», «explica tu lógica antes de responder» o «detalla cada cálculo intermedio» añadidas a la petición principal.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E7C20-BC88-45D6-B320-F3AF01C8D59F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1989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891E1-8573-1AE3-69E8-96FB07583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7EFCF-5687-CAFC-8F1D-633F9C958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E93E7-7F33-EB0B-6619-79DEBC4CC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https://github.com/quizeth/Labs/blob/main/IA%20y%20Copilot%20para%20business%20professionals/Lab%202%3A%20Creaci%C3%B3n%20de%20prompts%20efectivos%20con%20el%20marco%20RCTF.md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3E37B-B87A-2682-B318-E59E980F0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325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Transición al cuarto bloque: Multimodalidad en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D86BD-3A4F-48A1-8617-F761F6AC5B4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7683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Tres pilares del contenido multimodal: texto (informes, traducciones), imágenes y video (Microsoft </a:t>
            </a:r>
            <a:r>
              <a:rPr lang="es-ES" dirty="0" err="1"/>
              <a:t>Designer</a:t>
            </a:r>
            <a:r>
              <a:rPr lang="es-ES" dirty="0"/>
              <a:t> y </a:t>
            </a:r>
            <a:r>
              <a:rPr lang="es-ES" dirty="0" err="1"/>
              <a:t>Create</a:t>
            </a:r>
            <a:r>
              <a:rPr lang="es-ES" dirty="0"/>
              <a:t> en </a:t>
            </a:r>
            <a:r>
              <a:rPr lang="es-ES" dirty="0" err="1"/>
              <a:t>Copilot</a:t>
            </a:r>
            <a:r>
              <a:rPr lang="es-ES" dirty="0"/>
              <a:t> Chat) y voz y audio (transcripción, audio sintético).</a:t>
            </a:r>
          </a:p>
          <a:p>
            <a:r>
              <a:rPr lang="es-ES" dirty="0"/>
              <a:t>El poder real está en combinar los tres: un informe (texto) con gráficos generados (imagen) y un resumen en audio (voz), todo en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https://m365.cloud.microsoft/create</a:t>
            </a:r>
          </a:p>
          <a:p>
            <a:endParaRPr lang="es-ES" dirty="0"/>
          </a:p>
          <a:p>
            <a:r>
              <a:rPr lang="es-ES" dirty="0"/>
              <a:t>DEMO – CUENTA BÁSICA</a:t>
            </a:r>
          </a:p>
          <a:p>
            <a:r>
              <a:rPr lang="es-ES" dirty="0"/>
              <a:t>- </a:t>
            </a:r>
            <a:r>
              <a:rPr lang="es-ES" dirty="0" err="1"/>
              <a:t>Prompt</a:t>
            </a:r>
            <a:r>
              <a:rPr lang="es-ES" dirty="0"/>
              <a:t> de una funcionalidad (yo hago una imagen)</a:t>
            </a:r>
          </a:p>
          <a:p>
            <a:r>
              <a:rPr lang="es-ES" dirty="0"/>
              <a:t>- Mismo </a:t>
            </a:r>
            <a:r>
              <a:rPr lang="es-ES" dirty="0" err="1"/>
              <a:t>prompt</a:t>
            </a:r>
            <a:r>
              <a:rPr lang="es-ES" dirty="0"/>
              <a:t> con o sin kit de marca (para crear el kit de marca, se necesita premium)</a:t>
            </a:r>
          </a:p>
          <a:p>
            <a:endParaRPr lang="es-ES" dirty="0"/>
          </a:p>
          <a:p>
            <a:r>
              <a:rPr lang="es-ES" dirty="0"/>
              <a:t>Funcionalidad </a:t>
            </a:r>
            <a:r>
              <a:rPr lang="es-ES" dirty="0" err="1"/>
              <a:t>Create</a:t>
            </a:r>
            <a:r>
              <a:rPr lang="es-ES" dirty="0"/>
              <a:t> en </a:t>
            </a:r>
            <a:r>
              <a:rPr lang="es-ES" dirty="0" err="1"/>
              <a:t>Copilot</a:t>
            </a:r>
            <a:r>
              <a:rPr lang="es-ES" dirty="0"/>
              <a:t> Chat: generar documentos Word, presentaciones, hojas de cálculo, imágenes, gráficos y vídeos directamente desde el chat.</a:t>
            </a:r>
          </a:p>
          <a:p>
            <a:r>
              <a:rPr lang="es-ES" dirty="0"/>
              <a:t>Consejo: ser detallado en las descripciones (estilo, colores, composición) e iterar generando varias 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4676D7-10F8-4B45-9B62-99DBBFEA35C9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296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EXIGE LICENCIA PREMIUM, pero su disponibilidad entre Indra parece que es inconsistente, así que lo hacemos como demo.</a:t>
            </a:r>
          </a:p>
          <a:p>
            <a:r>
              <a:rPr lang="es-ES" dirty="0"/>
              <a:t>https://m365.cloud.microsoft/notebooks</a:t>
            </a:r>
          </a:p>
          <a:p>
            <a:endParaRPr lang="es-ES" dirty="0"/>
          </a:p>
          <a:p>
            <a:r>
              <a:rPr lang="es-ES" dirty="0"/>
              <a:t>Los Cuadernos de </a:t>
            </a:r>
            <a:r>
              <a:rPr lang="es-ES" dirty="0" err="1"/>
              <a:t>Copilot</a:t>
            </a:r>
            <a:r>
              <a:rPr lang="es-ES" dirty="0"/>
              <a:t> (</a:t>
            </a:r>
            <a:r>
              <a:rPr lang="es-ES" dirty="0" err="1"/>
              <a:t>Copilot</a:t>
            </a:r>
            <a:r>
              <a:rPr lang="es-ES" dirty="0"/>
              <a:t> Notebooks) son espacios de trabajo con IA donde se reúnen los archivos, páginas, notas de reuniones, enlaces y chats de un proyecto para que </a:t>
            </a:r>
            <a:r>
              <a:rPr lang="es-ES" dirty="0" err="1"/>
              <a:t>Copilot</a:t>
            </a:r>
            <a:r>
              <a:rPr lang="es-ES" dirty="0"/>
              <a:t> razone únicamente con ese contenido.</a:t>
            </a:r>
          </a:p>
          <a:p>
            <a:r>
              <a:rPr lang="es-ES" dirty="0"/>
              <a:t>Cuatro ideas clave: reúne tus fuentes en un único espacio; obtén respuestas con contexto basadas solo en las referencias del cuaderno, que se actualizan en tiempo real; genera un resumen en audio tipo pódcast para repasar el material; y colabora en equipo compartiendo el cuaderno.</a:t>
            </a:r>
          </a:p>
          <a:p>
            <a:endParaRPr lang="es-ES" dirty="0"/>
          </a:p>
          <a:p>
            <a:r>
              <a:rPr lang="es-ES" dirty="0"/>
              <a:t>Recordar: requiere licencia Microsoft 365 </a:t>
            </a:r>
            <a:r>
              <a:rPr lang="es-ES" dirty="0" err="1"/>
              <a:t>Copilot</a:t>
            </a:r>
            <a:r>
              <a:rPr lang="es-ES" dirty="0"/>
              <a:t> y una licencia de SharePoint u OneDrive para crear cuadernos; respeta los permisos del usuario en Microsoft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A66DF-6829-47AC-9166-9BD558901155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215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Los Brand Kits aplican colores, tipografías y logotipos corporativos automáticamente a todo el contenido generado en Copilot Chat.</a:t>
            </a:r>
          </a:p>
          <a:p>
            <a:r>
              <a:rPr lang="es-ES"/>
              <a:t>Beneficios principales: consistencia de marca garantizada, ahorro de tiempo y costes de diseño, escalado a toda la organización, gobierno centralizado de la identidad visual y comunicación más profesional y confiable.</a:t>
            </a:r>
          </a:p>
          <a:p>
            <a:r>
              <a:rPr lang="es-ES"/>
              <a:t>Buena práctica organizativa: los kits se definen una sola vez por el equipo de marca y se reflejan automáticamente en todo el contenido que generen los empleados.</a:t>
            </a:r>
          </a:p>
          <a:p>
            <a:r>
              <a:rPr lang="es-ES"/>
              <a:t>Recordar: requiere licencia Microsoft 365 Copilot y respeta los permisos del usuario en Microsoft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37</a:t>
            </a:fld>
            <a:endParaRPr lang="es-E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B65A-F813-193B-7C7A-94721A2B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F1AEE-CA28-ABF6-59D6-E46CAA88B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C7787-C10B-B810-D7B2-DE8A2A099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s-ES" dirty="0"/>
              <a:t>https://github.com/quizeth/Labs/blob/main/IA%20y%20Copilot%20para%20business%20professionals/Lab%203%3A%20Crea%20contenido%20multimedia%20con%20%E2%80%9CCreate%E2%80%9D%20en%20Microsoft%20365%20Copilot%20Chat.md</a:t>
            </a:r>
            <a:endParaRPr lang="en-US" sz="120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E74D3-D228-C50F-D12F-D3B457305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012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Si tenemos tiempo, les hago una demo en Word.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Incido en que para usar una plantilla corporativa, hay que crear un documento en blanco con esa plantilla.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En la versión online, tenemos que ser propietarios del doc.</a:t>
            </a:r>
          </a:p>
          <a:p>
            <a:endParaRPr lang="es-ES" dirty="0"/>
          </a:p>
          <a:p>
            <a:r>
              <a:rPr lang="es-ES" dirty="0" err="1"/>
              <a:t>Copilot</a:t>
            </a:r>
            <a:r>
              <a:rPr lang="es-ES" dirty="0"/>
              <a:t> integrado en cinco aplicaciones M365:</a:t>
            </a:r>
          </a:p>
          <a:p>
            <a:r>
              <a:rPr lang="es-ES" dirty="0"/>
              <a:t>Word: borradores y resúmenes. Excel: análisis con lenguaje natural y fórmulas. PowerPoint: presentaciones desde temas o documentos. Outlook: resumen de hilos y borradores. </a:t>
            </a:r>
            <a:r>
              <a:rPr lang="es-ES" dirty="0" err="1"/>
              <a:t>Teams</a:t>
            </a:r>
            <a:r>
              <a:rPr lang="es-ES" dirty="0"/>
              <a:t>: actas automáticas y resúmenes en tiempo real.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A66DF-6829-47AC-9166-9BD558901155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215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Copilot Voice: capacidad de conversar con Copilot mediante reconocimiento y síntesis de voz.</a:t>
            </a:r>
          </a:p>
          <a:p>
            <a:r>
              <a:rPr lang="es-ES"/>
              <a:t>Casos de uso típicos: dictar prompts en lugar de escribirlos, escuchar respuestas largas mientras se hace otra tarea y mejorar la accesibilidad de la herramienta.</a:t>
            </a:r>
          </a:p>
          <a:p>
            <a:r>
              <a:rPr lang="es-ES"/>
              <a:t>Recordar: esta capacidad requiere licencia Microsoft 365 Copilot y respeta los permisos existentes del usuario en Microsoft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40</a:t>
            </a:fld>
            <a:endParaRPr lang="es-E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E7C20-BC88-45D6-B320-F3AF01C8D59F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49343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Transición al quinto y último bloque: Ética en el uso de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185519-DCBB-4D8B-A063-A62618B221A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3946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IA generativa ya forma parte del día a día de millones de profesionales; lo que hoy parece un atajo puede tener consecuencias reales mañana.</a:t>
            </a:r>
          </a:p>
          <a:p>
            <a:r>
              <a:rPr lang="es-ES" dirty="0"/>
              <a:t>Cuatro ideas para apoyar la reflexión con los alumnos: afecta a personas reales (clientes, compañeros, comunidades), construye o destruye confianza en nuestro trabajo y nuestra marca, define la cultura del mañana (los hábitos de hoy fijan el uso futuro de la IA), y evita la dependencia excesiva (la "</a:t>
            </a:r>
            <a:r>
              <a:rPr lang="es-ES" dirty="0" err="1"/>
              <a:t>overreliance</a:t>
            </a:r>
            <a:r>
              <a:rPr lang="es-ES" dirty="0"/>
              <a:t>"): revisar y validar lo que genera la IA, recordando que el asistente apoya el criterio pero la decisión final es humana.</a:t>
            </a:r>
          </a:p>
          <a:p>
            <a:r>
              <a:rPr lang="es-ES" dirty="0"/>
              <a:t>Tono: este bloque no es una lista de prohibiciones, es una invitación a aplicar criterio profesional.</a:t>
            </a:r>
          </a:p>
          <a:p>
            <a:r>
              <a:rPr lang="es-ES" dirty="0"/>
              <a:t>Marco legal: recordar que el criterio profesional convive con obligaciones normativas. Mencionar el RGPD (protección de datos), el Reglamento de IA de la UE (AI </a:t>
            </a:r>
            <a:r>
              <a:rPr lang="es-ES" dirty="0" err="1"/>
              <a:t>Act</a:t>
            </a:r>
            <a:r>
              <a:rPr lang="es-ES" dirty="0"/>
              <a:t>) que clasifica los sistemas por nivel de riesgo, y marcos de referencia como el NIST AI RMF. La idea no es memorizarlos, sino saber que existen reglas que enmarcan el uso de la IA generativa.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43</a:t>
            </a:fld>
            <a:endParaRPr lang="es-E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D1F8-3FAD-F3C7-B55D-11D4C0F9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3D2B9-6290-6E8B-E77E-12B103311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E7F75-E590-2861-7CC0-6CCC189BF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Tres </a:t>
            </a:r>
            <a:r>
              <a:rPr lang="es-ES"/>
              <a:t>casos </a:t>
            </a:r>
            <a:r>
              <a:rPr lang="es-ES" dirty="0"/>
              <a:t>reales </a:t>
            </a:r>
            <a:r>
              <a:rPr lang="es-ES"/>
              <a:t>de mal uso de IA generativa</a:t>
            </a:r>
            <a:r>
              <a:rPr lang="es-ES" dirty="0"/>
              <a:t>:</a:t>
            </a:r>
          </a:p>
          <a:p>
            <a:r>
              <a:rPr lang="es-ES"/>
              <a:t>Mata v. Avianca</a:t>
            </a:r>
            <a:r>
              <a:rPr lang="es-ES" dirty="0"/>
              <a:t>: </a:t>
            </a:r>
            <a:r>
              <a:rPr lang="es-ES"/>
              <a:t>abogado sancionado </a:t>
            </a:r>
            <a:r>
              <a:rPr lang="es-ES" dirty="0"/>
              <a:t>con </a:t>
            </a:r>
            <a:r>
              <a:rPr lang="es-ES"/>
              <a:t>5 000 $ por citas judiciales inventadas por ChatGPT</a:t>
            </a:r>
            <a:r>
              <a:rPr lang="es-ES" dirty="0"/>
              <a:t>. </a:t>
            </a:r>
            <a:r>
              <a:rPr lang="es-ES"/>
              <a:t>Samsung: datos confidenciales expuestos al usar ChatGPT internamente</a:t>
            </a:r>
            <a:r>
              <a:rPr lang="es-ES" dirty="0"/>
              <a:t>. </a:t>
            </a:r>
            <a:r>
              <a:rPr lang="es-ES"/>
              <a:t>CNET: artículos de </a:t>
            </a:r>
            <a:r>
              <a:rPr lang="es-ES" dirty="0"/>
              <a:t>IA</a:t>
            </a:r>
            <a:r>
              <a:rPr lang="es-ES"/>
              <a:t> con errores graves que destruyeron la credibilidad del medio</a:t>
            </a:r>
            <a:r>
              <a:rPr lang="es-E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16489-77B9-A44D-6384-7BF998CD45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151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Seis principios de IA responsable de Microsoft aplicados al uso profesional. Nos pueden hacer de </a:t>
            </a:r>
            <a:r>
              <a:rPr lang="es-ES" dirty="0" err="1"/>
              <a:t>checklist</a:t>
            </a:r>
            <a:r>
              <a:rPr lang="es-ES" dirty="0"/>
              <a:t> al revisar el resultado generado.</a:t>
            </a:r>
          </a:p>
          <a:p>
            <a:endParaRPr lang="es-ES" dirty="0"/>
          </a:p>
          <a:p>
            <a:r>
              <a:rPr lang="es-ES" dirty="0"/>
              <a:t>Equidad: revisar sesgos. Fiabilidad: validar resultados críticos. Privacidad: no compartir datos confidenciales con IA pública. Inclusión: soluciones accesibles para todos. Transparencia: informar cuando se usa IA. Responsabilidad: tú validas el resultado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E7C20-BC88-45D6-B320-F3AF01C8D59F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0779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FFEDA-0636-FBE6-EAA2-A9CEF81F1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35084-D652-BA25-94BD-44BA1D2EB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999F5-3189-137F-608F-C01A3B3E1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https://github.com/quizeth/Labs/blob/main/IA%20y%20Copilot%20para%20business%20professionals/Lab%204%3A%20%C3%89tica%20en%20la%20IA.md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3DAEC-BA8C-8D10-BBB8-0C17D0F03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582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E7C20-BC88-45D6-B320-F3AF01C8D59F}" type="slidenum">
              <a:rPr lang="es-ES" smtClean="0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4002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Recapitular los cinco bloques: IA generativa, </a:t>
            </a:r>
            <a:r>
              <a:rPr lang="es-ES" dirty="0" err="1"/>
              <a:t>Copilot</a:t>
            </a:r>
            <a:r>
              <a:rPr lang="es-ES" dirty="0"/>
              <a:t> en acción, </a:t>
            </a:r>
            <a:r>
              <a:rPr lang="es-ES" dirty="0" err="1"/>
              <a:t>prompting</a:t>
            </a:r>
            <a:r>
              <a:rPr lang="es-ES" dirty="0"/>
              <a:t>, multimodalidad y ética.</a:t>
            </a:r>
          </a:p>
          <a:p>
            <a:r>
              <a:rPr lang="es-ES" dirty="0"/>
              <a:t>Abrir turno de preguntas finales y resolver dudas pendientes.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Enlace al repositorio:</a:t>
            </a:r>
            <a:br>
              <a:rPr lang="es-ES" dirty="0"/>
            </a:br>
            <a:r>
              <a:rPr lang="es-ES" dirty="0"/>
              <a:t>https://github.com/quizeth/Labs/tree/12f073802b84f5f383e84d92b4daddeba5fc33c7/IA%20y%20Copilot%20para%20business%20professionals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03773-3C95-4BD1-BCBA-47F0F6B05EF7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051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Recordad que solo las puntuaciones 9 y 10 representan 'Satisfecho’. ¡Gracias por la participación!</a:t>
            </a:r>
            <a:br>
              <a:rPr lang="es-ES" dirty="0"/>
            </a:br>
            <a:br>
              <a:rPr lang="es-ES" dirty="0"/>
            </a:b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Enlace de la encuesta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ttps://globalknowledge.az1.qualtrics.com/jfe/form/SV_2l9xxtKvLOyJCKN?EVENTID=ES74105"/>
              </a:rPr>
              <a:t>https://globalknowledge.az1.qualtrics.com/jfe/form/SV_2l9xxtKvLOyJCKN?EVENTID=ES74105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1D30F-FB72-4E71-887E-2C6133CBA2B8}" type="slidenum">
              <a:rPr lang="es-ES" smtClean="0"/>
              <a:t>64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212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FFFC-55F6-09D0-AD82-710EBF9DF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2DB7C-213A-4339-85C3-513EB663B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109D4-3B09-CAEF-1B2E-5CB05AE2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D46F-F0BB-5657-E992-03109D33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9C63-2994-A9CE-8F1E-53992A22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176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0FC8-9623-2328-779E-A2879008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76BB2-2AC6-151A-C2D9-B4EEFD305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E88F-C4CA-829C-7B81-4CDF1996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831D7-BD0E-3C3E-FB71-A0DA499B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65822-D3F0-79EF-67CF-4970BD94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6082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1643-E346-2DAB-CACC-34336C60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B1DFA-0CEF-A119-DF37-52428A00D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9024-2AAC-9386-3B8A-D0520744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3AF98-A8DB-FDBF-7EEC-62CCB50F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B2E8-F3BF-5047-F09B-E77087D33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72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E449-3C51-4B35-3D93-F6B9C903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DF847-EF1A-1B5C-DC17-FD6F44525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758C7-4FF6-8132-2DA1-E329555EF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29F62-41AA-A470-D344-EB5D85D5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35213-8D71-9D61-8843-283D20BE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4FF7-45F7-1EAA-A710-71C9FD1D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5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5568-E0CA-48B9-87B9-78EF8BA3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FF685-F934-5FFC-9886-D08C94E2B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D51E7-CC91-5E8D-8106-F6D58A697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1D58A-CE8A-472F-7CB6-8C2B088E0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734F3-57FB-0E01-B7B2-7FE1DC4E1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9FE65-C161-4EA8-05FB-7303FCF6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B746A-FBE6-F987-EE00-7DDB2017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AB132-6787-52D5-3697-AA3202B3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22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20F0-3288-F7A3-C204-B7519AC2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6E3D3-C5C0-980D-53B0-D2632C1C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8D12D-1C81-D77D-9475-37FC5937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66257-2BE7-DC85-1ADA-7B646903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46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00A74-94BE-CA38-FF2C-FE956677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7FD66-9418-4590-FD47-8400E0EF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92828-43C5-533C-0C69-F1046824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581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B456-F3B7-8A96-8FD7-AB9650D7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2E38-4AB5-BA71-40F5-42D5FAEF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197CD-D22F-99F7-6A04-DF3C2D5D0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0119D-6300-AAEB-6C45-BD3F3A82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A3EEB-CDD1-D58F-DAAA-84010CFD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BD5B3-8C16-D6B9-C43B-6C7690A9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228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3ADD-BB82-6156-05CD-C644AC5A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229DA-FEE3-4869-7554-264104603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07CFE-A2CA-CA1F-313A-BFE880C68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E781F-5029-9340-F3FA-94F36AF3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F66E5-FB3D-1832-6B57-76422465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79F86-34B9-E929-C38B-CB696CEA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6012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06492-C96D-0A97-A6B2-CA4A9309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EF399-3AFE-EC21-08D6-F5CF9ED0A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38A11-76DF-6314-5414-3AD23F6C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DD36B-7DF2-ADB8-DA0F-66182A1E9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0011-41A3-66BD-A486-29DC4909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667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A4538-FE44-032F-67D6-4D7A814F9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7F24D-F60A-356B-F4E8-248E93D93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12688-1FFB-D9F5-9ABF-F47BF072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3982E-BCE4-8CD5-D28F-14094C61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C6A8-1F63-B421-1F7F-4AE813AA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2924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Cover 3 - No Logo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otif 4 B"/>
          <p:cNvPicPr>
            <a:picLocks noChangeAspect="1"/>
          </p:cNvPicPr>
          <p:nvPr userDrawn="1"/>
        </p:nvPicPr>
        <p:blipFill>
          <a:blip r:embed="rId2"/>
          <a:srcRect l="21022" t="15844" r="7538" b="130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/Users/alexrassool/Documents/Microsoft/Microsoft - 181505 - MCT - Microsoft Trainer Community/Export/Badges/PNG/Certified Trainer/MCT-badge-certified trainer-logo.pngMCT-badge-certified trainer-logo"/>
          <p:cNvPicPr>
            <a:picLocks noChangeAspect="1"/>
          </p:cNvPicPr>
          <p:nvPr userDrawn="1"/>
        </p:nvPicPr>
        <p:blipFill>
          <a:blip r:embed="rId3"/>
          <a:srcRect t="12" b="12"/>
          <a:stretch>
            <a:fillRect/>
          </a:stretch>
        </p:blipFill>
        <p:spPr>
          <a:xfrm>
            <a:off x="9497695" y="0"/>
            <a:ext cx="2694305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7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4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6688"/>
            <a:ext cx="5219700" cy="369332"/>
          </a:xfr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4200" y="2084388"/>
            <a:ext cx="5219700" cy="1175706"/>
          </a:xfrm>
        </p:spPr>
        <p:txBody>
          <a:bodyPr>
            <a:spAutoFit/>
          </a:bodyPr>
          <a:lstStyle>
            <a:lvl1pPr marL="171450" indent="-171450">
              <a:defRPr lang="en-US" sz="2000"/>
            </a:lvl1pPr>
            <a:lvl2pPr marL="342900" indent="-171450">
              <a:defRPr lang="en-US" sz="1400"/>
            </a:lvl2pPr>
            <a:lvl3pPr marL="514350" indent="-171450">
              <a:defRPr lang="en-US" sz="1100"/>
            </a:lvl3pPr>
            <a:lvl4pPr marL="666750" indent="-152400">
              <a:defRPr lang="en-US" sz="1050"/>
            </a:lvl4pPr>
            <a:lvl5pPr marL="793750" indent="-120650">
              <a:defRPr lang="en-US" sz="105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7625" y="1436688"/>
            <a:ext cx="5219700" cy="369332"/>
          </a:xfr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7625" y="2084388"/>
            <a:ext cx="5219700" cy="1175706"/>
          </a:xfrm>
        </p:spPr>
        <p:txBody>
          <a:bodyPr>
            <a:spAutoFit/>
          </a:bodyPr>
          <a:lstStyle>
            <a:lvl1pPr marL="171450" indent="-171450">
              <a:defRPr lang="en-US" sz="2000"/>
            </a:lvl1pPr>
            <a:lvl2pPr marL="342900" indent="-171450">
              <a:defRPr lang="en-US" sz="1400"/>
            </a:lvl2pPr>
            <a:lvl3pPr marL="514350" indent="-171450">
              <a:defRPr lang="en-US" sz="1100"/>
            </a:lvl3pPr>
            <a:lvl4pPr marL="685800" indent="-136525">
              <a:defRPr lang="en-US" sz="1050"/>
            </a:lvl4pPr>
            <a:lvl5pPr marL="793750" indent="-120650">
              <a:defRPr lang="en-US" sz="105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44986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EE32E-EE9B-31F8-53AF-89794FE3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2EC7F-43FE-1688-9622-E0DC1F7EB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53266-69F1-FFB3-4066-A39F13848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12B37-756D-428A-8FAB-64BE3724C99B}" type="datetimeFigureOut">
              <a:rPr lang="es-ES" smtClean="0"/>
              <a:t>03/07/2026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979E4-9940-ABF3-B838-BF7D35BE9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45A49-68B4-7B97-506B-E905B4A1E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AC046-0268-4CCD-8615-BFBA50F50B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675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exmind.co/product/pl-500-microsoft-power-rpa-developer/" TargetMode="External"/><Relationship Id="rId13" Type="http://schemas.openxmlformats.org/officeDocument/2006/relationships/image" Target="../media/image12.png"/><Relationship Id="rId18" Type="http://schemas.openxmlformats.org/officeDocument/2006/relationships/hyperlink" Target="https://www.linkedin.com/in/juanquijano/" TargetMode="External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.png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hyperlink" Target="https://github.com/quizeth/Labs/blob/main/IA%20y%20Copilot%20para%20business%20professionals/Lab%201%3A%20Primeros%20pasos%20con%20Microsoft%20365%20Copilot%20Chat.md" TargetMode="Externa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hyperlink" Target="https://github.com/quizeth/Labs/blob/main/IA%20y%20Copilot%20para%20business%20professionals/Lab%202%3A%20Creaci%C3%B3n%20de%20prompts%20efectivos%20con%20el%20marco%20RCTF.md" TargetMode="Externa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quizeth/Labs/blob/main/IA%20y%20Copilot%20para%20business%20professionals/Lab%203%3A%20Crea%20contenido%20multimedia%20con%20%E2%80%9CCreate%E2%80%9D%20en%20Microsoft%20365%20Copilot%20Chat.md" TargetMode="Externa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n06H7DbIEg?feature=oembed" TargetMode="External"/><Relationship Id="rId5" Type="http://schemas.openxmlformats.org/officeDocument/2006/relationships/image" Target="../media/image43.jpeg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hyperlink" Target="https://github.com/quizeth/Labs/blob/main/IA%20y%20Copilot%20para%20business%20professionals/Lab%204%3A%20%C3%89tica%20en%20la%20IA.md" TargetMode="Externa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EB290-0268-3E82-F6C0-D603DC45C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280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IA </a:t>
            </a:r>
            <a:r>
              <a:rPr lang="en-US" sz="2800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Generativa</a:t>
            </a:r>
            <a:br>
              <a:rPr lang="en-US" sz="280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280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para </a:t>
            </a:r>
            <a:r>
              <a:rPr lang="en-US" sz="2800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profesionales</a:t>
            </a:r>
            <a:endParaRPr lang="es-ES" sz="2800" dirty="0">
              <a:solidFill>
                <a:schemeClr val="tx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41FFC-98DE-D88F-0E7B-C6C97F2B6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s-ES" sz="2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Julio 2026</a:t>
            </a:r>
          </a:p>
        </p:txBody>
      </p:sp>
      <p:pic>
        <p:nvPicPr>
          <p:cNvPr id="11" name="Image 0" descr="Imagen ilustrativa relacionada con IA Generativa 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69" y="1815319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64D74986-6B0E-D8DD-FDC1-77E27A1E2E0F}"/>
              </a:ext>
            </a:extLst>
          </p:cNvPr>
          <p:cNvSpPr txBox="1">
            <a:spLocks/>
          </p:cNvSpPr>
          <p:nvPr/>
        </p:nvSpPr>
        <p:spPr>
          <a:xfrm>
            <a:off x="7164708" y="-5979"/>
            <a:ext cx="4805691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Empezamos en unos minutos</a:t>
            </a:r>
          </a:p>
        </p:txBody>
      </p:sp>
    </p:spTree>
    <p:extLst>
      <p:ext uri="{BB962C8B-B14F-4D97-AF65-F5344CB8AC3E}">
        <p14:creationId xmlns:p14="http://schemas.microsoft.com/office/powerpoint/2010/main" val="299094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31" descr="Imagen ilustrativa relacionada con Carmela Quijano">
            <a:extLst>
              <a:ext uri="{FF2B5EF4-FFF2-40B4-BE49-F238E27FC236}">
                <a16:creationId xmlns:a16="http://schemas.microsoft.com/office/drawing/2014/main" id="{B8D389C8-C806-03B3-F660-39704F891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9505" y="3951859"/>
            <a:ext cx="1127593" cy="1127593"/>
          </a:xfrm>
          <a:prstGeom prst="rect">
            <a:avLst/>
          </a:prstGeom>
        </p:spPr>
      </p:pic>
      <p:pic>
        <p:nvPicPr>
          <p:cNvPr id="4" name="Picture Placeholder 24" descr="Imagen ilustrativa relacionada con Carmela Quijano">
            <a:extLst>
              <a:ext uri="{FF2B5EF4-FFF2-40B4-BE49-F238E27FC236}">
                <a16:creationId xmlns:a16="http://schemas.microsoft.com/office/drawing/2014/main" id="{17869151-E73C-4257-09FC-700E09F86F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3" b="73"/>
          <a:stretch/>
        </p:blipFill>
        <p:spPr>
          <a:xfrm>
            <a:off x="1753305" y="5331080"/>
            <a:ext cx="1081088" cy="1079500"/>
          </a:xfrm>
          <a:prstGeom prst="rect">
            <a:avLst/>
          </a:prstGeom>
        </p:spPr>
      </p:pic>
      <p:pic>
        <p:nvPicPr>
          <p:cNvPr id="5" name="Picture Placeholder 4" descr="Imagen ilustrativa relacionada con Carmela Quijano">
            <a:extLst>
              <a:ext uri="{FF2B5EF4-FFF2-40B4-BE49-F238E27FC236}">
                <a16:creationId xmlns:a16="http://schemas.microsoft.com/office/drawing/2014/main" id="{1252373A-E3D0-D9AE-EED1-6FCDA50038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503" r="24732"/>
          <a:stretch>
            <a:fillRect/>
          </a:stretch>
        </p:blipFill>
        <p:spPr>
          <a:xfrm>
            <a:off x="315215" y="5330580"/>
            <a:ext cx="1062215" cy="1080000"/>
          </a:xfrm>
          <a:prstGeom prst="rect">
            <a:avLst/>
          </a:prstGeom>
        </p:spPr>
      </p:pic>
      <p:pic>
        <p:nvPicPr>
          <p:cNvPr id="6" name="Picture Placeholder 16" descr="Imagen ilustrativa relacionada con Carmela Quijano">
            <a:extLst>
              <a:ext uri="{FF2B5EF4-FFF2-40B4-BE49-F238E27FC236}">
                <a16:creationId xmlns:a16="http://schemas.microsoft.com/office/drawing/2014/main" id="{8C93F2BC-25B4-AD6A-E31D-E1E25B70B3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t="73" b="73"/>
          <a:stretch>
            <a:fillRect/>
          </a:stretch>
        </p:blipFill>
        <p:spPr>
          <a:xfrm>
            <a:off x="4111660" y="3990300"/>
            <a:ext cx="1081087" cy="1079500"/>
          </a:xfrm>
          <a:prstGeom prst="rect">
            <a:avLst/>
          </a:prstGeom>
        </p:spPr>
      </p:pic>
      <p:pic>
        <p:nvPicPr>
          <p:cNvPr id="7" name="Picture Placeholder 14" descr="Imagen ilustrativa relacionada con Carmela Quijano">
            <a:extLst>
              <a:ext uri="{FF2B5EF4-FFF2-40B4-BE49-F238E27FC236}">
                <a16:creationId xmlns:a16="http://schemas.microsoft.com/office/drawing/2014/main" id="{6DCB166C-7BDC-2C35-0F5D-06D2352BDBA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54303" y="3967558"/>
            <a:ext cx="1079500" cy="1079500"/>
          </a:xfrm>
          <a:prstGeom prst="rect">
            <a:avLst/>
          </a:prstGeom>
        </p:spPr>
      </p:pic>
      <p:pic>
        <p:nvPicPr>
          <p:cNvPr id="8" name="Picture Placeholder 27" descr="Imagen ilustrativa relacionada con Carmela Quijano">
            <a:extLst>
              <a:ext uri="{FF2B5EF4-FFF2-40B4-BE49-F238E27FC236}">
                <a16:creationId xmlns:a16="http://schemas.microsoft.com/office/drawing/2014/main" id="{1FDCE873-4863-2ED3-3166-05A3E4EB4CE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21566" y="5283012"/>
            <a:ext cx="1079500" cy="1079500"/>
          </a:xfrm>
          <a:prstGeom prst="rect">
            <a:avLst/>
          </a:prstGeom>
        </p:spPr>
      </p:pic>
      <p:pic>
        <p:nvPicPr>
          <p:cNvPr id="9" name="Picture Placeholder 22" descr="Imagen ilustrativa relacionada con Carmela Quijano">
            <a:extLst>
              <a:ext uri="{FF2B5EF4-FFF2-40B4-BE49-F238E27FC236}">
                <a16:creationId xmlns:a16="http://schemas.microsoft.com/office/drawing/2014/main" id="{8B582A76-4F7C-D287-D913-6B7BC85749A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60654" y="3999952"/>
            <a:ext cx="1079500" cy="1079500"/>
          </a:xfrm>
          <a:prstGeom prst="rect">
            <a:avLst/>
          </a:prstGeom>
        </p:spPr>
      </p:pic>
      <p:pic>
        <p:nvPicPr>
          <p:cNvPr id="11" name="Picture 6" descr="Imagen ilustrativa relacionada con Carmela Quijano">
            <a:extLst>
              <a:ext uri="{FF2B5EF4-FFF2-40B4-BE49-F238E27FC236}">
                <a16:creationId xmlns:a16="http://schemas.microsoft.com/office/drawing/2014/main" id="{A787D9A0-E1D1-BFBA-C024-3833A05E9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978" y="5331732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magen ilustrativa relacionada con Carmela Quijano">
            <a:extLst>
              <a:ext uri="{FF2B5EF4-FFF2-40B4-BE49-F238E27FC236}">
                <a16:creationId xmlns:a16="http://schemas.microsoft.com/office/drawing/2014/main" id="{C9BE0A39-D2B3-2236-56BA-4E86398F6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/>
        </p:blipFill>
        <p:spPr bwMode="auto">
          <a:xfrm>
            <a:off x="10846728" y="5331732"/>
            <a:ext cx="1080000" cy="107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magen ilustrativa relacionada con Carmela Quijano">
            <a:extLst>
              <a:ext uri="{FF2B5EF4-FFF2-40B4-BE49-F238E27FC236}">
                <a16:creationId xmlns:a16="http://schemas.microsoft.com/office/drawing/2014/main" id="{F4D2CAF0-FCAE-16DD-5EB3-E4E5B1F35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/>
          <a:srcRect/>
          <a:stretch/>
        </p:blipFill>
        <p:spPr bwMode="auto">
          <a:xfrm>
            <a:off x="9351021" y="5331732"/>
            <a:ext cx="1045664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Imagen ilustrativa relacionada con Carmela Quijano">
            <a:extLst>
              <a:ext uri="{FF2B5EF4-FFF2-40B4-BE49-F238E27FC236}">
                <a16:creationId xmlns:a16="http://schemas.microsoft.com/office/drawing/2014/main" id="{A47611EB-1922-D0AE-B630-02FD9E2F8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935" y="5331732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Placeholder 22" descr="Imagen ilustrativa relacionada con Carmela Quijano">
            <a:extLst>
              <a:ext uri="{FF2B5EF4-FFF2-40B4-BE49-F238E27FC236}">
                <a16:creationId xmlns:a16="http://schemas.microsoft.com/office/drawing/2014/main" id="{AB78E5C7-EDAA-8927-E476-B2DA6FE74CC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25904" y="3967558"/>
            <a:ext cx="1079500" cy="1079500"/>
          </a:xfrm>
          <a:prstGeom prst="rect">
            <a:avLst/>
          </a:prstGeom>
          <a:noFill/>
        </p:spPr>
      </p:pic>
      <p:pic>
        <p:nvPicPr>
          <p:cNvPr id="16" name="Picture 15" descr="Imagen ilustrativa relacionada con Carmela Quijano">
            <a:extLst>
              <a:ext uri="{FF2B5EF4-FFF2-40B4-BE49-F238E27FC236}">
                <a16:creationId xmlns:a16="http://schemas.microsoft.com/office/drawing/2014/main" id="{79C017A9-A178-2AB8-632F-A7CF88946C1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48802" y="5283013"/>
            <a:ext cx="1079499" cy="1079499"/>
          </a:xfrm>
          <a:prstGeom prst="rect">
            <a:avLst/>
          </a:prstGeom>
        </p:spPr>
      </p:pic>
      <p:sp>
        <p:nvSpPr>
          <p:cNvPr id="17" name="Rounded Rectangle 3_1">
            <a:extLst>
              <a:ext uri="{FF2B5EF4-FFF2-40B4-BE49-F238E27FC236}">
                <a16:creationId xmlns:a16="http://schemas.microsoft.com/office/drawing/2014/main" id="{9C0C8499-9354-BF50-BD40-299FDE2CD005}"/>
              </a:ext>
            </a:extLst>
          </p:cNvPr>
          <p:cNvSpPr/>
          <p:nvPr/>
        </p:nvSpPr>
        <p:spPr>
          <a:xfrm>
            <a:off x="264300" y="362446"/>
            <a:ext cx="9341103" cy="3414641"/>
          </a:xfrm>
          <a:prstGeom prst="roundRect">
            <a:avLst>
              <a:gd name="adj" fmla="val 3632"/>
            </a:avLst>
          </a:prstGeom>
          <a:noFill/>
          <a:ln>
            <a:noFill/>
          </a:ln>
          <a:effectLst>
            <a:outerShdw blurRad="127000" dist="38100" dir="8100000" sx="101000" sy="101000" algn="tr" rotWithShape="0">
              <a:srgbClr val="E2E8F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lvl="0" defTabSz="932742">
              <a:spcBef>
                <a:spcPts val="1200"/>
              </a:spcBef>
              <a:spcAft>
                <a:spcPct val="0"/>
              </a:spcAft>
              <a:defRPr/>
            </a:pPr>
            <a:r>
              <a:rPr lang="es-ES" sz="3600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/>
                <a:cs typeface="Segoe UI Semibold" panose="020B0702040204020203" pitchFamily="34" charset="0"/>
              </a:rPr>
              <a:t>Juan Quijano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b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Microsoft </a:t>
            </a:r>
            <a:r>
              <a:rPr lang="es-ES" b="0" strike="noStrike" cap="none" baseline="0" dirty="0" err="1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Certified</a:t>
            </a:r>
            <a:r>
              <a:rPr lang="es-ES" b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Trainer</a:t>
            </a:r>
            <a:endParaRPr lang="es-ES" sz="1600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>
            <a:pPr marL="285750" lvl="0" indent="-285750" defTabSz="932742">
              <a:spcBef>
                <a:spcPts val="1200"/>
              </a:spcBef>
              <a:spcAft>
                <a:spcPct val="0"/>
              </a:spcAft>
              <a:buFont typeface="Segoe UI" panose="020B0604020202020204" pitchFamily="34" charset="0"/>
              <a:buChar char="•"/>
              <a:defRPr/>
            </a:pPr>
            <a:r>
              <a:rPr lang="es-ES" sz="16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Más de 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10 años </a:t>
            </a:r>
            <a:r>
              <a:rPr lang="es-ES" sz="16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de experiencia en formación</a:t>
            </a:r>
          </a:p>
          <a:p>
            <a:pPr marL="285750" lvl="0" indent="-285750" defTabSz="932742">
              <a:spcBef>
                <a:spcPts val="1200"/>
              </a:spcBef>
              <a:spcAft>
                <a:spcPct val="0"/>
              </a:spcAft>
              <a:buFont typeface="Segoe UI" panose="020B0604020202020204" pitchFamily="34" charset="0"/>
              <a:buChar char="•"/>
              <a:defRPr/>
            </a:pPr>
            <a:r>
              <a:rPr lang="es-ES" sz="16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Microsoft </a:t>
            </a:r>
            <a:r>
              <a:rPr lang="es-ES" sz="1600" dirty="0" err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Certified</a:t>
            </a:r>
            <a:r>
              <a:rPr lang="es-ES" sz="16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Trainer desde 2018</a:t>
            </a:r>
          </a:p>
          <a:p>
            <a:pPr marL="285750" lvl="0" indent="-285750" defTabSz="932742">
              <a:spcBef>
                <a:spcPts val="1200"/>
              </a:spcBef>
              <a:spcAft>
                <a:spcPct val="0"/>
              </a:spcAft>
              <a:buFont typeface="Segoe UI" panose="020B0604020202020204" pitchFamily="34" charset="0"/>
              <a:buChar char="•"/>
              <a:defRPr/>
            </a:pPr>
            <a:r>
              <a:rPr lang="es-ES" sz="16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Especializado en </a:t>
            </a:r>
            <a:r>
              <a:rPr lang="es-ES" sz="1600" b="1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Azure</a:t>
            </a:r>
            <a:r>
              <a:rPr lang="es-ES" sz="16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,  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data </a:t>
            </a:r>
            <a:r>
              <a:rPr lang="es-ES" sz="1600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science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, IA y </a:t>
            </a:r>
            <a:r>
              <a:rPr lang="es-ES" sz="1600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business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 </a:t>
            </a:r>
            <a:r>
              <a:rPr lang="es-ES" sz="1600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intelligence</a:t>
            </a:r>
            <a:endParaRPr lang="es-ES" sz="1600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>
            <a:pPr marL="285750" indent="-285750" defTabSz="932742">
              <a:spcBef>
                <a:spcPts val="1200"/>
              </a:spcBef>
              <a:spcAft>
                <a:spcPct val="0"/>
              </a:spcAft>
              <a:buFont typeface="Segoe UI" panose="020B0604020202020204" pitchFamily="34" charset="0"/>
              <a:buChar char="•"/>
              <a:defRPr/>
            </a:pPr>
            <a:endParaRPr lang="es-ES" sz="1600" b="1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>
            <a:pPr lvl="0" defTabSz="932742">
              <a:spcBef>
                <a:spcPts val="1200"/>
              </a:spcBef>
              <a:spcAft>
                <a:spcPct val="0"/>
              </a:spcAft>
              <a:defRPr/>
            </a:pPr>
            <a:r>
              <a:rPr lang="es-ES" sz="14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LinkedIn: </a:t>
            </a:r>
            <a:r>
              <a:rPr lang="es-ES" sz="1400" b="1" dirty="0">
                <a:solidFill>
                  <a:srgbClr val="1E293B"/>
                </a:solidFill>
                <a:latin typeface="Segoe UI"/>
                <a:ea typeface="Segoe UI"/>
                <a:cs typeface="Segoe UI"/>
                <a:hlinkClick r:id="rId18"/>
              </a:rPr>
              <a:t>https://www.linkedin.com/in/juanquijano/</a:t>
            </a:r>
            <a:endParaRPr lang="es-ES" sz="1400" b="1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Logística</a:t>
            </a:r>
            <a:endParaRPr lang="en-US" sz="3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75360" y="1550000"/>
            <a:ext cx="3000000" cy="20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5" name="Shape 2"/>
          <p:cNvSpPr/>
          <p:nvPr/>
        </p:nvSpPr>
        <p:spPr>
          <a:xfrm>
            <a:off x="2100360" y="1850000"/>
            <a:ext cx="750000" cy="7500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 sz="2353"/>
          </a:p>
        </p:txBody>
      </p:sp>
      <p:sp>
        <p:nvSpPr>
          <p:cNvPr id="6" name="Text 3"/>
          <p:cNvSpPr/>
          <p:nvPr/>
        </p:nvSpPr>
        <p:spPr>
          <a:xfrm>
            <a:off x="2100360" y="1850000"/>
            <a:ext cx="75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75360" y="2800000"/>
            <a:ext cx="2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Horario</a:t>
            </a:r>
            <a:r>
              <a:rPr lang="en-US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y </a:t>
            </a:r>
            <a:r>
              <a:rPr lang="en-US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descansos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96000" y="1550000"/>
            <a:ext cx="3000000" cy="20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 dirty="0"/>
          </a:p>
        </p:txBody>
      </p:sp>
      <p:sp>
        <p:nvSpPr>
          <p:cNvPr id="11" name="Shape 8"/>
          <p:cNvSpPr/>
          <p:nvPr/>
        </p:nvSpPr>
        <p:spPr>
          <a:xfrm>
            <a:off x="5721000" y="1850000"/>
            <a:ext cx="750000" cy="7500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 sz="2353"/>
          </a:p>
        </p:txBody>
      </p:sp>
      <p:sp>
        <p:nvSpPr>
          <p:cNvPr id="12" name="Text 9"/>
          <p:cNvSpPr/>
          <p:nvPr/>
        </p:nvSpPr>
        <p:spPr>
          <a:xfrm>
            <a:off x="5721000" y="1850000"/>
            <a:ext cx="75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96000" y="2800000"/>
            <a:ext cx="2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Etiqueta virtual y preguntas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216640" y="1550000"/>
            <a:ext cx="3000000" cy="20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17" name="Shape 14"/>
          <p:cNvSpPr/>
          <p:nvPr/>
        </p:nvSpPr>
        <p:spPr>
          <a:xfrm>
            <a:off x="9341640" y="1850000"/>
            <a:ext cx="750000" cy="7500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 sz="2353"/>
          </a:p>
        </p:txBody>
      </p:sp>
      <p:sp>
        <p:nvSpPr>
          <p:cNvPr id="18" name="Text 15"/>
          <p:cNvSpPr/>
          <p:nvPr/>
        </p:nvSpPr>
        <p:spPr>
          <a:xfrm>
            <a:off x="9341640" y="1850000"/>
            <a:ext cx="75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416640" y="2800000"/>
            <a:ext cx="2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Evaluación</a:t>
            </a:r>
            <a:r>
              <a:rPr lang="en-US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final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Graphic 8" descr="Icono ilustrativo en la diapositiva sobre Logística">
            <a:extLst>
              <a:ext uri="{FF2B5EF4-FFF2-40B4-BE49-F238E27FC236}">
                <a16:creationId xmlns:a16="http://schemas.microsoft.com/office/drawing/2014/main" id="{FEFDFA4D-8BF9-F1A8-C9D9-05E73C59F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6000" y="1955000"/>
            <a:ext cx="540000" cy="540000"/>
          </a:xfrm>
          <a:prstGeom prst="rect">
            <a:avLst/>
          </a:prstGeom>
        </p:spPr>
      </p:pic>
      <p:pic>
        <p:nvPicPr>
          <p:cNvPr id="15" name="Graphic 14" descr="Icono ilustrativo en la diapositiva sobre Logística">
            <a:extLst>
              <a:ext uri="{FF2B5EF4-FFF2-40B4-BE49-F238E27FC236}">
                <a16:creationId xmlns:a16="http://schemas.microsoft.com/office/drawing/2014/main" id="{9B94C19B-CC53-9EA0-2A58-810F117A5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5360" y="1955000"/>
            <a:ext cx="540000" cy="540000"/>
          </a:xfrm>
          <a:prstGeom prst="rect">
            <a:avLst/>
          </a:prstGeom>
        </p:spPr>
      </p:pic>
      <p:pic>
        <p:nvPicPr>
          <p:cNvPr id="21" name="Graphic 20" descr="Icono ilustrativo en la diapositiva sobre Logística">
            <a:extLst>
              <a:ext uri="{FF2B5EF4-FFF2-40B4-BE49-F238E27FC236}">
                <a16:creationId xmlns:a16="http://schemas.microsoft.com/office/drawing/2014/main" id="{9AFEA27D-C3AE-82AD-D489-DF4597CBF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6640" y="1940000"/>
            <a:ext cx="540000" cy="540000"/>
          </a:xfrm>
          <a:prstGeom prst="rect">
            <a:avLst/>
          </a:prstGeom>
        </p:spPr>
      </p:pic>
      <p:sp>
        <p:nvSpPr>
          <p:cNvPr id="30" name="Shape 30"/>
          <p:cNvSpPr/>
          <p:nvPr/>
        </p:nvSpPr>
        <p:spPr>
          <a:xfrm>
            <a:off x="2785680" y="3900000"/>
            <a:ext cx="3000000" cy="20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31" name="Shape 31"/>
          <p:cNvSpPr/>
          <p:nvPr/>
        </p:nvSpPr>
        <p:spPr>
          <a:xfrm>
            <a:off x="3910680" y="4200000"/>
            <a:ext cx="750000" cy="7500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sz="2353"/>
          </a:p>
        </p:txBody>
      </p:sp>
      <p:sp>
        <p:nvSpPr>
          <p:cNvPr id="32" name="Text 32"/>
          <p:cNvSpPr/>
          <p:nvPr/>
        </p:nvSpPr>
        <p:spPr>
          <a:xfrm>
            <a:off x="3910680" y="4200000"/>
            <a:ext cx="75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800" dirty="0">
                <a:solidFill>
                  <a:srgbClr val="FFFFFF"/>
                </a:solidFill>
                <a:latin typeface="Segoe UI Semibold" panose="020B0702040204020203" pitchFamily="34" charset="0"/>
              </a:rPr>
              <a:t>≡</a:t>
            </a:r>
            <a:endParaRPr lang="en-US" sz="2800" dirty="0"/>
          </a:p>
        </p:txBody>
      </p:sp>
      <p:sp>
        <p:nvSpPr>
          <p:cNvPr id="33" name="Text 33"/>
          <p:cNvSpPr/>
          <p:nvPr/>
        </p:nvSpPr>
        <p:spPr>
          <a:xfrm>
            <a:off x="2885680" y="5050000"/>
            <a:ext cx="28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8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Estructura del curso</a:t>
            </a:r>
            <a:endParaRPr lang="en-US" sz="1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6406320" y="3900000"/>
            <a:ext cx="3000000" cy="20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41" name="Shape 41"/>
          <p:cNvSpPr/>
          <p:nvPr/>
        </p:nvSpPr>
        <p:spPr>
          <a:xfrm>
            <a:off x="7531320" y="4200000"/>
            <a:ext cx="750000" cy="7500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 sz="2353"/>
          </a:p>
        </p:txBody>
      </p:sp>
      <p:sp>
        <p:nvSpPr>
          <p:cNvPr id="42" name="Text 42"/>
          <p:cNvSpPr/>
          <p:nvPr/>
        </p:nvSpPr>
        <p:spPr>
          <a:xfrm>
            <a:off x="7531320" y="4200000"/>
            <a:ext cx="75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800">
                <a:solidFill>
                  <a:srgbClr val="FFFFFF"/>
                </a:solidFill>
                <a:latin typeface="Segoe UI Semibold" panose="020B0702040204020203" pitchFamily="34" charset="0"/>
              </a:rPr>
              <a:t>☆</a:t>
            </a:r>
            <a:endParaRPr lang="en-US" sz="2800"/>
          </a:p>
        </p:txBody>
      </p:sp>
      <p:sp>
        <p:nvSpPr>
          <p:cNvPr id="43" name="Text 43"/>
          <p:cNvSpPr/>
          <p:nvPr/>
        </p:nvSpPr>
        <p:spPr>
          <a:xfrm>
            <a:off x="6506320" y="5050000"/>
            <a:ext cx="28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8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Recursos</a:t>
            </a:r>
            <a:endParaRPr lang="en-US" sz="18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Image 0" descr="Imagen ilustrativa relacionada con Logística">
            <a:extLst>
              <a:ext uri="{FF2B5EF4-FFF2-40B4-BE49-F238E27FC236}">
                <a16:creationId xmlns:a16="http://schemas.microsoft.com/office/drawing/2014/main" id="{2D49DD92-8BE1-CCFF-F7F5-61C512782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0"/>
          <p:cNvSpPr/>
          <p:nvPr/>
        </p:nvSpPr>
        <p:spPr>
          <a:xfrm>
            <a:off x="310070" y="1260000"/>
            <a:ext cx="10764696" cy="6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11" name="Bg1"/>
          <p:cNvSpPr/>
          <p:nvPr/>
        </p:nvSpPr>
        <p:spPr>
          <a:xfrm>
            <a:off x="310070" y="2060000"/>
            <a:ext cx="10764696" cy="6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12" name="Bg2"/>
          <p:cNvSpPr/>
          <p:nvPr/>
        </p:nvSpPr>
        <p:spPr>
          <a:xfrm>
            <a:off x="310070" y="2860000"/>
            <a:ext cx="10764696" cy="6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13" name="Bg3"/>
          <p:cNvSpPr/>
          <p:nvPr/>
        </p:nvSpPr>
        <p:spPr>
          <a:xfrm>
            <a:off x="310070" y="3660000"/>
            <a:ext cx="10764696" cy="6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14" name="Bg4"/>
          <p:cNvSpPr/>
          <p:nvPr/>
        </p:nvSpPr>
        <p:spPr>
          <a:xfrm>
            <a:off x="310070" y="4460000"/>
            <a:ext cx="10764696" cy="6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15" name="Pill0"/>
          <p:cNvSpPr txBox="1"/>
          <p:nvPr/>
        </p:nvSpPr>
        <p:spPr>
          <a:xfrm>
            <a:off x="467495" y="1398900"/>
            <a:ext cx="607841" cy="3722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5804">
                <a:srgbClr val="0D9488"/>
              </a:gs>
              <a:gs pos="80000">
                <a:srgbClr val="0D9488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</a:ln>
          <a:effectLst>
            <a:outerShdw blurRad="635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Semibold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b="0" i="0" strike="noStrike" cap="none" baseline="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16" name="Pill1"/>
          <p:cNvSpPr txBox="1"/>
          <p:nvPr/>
        </p:nvSpPr>
        <p:spPr>
          <a:xfrm>
            <a:off x="467495" y="2198900"/>
            <a:ext cx="607841" cy="3722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5000">
                <a:srgbClr val="0D9488"/>
              </a:gs>
              <a:gs pos="15000">
                <a:srgbClr val="3B82F6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</a:ln>
          <a:effectLst>
            <a:outerShdw blurRad="635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Semibold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b="0" i="0" strike="noStrike" cap="none" baseline="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17" name="Pill2"/>
          <p:cNvSpPr txBox="1"/>
          <p:nvPr/>
        </p:nvSpPr>
        <p:spPr>
          <a:xfrm>
            <a:off x="467495" y="2998900"/>
            <a:ext cx="607841" cy="3722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5804">
                <a:srgbClr val="3B82F6"/>
              </a:gs>
              <a:gs pos="80000">
                <a:srgbClr val="3B82F6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</a:ln>
          <a:effectLst>
            <a:outerShdw blurRad="635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Semibold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b="0" i="0" strike="noStrike" cap="none" baseline="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18" name="Pill3"/>
          <p:cNvSpPr txBox="1"/>
          <p:nvPr/>
        </p:nvSpPr>
        <p:spPr>
          <a:xfrm>
            <a:off x="467495" y="3798900"/>
            <a:ext cx="607841" cy="3722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5000">
                <a:srgbClr val="3B82F6"/>
              </a:gs>
              <a:gs pos="15000">
                <a:srgbClr val="7C3AED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</a:ln>
          <a:effectLst>
            <a:outerShdw blurRad="635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Semibold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b="0" i="0" strike="noStrike" cap="none" baseline="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19" name="Pill4"/>
          <p:cNvSpPr txBox="1"/>
          <p:nvPr/>
        </p:nvSpPr>
        <p:spPr>
          <a:xfrm>
            <a:off x="467495" y="4598900"/>
            <a:ext cx="607841" cy="3722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5804">
                <a:srgbClr val="7C3AED"/>
              </a:gs>
              <a:gs pos="80000">
                <a:srgbClr val="7C3AED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</a:ln>
          <a:effectLst>
            <a:outerShdw blurRad="635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Semibold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b="0" i="0" strike="noStrike" cap="none" baseline="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  <p:sp>
        <p:nvSpPr>
          <p:cNvPr id="20" name="Text0"/>
          <p:cNvSpPr txBox="1">
            <a:spLocks/>
          </p:cNvSpPr>
          <p:nvPr/>
        </p:nvSpPr>
        <p:spPr>
          <a:xfrm>
            <a:off x="1357952" y="1260000"/>
            <a:ext cx="10100000" cy="650000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s-ES" sz="2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Introducción a la IA generativa</a:t>
            </a:r>
          </a:p>
        </p:txBody>
      </p:sp>
      <p:sp>
        <p:nvSpPr>
          <p:cNvPr id="21" name="Text1"/>
          <p:cNvSpPr txBox="1">
            <a:spLocks/>
          </p:cNvSpPr>
          <p:nvPr/>
        </p:nvSpPr>
        <p:spPr>
          <a:xfrm>
            <a:off x="1357952" y="2060000"/>
            <a:ext cx="10100000" cy="650000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s-ES" sz="2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Microsoft 365 Copilot en acción</a:t>
            </a:r>
          </a:p>
        </p:txBody>
      </p:sp>
      <p:sp>
        <p:nvSpPr>
          <p:cNvPr id="22" name="Text2"/>
          <p:cNvSpPr txBox="1">
            <a:spLocks/>
          </p:cNvSpPr>
          <p:nvPr/>
        </p:nvSpPr>
        <p:spPr>
          <a:xfrm>
            <a:off x="1357952" y="2860000"/>
            <a:ext cx="10100000" cy="650000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s-ES" sz="24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El arte del </a:t>
            </a:r>
            <a:r>
              <a:rPr lang="es-ES" sz="2400" i="1" dirty="0" err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prompting</a:t>
            </a:r>
            <a:endParaRPr lang="es-ES" sz="2400" i="1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3" name="Text3"/>
          <p:cNvSpPr txBox="1">
            <a:spLocks/>
          </p:cNvSpPr>
          <p:nvPr/>
        </p:nvSpPr>
        <p:spPr>
          <a:xfrm>
            <a:off x="1357952" y="3660000"/>
            <a:ext cx="10100000" cy="650000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s-ES" sz="24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Multimodalidad en M365 </a:t>
            </a:r>
            <a:r>
              <a:rPr lang="es-ES" sz="2400" dirty="0" err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Copilot</a:t>
            </a:r>
            <a:endParaRPr lang="es-ES" sz="2400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4" name="Text4"/>
          <p:cNvSpPr txBox="1">
            <a:spLocks/>
          </p:cNvSpPr>
          <p:nvPr/>
        </p:nvSpPr>
        <p:spPr>
          <a:xfrm>
            <a:off x="1357952" y="4460000"/>
            <a:ext cx="10100000" cy="650000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s-ES" sz="24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Ética en el uso de la IA</a:t>
            </a:r>
          </a:p>
        </p:txBody>
      </p:sp>
      <p:pic>
        <p:nvPicPr>
          <p:cNvPr id="8" name="Image 0" descr="Imagen ilustrativa relacionada con Age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975360" y="4876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Agenda</a:t>
            </a:r>
          </a:p>
        </p:txBody>
      </p:sp>
      <p:sp>
        <p:nvSpPr>
          <p:cNvPr id="3" name="Bg4">
            <a:extLst>
              <a:ext uri="{FF2B5EF4-FFF2-40B4-BE49-F238E27FC236}">
                <a16:creationId xmlns:a16="http://schemas.microsoft.com/office/drawing/2014/main" id="{BCA23890-64B5-761E-25DF-74B13B42D16C}"/>
              </a:ext>
            </a:extLst>
          </p:cNvPr>
          <p:cNvSpPr/>
          <p:nvPr/>
        </p:nvSpPr>
        <p:spPr>
          <a:xfrm>
            <a:off x="339640" y="5260000"/>
            <a:ext cx="10764696" cy="6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5" name="Pill4">
            <a:extLst>
              <a:ext uri="{FF2B5EF4-FFF2-40B4-BE49-F238E27FC236}">
                <a16:creationId xmlns:a16="http://schemas.microsoft.com/office/drawing/2014/main" id="{D8EE3016-F7EC-FE54-C497-FCA4D69370CA}"/>
              </a:ext>
            </a:extLst>
          </p:cNvPr>
          <p:cNvSpPr txBox="1"/>
          <p:nvPr/>
        </p:nvSpPr>
        <p:spPr>
          <a:xfrm>
            <a:off x="497065" y="5398900"/>
            <a:ext cx="607841" cy="3722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5804">
                <a:srgbClr val="7C3AED"/>
              </a:gs>
              <a:gs pos="80000">
                <a:srgbClr val="7C3AED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</a:ln>
          <a:effectLst>
            <a:outerShdw blurRad="635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Semibold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600" b="0" i="0" strike="noStrike" cap="none" baseline="0" dirty="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  <p:sp>
        <p:nvSpPr>
          <p:cNvPr id="7" name="Text4">
            <a:extLst>
              <a:ext uri="{FF2B5EF4-FFF2-40B4-BE49-F238E27FC236}">
                <a16:creationId xmlns:a16="http://schemas.microsoft.com/office/drawing/2014/main" id="{894691CA-C655-6589-71CE-CE47B8A9CFE6}"/>
              </a:ext>
            </a:extLst>
          </p:cNvPr>
          <p:cNvSpPr txBox="1">
            <a:spLocks/>
          </p:cNvSpPr>
          <p:nvPr/>
        </p:nvSpPr>
        <p:spPr>
          <a:xfrm>
            <a:off x="1387522" y="5260000"/>
            <a:ext cx="10100000" cy="650000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s-ES" sz="24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Agentes </a:t>
            </a:r>
            <a:r>
              <a:rPr lang="es-ES" sz="2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de IA</a:t>
            </a:r>
            <a:endParaRPr lang="es-ES" sz="2400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00" name="Bg5">
            <a:extLst>
              <a:ext uri="{FF2B5EF4-FFF2-40B4-BE49-F238E27FC236}">
                <a16:creationId xmlns:a16="http://schemas.microsoft.com/office/drawing/2014/main" id="{BCA23890-64B5-761E-25DF-74B13B42D17C}"/>
              </a:ext>
            </a:extLst>
          </p:cNvPr>
          <p:cNvSpPr/>
          <p:nvPr/>
        </p:nvSpPr>
        <p:spPr>
          <a:xfrm>
            <a:off x="339640" y="6060000"/>
            <a:ext cx="10764696" cy="650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353"/>
          </a:p>
        </p:txBody>
      </p:sp>
      <p:sp>
        <p:nvSpPr>
          <p:cNvPr id="201" name="Pill5">
            <a:extLst>
              <a:ext uri="{FF2B5EF4-FFF2-40B4-BE49-F238E27FC236}">
                <a16:creationId xmlns:a16="http://schemas.microsoft.com/office/drawing/2014/main" id="{D8EE3016-F7EC-FE54-C497-FCA4D69370DA}"/>
              </a:ext>
            </a:extLst>
          </p:cNvPr>
          <p:cNvSpPr txBox="1"/>
          <p:nvPr/>
        </p:nvSpPr>
        <p:spPr>
          <a:xfrm>
            <a:off x="497065" y="6198900"/>
            <a:ext cx="607841" cy="3722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5804">
                <a:srgbClr val="7C3AED"/>
              </a:gs>
              <a:gs pos="80000">
                <a:srgbClr val="7C3AED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</a:ln>
          <a:effectLst>
            <a:outerShdw blurRad="635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b="0" i="0" strike="noStrike" cap="none" baseline="0" dirty="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Segoe UI Semibold"/>
                <a:ea typeface="Segoe UI Semibold"/>
                <a:cs typeface="Segoe UI Semibold"/>
              </a:rPr>
              <a:t>7</a:t>
            </a:r>
          </a:p>
        </p:txBody>
      </p:sp>
      <p:sp>
        <p:nvSpPr>
          <p:cNvPr id="202" name="Text5">
            <a:extLst>
              <a:ext uri="{FF2B5EF4-FFF2-40B4-BE49-F238E27FC236}">
                <a16:creationId xmlns:a16="http://schemas.microsoft.com/office/drawing/2014/main" id="{894691CA-C655-6589-71CE-CE47B8A9CFE7}"/>
              </a:ext>
            </a:extLst>
          </p:cNvPr>
          <p:cNvSpPr txBox="1">
            <a:spLocks/>
          </p:cNvSpPr>
          <p:nvPr/>
        </p:nvSpPr>
        <p:spPr>
          <a:xfrm>
            <a:off x="1387522" y="6060000"/>
            <a:ext cx="10100000" cy="650000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s-ES" sz="2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Copilot CoWork</a:t>
            </a:r>
          </a:p>
        </p:txBody>
      </p:sp>
    </p:spTree>
    <p:extLst>
      <p:ext uri="{BB962C8B-B14F-4D97-AF65-F5344CB8AC3E}">
        <p14:creationId xmlns:p14="http://schemas.microsoft.com/office/powerpoint/2010/main" val="282339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FCA85409-FC2D-1185-3F7A-C13DFC057F98}"/>
              </a:ext>
            </a:extLst>
          </p:cNvPr>
          <p:cNvSpPr txBox="1">
            <a:spLocks/>
          </p:cNvSpPr>
          <p:nvPr/>
        </p:nvSpPr>
        <p:spPr>
          <a:xfrm>
            <a:off x="3045368" y="204366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300" normalizeH="0" baseline="0" noProof="0" dirty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Introducción</a:t>
            </a:r>
            <a:r>
              <a:rPr kumimoji="0" lang="en-US" sz="5200" b="0" i="0" u="none" strike="noStrike" kern="1200" cap="none" spc="30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a la IA </a:t>
            </a:r>
            <a:r>
              <a:rPr kumimoji="0" lang="en-US" sz="5200" b="0" i="0" u="none" strike="noStrike" kern="1200" cap="none" spc="300" normalizeH="0" baseline="0" noProof="0" dirty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generativa</a:t>
            </a:r>
            <a:endParaRPr kumimoji="0" lang="en-US" sz="5200" b="0" i="0" u="none" strike="noStrike" kern="1200" cap="none" spc="30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866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opBar" descr="Imagen relacionada con ¿Qué es la inteligencia artificial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3200" b="1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¿Qué es la inteligencia artificial?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D932D9-E9D0-A20F-B735-6E08CE96BABE}"/>
              </a:ext>
            </a:extLst>
          </p:cNvPr>
          <p:cNvGrpSpPr/>
          <p:nvPr/>
        </p:nvGrpSpPr>
        <p:grpSpPr>
          <a:xfrm>
            <a:off x="1084655" y="1494390"/>
            <a:ext cx="10266529" cy="620000"/>
            <a:chOff x="1196000" y="1670836"/>
            <a:chExt cx="10266529" cy="620000"/>
          </a:xfrm>
        </p:grpSpPr>
        <p:sp>
          <p:nvSpPr>
            <p:cNvPr id="4" name="SummaryBar"/>
            <p:cNvSpPr/>
            <p:nvPr/>
          </p:nvSpPr>
          <p:spPr>
            <a:xfrm>
              <a:off x="1221249" y="1670836"/>
              <a:ext cx="10241280" cy="62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D9488"/>
                </a:gs>
                <a:gs pos="100000">
                  <a:srgbClr val="14A8BC"/>
                </a:gs>
              </a:gsLst>
              <a:lin ang="0" scaled="1"/>
            </a:gradFill>
            <a:ln>
              <a:noFill/>
            </a:ln>
            <a:effectLst>
              <a:outerShdw blurRad="1016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 wrap="square" lIns="0" tIns="0" rIns="0" bIns="0" anchor="ctr"/>
            <a:lstStyle/>
            <a:p>
              <a:endParaRPr lang="es-ES" dirty="0"/>
            </a:p>
          </p:txBody>
        </p:sp>
        <p:sp>
          <p:nvSpPr>
            <p:cNvPr id="5" name="SummaryText"/>
            <p:cNvSpPr/>
            <p:nvPr/>
          </p:nvSpPr>
          <p:spPr>
            <a:xfrm>
              <a:off x="1196000" y="1670836"/>
              <a:ext cx="9800000" cy="620000"/>
            </a:xfrm>
            <a:prstGeom prst="round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algn="ctr"/>
              <a:r>
                <a:rPr lang="es-ES" sz="2000" b="1" dirty="0">
                  <a:solidFill>
                    <a:srgbClr val="FFFFFF"/>
                  </a:solidFill>
                  <a:latin typeface="Segoe UI Semibold"/>
                  <a:cs typeface="Segoe UI Semibold"/>
                </a:rPr>
                <a:t>Imita capacidades humanas</a:t>
              </a:r>
              <a:endParaRPr lang="es-ES" sz="1600" b="1" dirty="0">
                <a:solidFill>
                  <a:srgbClr val="D6F4F0"/>
                </a:solidFill>
                <a:latin typeface="Segoe UI"/>
                <a:cs typeface="Segoe UI"/>
              </a:endParaRPr>
            </a:p>
            <a:p>
              <a:pPr algn="ctr"/>
              <a:r>
                <a:rPr lang="es-ES" sz="1600" dirty="0">
                  <a:solidFill>
                    <a:srgbClr val="D6F4F0"/>
                  </a:solidFill>
                  <a:latin typeface="Segoe UI"/>
                  <a:cs typeface="Segoe UI"/>
                </a:rPr>
                <a:t>Entiende lenguaje, ve imágenes, razona y toma decisiones como una persona.</a:t>
              </a:r>
            </a:p>
          </p:txBody>
        </p:sp>
      </p:grpSp>
      <p:sp>
        <p:nvSpPr>
          <p:cNvPr id="50" name="MLBand"/>
          <p:cNvSpPr/>
          <p:nvPr/>
        </p:nvSpPr>
        <p:spPr>
          <a:xfrm>
            <a:off x="1221249" y="2248030"/>
            <a:ext cx="10241280" cy="520000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300" b="1">
                <a:solidFill>
                  <a:srgbClr val="0F766E"/>
                </a:solidFill>
                <a:latin typeface="Segoe UI Semibold"/>
                <a:cs typeface="Segoe UI Semibold"/>
              </a:rPr>
              <a:t>Aprendizaje automático (machine learning): </a:t>
            </a:r>
            <a:r>
              <a:rPr lang="es-ES" sz="1300">
                <a:solidFill>
                  <a:srgbClr val="334155"/>
                </a:solidFill>
                <a:latin typeface="Segoe UI"/>
                <a:cs typeface="Segoe UI"/>
              </a:rPr>
              <a:t>la IA aprende de los datos y mejora con la experiencia, sin programar cada regla a mano.</a:t>
            </a:r>
          </a:p>
        </p:txBody>
      </p:sp>
      <p:sp>
        <p:nvSpPr>
          <p:cNvPr id="21" name="Desc1"/>
          <p:cNvSpPr/>
          <p:nvPr/>
        </p:nvSpPr>
        <p:spPr>
          <a:xfrm>
            <a:off x="1117588" y="4769323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 dirty="0">
                <a:solidFill>
                  <a:srgbClr val="64748B"/>
                </a:solidFill>
                <a:latin typeface="Segoe UI"/>
                <a:cs typeface="Segoe UI"/>
              </a:rPr>
              <a:t>Descubre patrones y relaciones en grandes volúmenes de información.</a:t>
            </a:r>
          </a:p>
        </p:txBody>
      </p:sp>
      <p:sp>
        <p:nvSpPr>
          <p:cNvPr id="23" name="Desc2"/>
          <p:cNvSpPr/>
          <p:nvPr/>
        </p:nvSpPr>
        <p:spPr>
          <a:xfrm>
            <a:off x="3677908" y="4769323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Condensa el conocimiento en un modelo reutilizable para nuevas tareas.</a:t>
            </a:r>
          </a:p>
        </p:txBody>
      </p:sp>
      <p:sp>
        <p:nvSpPr>
          <p:cNvPr id="25" name="Desc3"/>
          <p:cNvSpPr/>
          <p:nvPr/>
        </p:nvSpPr>
        <p:spPr>
          <a:xfrm>
            <a:off x="6238228" y="4769323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 dirty="0">
                <a:solidFill>
                  <a:srgbClr val="64748B"/>
                </a:solidFill>
                <a:latin typeface="Segoe UI"/>
                <a:cs typeface="Segoe UI"/>
              </a:rPr>
              <a:t>Predice texto, imágenes o recomendaciones adaptadas a cada pregunta.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7A344D-77A6-7F16-2CA8-30486CB280A6}"/>
              </a:ext>
            </a:extLst>
          </p:cNvPr>
          <p:cNvGrpSpPr/>
          <p:nvPr/>
        </p:nvGrpSpPr>
        <p:grpSpPr>
          <a:xfrm>
            <a:off x="1109904" y="3429000"/>
            <a:ext cx="9997440" cy="1590000"/>
            <a:chOff x="1104964" y="2901671"/>
            <a:chExt cx="9997440" cy="1590000"/>
          </a:xfrm>
        </p:grpSpPr>
        <p:sp>
          <p:nvSpPr>
            <p:cNvPr id="100" name="Conn1"/>
            <p:cNvSpPr/>
            <p:nvPr/>
          </p:nvSpPr>
          <p:spPr>
            <a:xfrm>
              <a:off x="2628964" y="3247431"/>
              <a:ext cx="1828800" cy="400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1" name="Conn2"/>
            <p:cNvSpPr/>
            <p:nvPr/>
          </p:nvSpPr>
          <p:spPr>
            <a:xfrm>
              <a:off x="5189284" y="3247431"/>
              <a:ext cx="1828800" cy="400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2" name="Conn3"/>
            <p:cNvSpPr/>
            <p:nvPr/>
          </p:nvSpPr>
          <p:spPr>
            <a:xfrm>
              <a:off x="7749604" y="3247431"/>
              <a:ext cx="1828800" cy="400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Circle1"/>
            <p:cNvSpPr/>
            <p:nvPr/>
          </p:nvSpPr>
          <p:spPr>
            <a:xfrm>
              <a:off x="1897444" y="2901671"/>
              <a:ext cx="731520" cy="731520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es-ES" sz="2800" b="1">
                  <a:solidFill>
                    <a:srgbClr val="FFFFFF"/>
                  </a:solidFill>
                  <a:latin typeface="Segoe UI Semibold"/>
                  <a:cs typeface="Segoe UI Semibold"/>
                </a:rPr>
                <a:t>1</a:t>
              </a:r>
            </a:p>
          </p:txBody>
        </p:sp>
        <p:sp>
          <p:nvSpPr>
            <p:cNvPr id="11" name="Circle2"/>
            <p:cNvSpPr/>
            <p:nvPr/>
          </p:nvSpPr>
          <p:spPr>
            <a:xfrm>
              <a:off x="4457764" y="2901671"/>
              <a:ext cx="731520" cy="73152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es-ES" sz="2800" b="1">
                  <a:solidFill>
                    <a:srgbClr val="FFFFFF"/>
                  </a:solidFill>
                  <a:latin typeface="Segoe UI Semibold"/>
                  <a:cs typeface="Segoe UI Semibold"/>
                </a:rPr>
                <a:t>2</a:t>
              </a:r>
            </a:p>
          </p:txBody>
        </p:sp>
        <p:sp>
          <p:nvSpPr>
            <p:cNvPr id="12" name="Circle3"/>
            <p:cNvSpPr/>
            <p:nvPr/>
          </p:nvSpPr>
          <p:spPr>
            <a:xfrm>
              <a:off x="7018084" y="2901671"/>
              <a:ext cx="731520" cy="731520"/>
            </a:xfrm>
            <a:prstGeom prst="ellipse">
              <a:avLst/>
            </a:prstGeom>
            <a:solidFill>
              <a:srgbClr val="5B5BEC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es-ES" sz="2800" b="1">
                  <a:solidFill>
                    <a:srgbClr val="FFFFFF"/>
                  </a:solidFill>
                  <a:latin typeface="Segoe UI Semibold"/>
                  <a:cs typeface="Segoe UI Semibold"/>
                </a:rPr>
                <a:t>3</a:t>
              </a:r>
            </a:p>
          </p:txBody>
        </p:sp>
        <p:sp>
          <p:nvSpPr>
            <p:cNvPr id="13" name="Circle4"/>
            <p:cNvSpPr/>
            <p:nvPr/>
          </p:nvSpPr>
          <p:spPr>
            <a:xfrm>
              <a:off x="9578404" y="2901671"/>
              <a:ext cx="731520" cy="73152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es-ES" sz="2800" b="1">
                  <a:solidFill>
                    <a:srgbClr val="FFFFFF"/>
                  </a:solidFill>
                  <a:latin typeface="Segoe UI Semibold"/>
                  <a:cs typeface="Segoe UI Semibold"/>
                </a:rPr>
                <a:t>4</a:t>
              </a:r>
            </a:p>
          </p:txBody>
        </p:sp>
        <p:sp>
          <p:nvSpPr>
            <p:cNvPr id="40" name="Icon1"/>
            <p:cNvSpPr/>
            <p:nvPr/>
          </p:nvSpPr>
          <p:spPr>
            <a:xfrm>
              <a:off x="2487684" y="2941671"/>
              <a:ext cx="380000" cy="380000"/>
            </a:xfrm>
            <a:prstGeom prst="cloud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Icon2"/>
            <p:cNvSpPr/>
            <p:nvPr/>
          </p:nvSpPr>
          <p:spPr>
            <a:xfrm>
              <a:off x="5048004" y="2941671"/>
              <a:ext cx="380000" cy="380000"/>
            </a:xfrm>
            <a:prstGeom prst="gear6">
              <a:avLst/>
            </a:prstGeom>
            <a:solidFill>
              <a:srgbClr val="FFFFFF"/>
            </a:solidFill>
            <a:ln w="19050">
              <a:solidFill>
                <a:srgbClr val="3B82F6"/>
              </a:solidFill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Icon3"/>
            <p:cNvSpPr/>
            <p:nvPr/>
          </p:nvSpPr>
          <p:spPr>
            <a:xfrm>
              <a:off x="7608324" y="2941671"/>
              <a:ext cx="380000" cy="380000"/>
            </a:xfrm>
            <a:prstGeom prst="wedgeRoundRectCallout">
              <a:avLst>
                <a:gd name="adj1" fmla="val -40000"/>
                <a:gd name="adj2" fmla="val 60000"/>
                <a:gd name="adj3" fmla="val 16667"/>
              </a:avLst>
            </a:prstGeom>
            <a:solidFill>
              <a:srgbClr val="FFFFFF"/>
            </a:solidFill>
            <a:ln w="19050">
              <a:solidFill>
                <a:srgbClr val="5B5BEC"/>
              </a:solidFill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Icon4"/>
            <p:cNvSpPr/>
            <p:nvPr/>
          </p:nvSpPr>
          <p:spPr>
            <a:xfrm>
              <a:off x="10168644" y="2941671"/>
              <a:ext cx="380000" cy="380000"/>
            </a:xfrm>
            <a:prstGeom prst="circularArrow">
              <a:avLst/>
            </a:prstGeom>
            <a:solidFill>
              <a:schemeClr val="bg1"/>
            </a:solidFill>
            <a:ln w="19050">
              <a:solidFill>
                <a:srgbClr val="7C3AED"/>
              </a:solidFill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itle1"/>
            <p:cNvSpPr/>
            <p:nvPr/>
          </p:nvSpPr>
          <p:spPr>
            <a:xfrm>
              <a:off x="110496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Aprende de los datos</a:t>
              </a:r>
            </a:p>
          </p:txBody>
        </p:sp>
        <p:sp>
          <p:nvSpPr>
            <p:cNvPr id="22" name="Title2"/>
            <p:cNvSpPr/>
            <p:nvPr/>
          </p:nvSpPr>
          <p:spPr>
            <a:xfrm>
              <a:off x="366528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Crea un modelo</a:t>
              </a:r>
            </a:p>
          </p:txBody>
        </p:sp>
        <p:sp>
          <p:nvSpPr>
            <p:cNvPr id="24" name="Title3"/>
            <p:cNvSpPr/>
            <p:nvPr/>
          </p:nvSpPr>
          <p:spPr>
            <a:xfrm>
              <a:off x="622560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Responde en contexto</a:t>
              </a:r>
            </a:p>
          </p:txBody>
        </p:sp>
        <p:sp>
          <p:nvSpPr>
            <p:cNvPr id="26" name="Title4"/>
            <p:cNvSpPr/>
            <p:nvPr/>
          </p:nvSpPr>
          <p:spPr>
            <a:xfrm>
              <a:off x="878592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Mejora continuamente</a:t>
              </a:r>
            </a:p>
          </p:txBody>
        </p:sp>
      </p:grpSp>
      <p:sp>
        <p:nvSpPr>
          <p:cNvPr id="27" name="Desc4"/>
          <p:cNvSpPr/>
          <p:nvPr/>
        </p:nvSpPr>
        <p:spPr>
          <a:xfrm>
            <a:off x="8798548" y="4769323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Se ajusta con uso y supervisión humana para ser más precisa y útil.</a:t>
            </a:r>
          </a:p>
        </p:txBody>
      </p:sp>
    </p:spTree>
    <p:extLst>
      <p:ext uri="{BB962C8B-B14F-4D97-AF65-F5344CB8AC3E}">
        <p14:creationId xmlns:p14="http://schemas.microsoft.com/office/powerpoint/2010/main" val="282339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FF67-0E86-68C6-DB2C-D9CAA4F9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LMBar"/>
          <p:cNvSpPr/>
          <p:nvPr/>
        </p:nvSpPr>
        <p:spPr>
          <a:xfrm>
            <a:off x="962400" y="1488031"/>
            <a:ext cx="10267200" cy="619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endParaRPr lang="es-ES" dirty="0"/>
          </a:p>
        </p:txBody>
      </p:sp>
      <p:pic>
        <p:nvPicPr>
          <p:cNvPr id="2" name="TopBar" descr="Imagen relacionada con ¿Qué es la inteligencia artificial generativa?">
            <a:extLst>
              <a:ext uri="{FF2B5EF4-FFF2-40B4-BE49-F238E27FC236}">
                <a16:creationId xmlns:a16="http://schemas.microsoft.com/office/drawing/2014/main" id="{3F68237D-A50B-355F-E1EE-18F6E6A7F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467301CA-B03A-A378-6A19-48F3F22C7652}"/>
              </a:ext>
            </a:extLst>
          </p:cNvPr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3200" b="1" dirty="0">
                <a:latin typeface="Segoe UI Semibold"/>
                <a:ea typeface="Segoe UI Semibold"/>
                <a:cs typeface="Segoe UI Semibold"/>
              </a:rPr>
              <a:t>¿Qué es la inteligencia artificial </a:t>
            </a:r>
            <a:r>
              <a:rPr lang="es-ES" sz="3200" dirty="0">
                <a:gradFill>
                  <a:gsLst>
                    <a:gs pos="0">
                      <a:srgbClr val="0D9488"/>
                    </a:gs>
                    <a:gs pos="50000">
                      <a:srgbClr val="3B82F6"/>
                    </a:gs>
                    <a:gs pos="100000">
                      <a:srgbClr val="7C3AED"/>
                    </a:gs>
                  </a:gsLst>
                  <a:lin ang="0" scaled="1"/>
                </a:gradFill>
                <a:latin typeface="Segoe UI Semibold"/>
                <a:ea typeface="Segoe UI Semibold"/>
                <a:cs typeface="Segoe UI Semibold"/>
              </a:rPr>
              <a:t>generativa</a:t>
            </a:r>
            <a:r>
              <a:rPr lang="es-ES" sz="3200" b="1" dirty="0">
                <a:latin typeface="Segoe UI Semibold"/>
                <a:ea typeface="Segoe UI Semibold"/>
                <a:cs typeface="Segoe UI Semibold"/>
              </a:rPr>
              <a:t>?</a:t>
            </a:r>
          </a:p>
        </p:txBody>
      </p:sp>
      <p:sp>
        <p:nvSpPr>
          <p:cNvPr id="500" name="LLMStepDesc"/>
          <p:cNvSpPr/>
          <p:nvPr/>
        </p:nvSpPr>
        <p:spPr>
          <a:xfrm>
            <a:off x="1452790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 dirty="0">
                <a:solidFill>
                  <a:srgbClr val="64748B"/>
                </a:solidFill>
                <a:latin typeface="Segoe UI"/>
                <a:cs typeface="Segoe UI"/>
              </a:rPr>
              <a:t>Modelo entrenado con enormes cantidades de texto que aprende patrones del lenguaje y genera respuestas con coherencia.</a:t>
            </a:r>
          </a:p>
        </p:txBody>
      </p:sp>
      <p:sp>
        <p:nvSpPr>
          <p:cNvPr id="5" name="SummaryText">
            <a:extLst>
              <a:ext uri="{FF2B5EF4-FFF2-40B4-BE49-F238E27FC236}">
                <a16:creationId xmlns:a16="http://schemas.microsoft.com/office/drawing/2014/main" id="{512CA3B5-C808-898C-5F73-DE99B7BA4541}"/>
              </a:ext>
            </a:extLst>
          </p:cNvPr>
          <p:cNvSpPr/>
          <p:nvPr/>
        </p:nvSpPr>
        <p:spPr>
          <a:xfrm>
            <a:off x="962400" y="1494390"/>
            <a:ext cx="10267200" cy="619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  <a:latin typeface="Segoe UI Semibold"/>
                <a:cs typeface="Segoe UI Semibold"/>
              </a:rPr>
              <a:t>LLM (Large </a:t>
            </a:r>
            <a:r>
              <a:rPr lang="es-ES" sz="2000" b="1" dirty="0" err="1">
                <a:solidFill>
                  <a:srgbClr val="FFFFFF"/>
                </a:solidFill>
                <a:latin typeface="Segoe UI Semibold"/>
                <a:cs typeface="Segoe UI Semibold"/>
              </a:rPr>
              <a:t>Language</a:t>
            </a:r>
            <a:r>
              <a:rPr lang="es-ES" sz="2000" b="1" dirty="0">
                <a:solidFill>
                  <a:srgbClr val="FFFFFF"/>
                </a:solidFill>
                <a:latin typeface="Segoe UI Semibold"/>
                <a:cs typeface="Segoe UI Semibold"/>
              </a:rPr>
              <a:t> Model)</a:t>
            </a:r>
            <a:endParaRPr lang="es-ES" sz="1600" b="1" dirty="0">
              <a:solidFill>
                <a:srgbClr val="D6F4F0"/>
              </a:solidFill>
              <a:latin typeface="Segoe UI"/>
              <a:cs typeface="Segoe UI"/>
            </a:endParaRPr>
          </a:p>
          <a:p>
            <a:pPr algn="ctr"/>
            <a:r>
              <a:rPr lang="es-ES" sz="1600" dirty="0">
                <a:solidFill>
                  <a:schemeClr val="bg1">
                    <a:lumMod val="95000"/>
                  </a:schemeClr>
                </a:solidFill>
                <a:latin typeface="Segoe UI"/>
                <a:cs typeface="Segoe UI"/>
              </a:rPr>
              <a:t>Modelo entrenado con cantidades enormes de datos que predice y genera lenguaje natural.</a:t>
            </a:r>
          </a:p>
        </p:txBody>
      </p:sp>
      <p:sp>
        <p:nvSpPr>
          <p:cNvPr id="25" name="Desc3">
            <a:extLst>
              <a:ext uri="{FF2B5EF4-FFF2-40B4-BE49-F238E27FC236}">
                <a16:creationId xmlns:a16="http://schemas.microsoft.com/office/drawing/2014/main" id="{C1ECC5B9-CF5D-0195-24F6-75CB29DC508F}"/>
              </a:ext>
            </a:extLst>
          </p:cNvPr>
          <p:cNvSpPr/>
          <p:nvPr/>
        </p:nvSpPr>
        <p:spPr>
          <a:xfrm>
            <a:off x="5424082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 dirty="0">
                <a:solidFill>
                  <a:srgbClr val="64748B"/>
                </a:solidFill>
                <a:latin typeface="Segoe UI"/>
                <a:cs typeface="Segoe UI"/>
              </a:rPr>
              <a:t>Convierte tu instrucción en una intención clara y un contexto para responder.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6090BC-0859-DC11-CAE0-AC703F56E730}"/>
              </a:ext>
            </a:extLst>
          </p:cNvPr>
          <p:cNvGrpSpPr/>
          <p:nvPr/>
        </p:nvGrpSpPr>
        <p:grpSpPr>
          <a:xfrm>
            <a:off x="1518196" y="2776062"/>
            <a:ext cx="8717280" cy="1724240"/>
            <a:chOff x="2385124" y="2767431"/>
            <a:chExt cx="8717280" cy="1724240"/>
          </a:xfrm>
        </p:grpSpPr>
        <p:sp>
          <p:nvSpPr>
            <p:cNvPr id="101" name="Conn2">
              <a:extLst>
                <a:ext uri="{FF2B5EF4-FFF2-40B4-BE49-F238E27FC236}">
                  <a16:creationId xmlns:a16="http://schemas.microsoft.com/office/drawing/2014/main" id="{E297F6B4-1355-8498-5CB0-86B28F6EA5D6}"/>
                </a:ext>
              </a:extLst>
            </p:cNvPr>
            <p:cNvSpPr/>
            <p:nvPr/>
          </p:nvSpPr>
          <p:spPr>
            <a:xfrm>
              <a:off x="4043364" y="3241712"/>
              <a:ext cx="2974720" cy="4571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2" name="Conn3">
              <a:extLst>
                <a:ext uri="{FF2B5EF4-FFF2-40B4-BE49-F238E27FC236}">
                  <a16:creationId xmlns:a16="http://schemas.microsoft.com/office/drawing/2014/main" id="{930D69FB-86DC-3C94-ACF9-FA29BF3406D7}"/>
                </a:ext>
              </a:extLst>
            </p:cNvPr>
            <p:cNvSpPr/>
            <p:nvPr/>
          </p:nvSpPr>
          <p:spPr>
            <a:xfrm>
              <a:off x="7749604" y="3247431"/>
              <a:ext cx="1828800" cy="400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1" name="LLMStepCircle"/>
            <p:cNvSpPr/>
            <p:nvPr/>
          </p:nvSpPr>
          <p:spPr>
            <a:xfrm>
              <a:off x="3043364" y="2767431"/>
              <a:ext cx="1000000" cy="1000000"/>
            </a:xfrm>
            <a:prstGeom prst="ellipse">
              <a:avLst/>
            </a:prstGeom>
            <a:gradFill>
              <a:gsLst>
                <a:gs pos="0">
                  <a:srgbClr val="3B82F6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  <a:effectLst>
              <a:outerShdw blurRad="80000" dist="20000" dir="5400000" algn="bl" rotWithShape="0">
                <a:srgbClr val="000000">
                  <a:alpha val="20000"/>
                </a:srgbClr>
              </a:outerShdw>
            </a:effectLst>
          </p:spPr>
          <p:txBody>
            <a:bodyPr wrap="none" lIns="0" tIns="0" rIns="0" bIns="0" anchor="ctr"/>
            <a:lstStyle/>
            <a:p>
              <a:endParaRPr lang="es-ES"/>
            </a:p>
          </p:txBody>
        </p:sp>
        <p:pic>
          <p:nvPicPr>
            <p:cNvPr id="600" name="BrainGearsIcon" descr="Icono ilustrativo en la diapositiva sobre ¿Qué es la inteligencia artificial generativa?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3364" y="2967431"/>
              <a:ext cx="600000" cy="600000"/>
            </a:xfrm>
            <a:prstGeom prst="rect">
              <a:avLst/>
            </a:prstGeom>
          </p:spPr>
        </p:pic>
        <p:sp>
          <p:nvSpPr>
            <p:cNvPr id="12" name="Circle3">
              <a:extLst>
                <a:ext uri="{FF2B5EF4-FFF2-40B4-BE49-F238E27FC236}">
                  <a16:creationId xmlns:a16="http://schemas.microsoft.com/office/drawing/2014/main" id="{FA2052A9-832D-2EFD-5740-85BCB649F69F}"/>
                </a:ext>
              </a:extLst>
            </p:cNvPr>
            <p:cNvSpPr/>
            <p:nvPr/>
          </p:nvSpPr>
          <p:spPr>
            <a:xfrm>
              <a:off x="7018084" y="2901671"/>
              <a:ext cx="731520" cy="731520"/>
            </a:xfrm>
            <a:prstGeom prst="ellipse">
              <a:avLst/>
            </a:prstGeom>
            <a:solidFill>
              <a:srgbClr val="5B5BEC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endParaRPr lang="es-ES"/>
            </a:p>
          </p:txBody>
        </p:sp>
        <p:pic>
          <p:nvPicPr>
            <p:cNvPr id="601" name="ChatIcon" descr="Icono ilustrativo en la diapositiva sobre ¿Qué es la inteligencia artificial generativa?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8844" y="3042431"/>
              <a:ext cx="450000" cy="450000"/>
            </a:xfrm>
            <a:prstGeom prst="rect">
              <a:avLst/>
            </a:prstGeom>
          </p:spPr>
        </p:pic>
        <p:sp>
          <p:nvSpPr>
            <p:cNvPr id="13" name="Circle4">
              <a:extLst>
                <a:ext uri="{FF2B5EF4-FFF2-40B4-BE49-F238E27FC236}">
                  <a16:creationId xmlns:a16="http://schemas.microsoft.com/office/drawing/2014/main" id="{D4BD43D2-B218-B93A-6D2A-7489A5E020DC}"/>
                </a:ext>
              </a:extLst>
            </p:cNvPr>
            <p:cNvSpPr/>
            <p:nvPr/>
          </p:nvSpPr>
          <p:spPr>
            <a:xfrm>
              <a:off x="9578404" y="2901671"/>
              <a:ext cx="731520" cy="73152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endParaRPr lang="es-ES"/>
            </a:p>
          </p:txBody>
        </p:sp>
        <p:pic>
          <p:nvPicPr>
            <p:cNvPr id="602" name="TokenIcon" descr="Icono ilustrativo en la diapositiva sobre ¿Qué es la inteligencia artificial generativa?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19164" y="3042431"/>
              <a:ext cx="450000" cy="450000"/>
            </a:xfrm>
            <a:prstGeom prst="rect">
              <a:avLst/>
            </a:prstGeom>
          </p:spPr>
        </p:pic>
        <p:sp>
          <p:nvSpPr>
            <p:cNvPr id="502" name="LLMStepTitle"/>
            <p:cNvSpPr/>
            <p:nvPr/>
          </p:nvSpPr>
          <p:spPr>
            <a:xfrm>
              <a:off x="238512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Large Language Model</a:t>
              </a:r>
            </a:p>
          </p:txBody>
        </p:sp>
        <p:sp>
          <p:nvSpPr>
            <p:cNvPr id="24" name="Title3">
              <a:extLst>
                <a:ext uri="{FF2B5EF4-FFF2-40B4-BE49-F238E27FC236}">
                  <a16:creationId xmlns:a16="http://schemas.microsoft.com/office/drawing/2014/main" id="{667FCF1F-C2A4-918E-8DB3-347D76D400E6}"/>
                </a:ext>
              </a:extLst>
            </p:cNvPr>
            <p:cNvSpPr/>
            <p:nvPr/>
          </p:nvSpPr>
          <p:spPr>
            <a:xfrm>
              <a:off x="622560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Interpreta tu prompt</a:t>
              </a:r>
            </a:p>
          </p:txBody>
        </p:sp>
        <p:sp>
          <p:nvSpPr>
            <p:cNvPr id="26" name="Title4">
              <a:extLst>
                <a:ext uri="{FF2B5EF4-FFF2-40B4-BE49-F238E27FC236}">
                  <a16:creationId xmlns:a16="http://schemas.microsoft.com/office/drawing/2014/main" id="{CCA1BF3F-572C-78A2-E67A-0D2E77E0B758}"/>
                </a:ext>
              </a:extLst>
            </p:cNvPr>
            <p:cNvSpPr/>
            <p:nvPr/>
          </p:nvSpPr>
          <p:spPr>
            <a:xfrm>
              <a:off x="878592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Genera token a token</a:t>
              </a:r>
            </a:p>
          </p:txBody>
        </p:sp>
      </p:grpSp>
      <p:sp>
        <p:nvSpPr>
          <p:cNvPr id="27" name="Desc4">
            <a:extLst>
              <a:ext uri="{FF2B5EF4-FFF2-40B4-BE49-F238E27FC236}">
                <a16:creationId xmlns:a16="http://schemas.microsoft.com/office/drawing/2014/main" id="{D407BBD3-43C7-430F-203E-8F3899FB79AE}"/>
              </a:ext>
            </a:extLst>
          </p:cNvPr>
          <p:cNvSpPr/>
          <p:nvPr/>
        </p:nvSpPr>
        <p:spPr>
          <a:xfrm>
            <a:off x="7984402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 dirty="0">
                <a:solidFill>
                  <a:srgbClr val="64748B"/>
                </a:solidFill>
                <a:latin typeface="Segoe UI"/>
                <a:cs typeface="Segoe UI"/>
              </a:rPr>
              <a:t>Produce la respuesta palabra por palabra, manteniendo sentido y coherencia.</a:t>
            </a:r>
          </a:p>
        </p:txBody>
      </p:sp>
    </p:spTree>
    <p:extLst>
      <p:ext uri="{BB962C8B-B14F-4D97-AF65-F5344CB8AC3E}">
        <p14:creationId xmlns:p14="http://schemas.microsoft.com/office/powerpoint/2010/main" val="131704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Casos de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uso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en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el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mundo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profesional</a:t>
            </a:r>
            <a:endParaRPr lang="en-U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75360" y="1584960"/>
            <a:ext cx="3169920" cy="42672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75360" y="1584960"/>
            <a:ext cx="316992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0" descr="Imagen ilustrativa relacionada con Casos de uso en el mundo profesio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1120" y="268224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Documentación</a:t>
            </a:r>
            <a:endParaRPr lang="en-US" sz="2133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41120" y="3291840"/>
            <a:ext cx="24384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Redacción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informes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, emails,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propuestas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actas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reunión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y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resumen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documentos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extensos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.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11040" y="1584960"/>
            <a:ext cx="3169920" cy="42672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11040" y="1584960"/>
            <a:ext cx="316992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Image 1" descr="Imagen ilustrativa relacionada con Casos de uso en el mundo profesion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0116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76800" y="268224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Análisis</a:t>
            </a:r>
            <a:endParaRPr lang="en-US" sz="2133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876800" y="3291840"/>
            <a:ext cx="24384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Interpretación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datos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creación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gráficos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análisis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tendencias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y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generación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 insights.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46720" y="1584960"/>
            <a:ext cx="3169920" cy="42672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46720" y="1584960"/>
            <a:ext cx="31699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Image 2" descr="Imagen ilustrativa relacionada con Casos de uso en el mundo profesio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116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68224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Comunicación</a:t>
            </a:r>
            <a:endParaRPr lang="en-US" sz="2133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412480" y="3291840"/>
            <a:ext cx="24384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Traducción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automática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tono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adaptado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a la audiencia,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respuestas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a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clientes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y FAQ </a:t>
            </a:r>
            <a:r>
              <a:rPr lang="en-US" sz="16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automatizadas</a:t>
            </a:r>
            <a:r>
              <a:rPr lang="en-U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.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Image 0" descr="Imagen ilustrativa relacionada con Casos de uso en el mundo profesional">
            <a:extLst>
              <a:ext uri="{FF2B5EF4-FFF2-40B4-BE49-F238E27FC236}">
                <a16:creationId xmlns:a16="http://schemas.microsoft.com/office/drawing/2014/main" id="{7D6C7D7A-9F48-8C03-6AAF-B51AD1CDD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700B-03EE-D34B-F1E4-A803BAF8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B71F43-FD70-69A4-435E-7B74AD98BCA1}"/>
              </a:ext>
            </a:extLst>
          </p:cNvPr>
          <p:cNvSpPr/>
          <p:nvPr/>
        </p:nvSpPr>
        <p:spPr>
          <a:xfrm>
            <a:off x="975360" y="548640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Casos de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uso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en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el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mundo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profesional</a:t>
            </a:r>
            <a:endParaRPr lang="en-U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3" name="Image 0" descr="Imagen ilustrativa relacionada con Casos de uso en el mundo profesional">
            <a:extLst>
              <a:ext uri="{FF2B5EF4-FFF2-40B4-BE49-F238E27FC236}">
                <a16:creationId xmlns:a16="http://schemas.microsoft.com/office/drawing/2014/main" id="{E96C5F7E-4D39-A0CE-84FE-B13B5CB4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24" name="Info Bar">
            <a:extLst>
              <a:ext uri="{FF2B5EF4-FFF2-40B4-BE49-F238E27FC236}">
                <a16:creationId xmlns:a16="http://schemas.microsoft.com/office/drawing/2014/main" id="{3F893DA0-3C6C-95DC-B342-20FD4AF0A785}"/>
              </a:ext>
            </a:extLst>
          </p:cNvPr>
          <p:cNvSpPr/>
          <p:nvPr/>
        </p:nvSpPr>
        <p:spPr>
          <a:xfrm>
            <a:off x="975360" y="6251900"/>
            <a:ext cx="10241280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21B6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26" name="Info Text">
            <a:extLst>
              <a:ext uri="{FF2B5EF4-FFF2-40B4-BE49-F238E27FC236}">
                <a16:creationId xmlns:a16="http://schemas.microsoft.com/office/drawing/2014/main" id="{C998A493-7C0E-C5B0-4BA3-04C3F032D705}"/>
              </a:ext>
            </a:extLst>
          </p:cNvPr>
          <p:cNvSpPr/>
          <p:nvPr/>
        </p:nvSpPr>
        <p:spPr>
          <a:xfrm>
            <a:off x="3352801" y="6121271"/>
            <a:ext cx="95166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dirty="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La IA no </a:t>
            </a:r>
            <a:r>
              <a:rPr lang="es-ES" sz="1600" b="1" dirty="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reemplaza</a:t>
            </a:r>
            <a:r>
              <a:rPr lang="es-ES" sz="1600" dirty="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al profesional, </a:t>
            </a:r>
            <a:r>
              <a:rPr lang="es-ES" sz="1600" dirty="0">
                <a:solidFill>
                  <a:srgbClr val="FFFFFF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amplifica</a:t>
            </a:r>
            <a:r>
              <a:rPr lang="es-ES" sz="1600" dirty="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su capacidad</a:t>
            </a:r>
            <a:r>
              <a:rPr lang="es-ES" sz="1600" dirty="0">
                <a:solidFill>
                  <a:srgbClr val="E8D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ES" sz="1600" dirty="0"/>
          </a:p>
        </p:txBody>
      </p:sp>
      <p:graphicFrame>
        <p:nvGraphicFramePr>
          <p:cNvPr id="900" name="Expos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3952"/>
              </p:ext>
            </p:extLst>
          </p:nvPr>
        </p:nvGraphicFramePr>
        <p:xfrm>
          <a:off x="1915807" y="1219200"/>
          <a:ext cx="8360385" cy="470271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960385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s-ES" sz="13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Ocupación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300" b="1" dirty="0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300" b="1" dirty="0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Programadores informáticos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74,5%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Escribir, actualizar y mantener programas de software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Representantes de atención al cliente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70,1%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Atender a clientes, tomar pedidos y gestionar reclamaciones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Operadores de entrada de datos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67,1%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Leer documentos fuente e introducir datos en sistemas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Especialistas en historias clínicas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66,7%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Recopilar, transcribir y codificar registros médicos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Analistas de investigación de mercado y marketing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64,8%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Preparar informes ilustrando datos y traduciendo hallazgos en texto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Representantes de ventas (mayoristas y fabricación)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62,6%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Contactar con clientes para promocionar productos y cerrar pedidos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Analistas financieros y de inversiones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57,2%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Analizar información financiera para orientar decisiones de inversión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Analistas de control de calidad de software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51,9%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Modificar software para corregir errores y mejorar el rendimiento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Analistas de seguridad informática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48,6%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Realizar evaluaciones de riesgo y pruebas de seguridad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Especialistas en soporte informático a usuarios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46,8%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Resolver consultas sobre software o hardware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" name="LLMBar">
            <a:extLst>
              <a:ext uri="{FF2B5EF4-FFF2-40B4-BE49-F238E27FC236}">
                <a16:creationId xmlns:a16="http://schemas.microsoft.com/office/drawing/2014/main" id="{08EC287B-7BA7-8102-0F88-4FF5820D72F3}"/>
              </a:ext>
            </a:extLst>
          </p:cNvPr>
          <p:cNvSpPr/>
          <p:nvPr/>
        </p:nvSpPr>
        <p:spPr>
          <a:xfrm>
            <a:off x="1989549" y="1305585"/>
            <a:ext cx="2914290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Segoe UI Semibold"/>
                <a:cs typeface="Segoe UI Semibold"/>
              </a:rPr>
              <a:t>Profesiones</a:t>
            </a:r>
            <a:endParaRPr lang="es-ES" sz="1600" dirty="0"/>
          </a:p>
        </p:txBody>
      </p:sp>
      <p:sp>
        <p:nvSpPr>
          <p:cNvPr id="33" name="LLMBar">
            <a:extLst>
              <a:ext uri="{FF2B5EF4-FFF2-40B4-BE49-F238E27FC236}">
                <a16:creationId xmlns:a16="http://schemas.microsoft.com/office/drawing/2014/main" id="{A75E938A-FFA3-DD8E-C2B3-CA59B6561F60}"/>
              </a:ext>
            </a:extLst>
          </p:cNvPr>
          <p:cNvSpPr/>
          <p:nvPr/>
        </p:nvSpPr>
        <p:spPr>
          <a:xfrm>
            <a:off x="4977581" y="1305585"/>
            <a:ext cx="1118419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Segoe UI Semibold"/>
                <a:cs typeface="Segoe UI Semibold"/>
              </a:rPr>
              <a:t>Exposición</a:t>
            </a:r>
          </a:p>
        </p:txBody>
      </p:sp>
      <p:sp>
        <p:nvSpPr>
          <p:cNvPr id="34" name="LLMBar">
            <a:extLst>
              <a:ext uri="{FF2B5EF4-FFF2-40B4-BE49-F238E27FC236}">
                <a16:creationId xmlns:a16="http://schemas.microsoft.com/office/drawing/2014/main" id="{D654EF9B-289E-A435-0F28-65F4935EAA10}"/>
              </a:ext>
            </a:extLst>
          </p:cNvPr>
          <p:cNvSpPr/>
          <p:nvPr/>
        </p:nvSpPr>
        <p:spPr>
          <a:xfrm>
            <a:off x="6169741" y="1305585"/>
            <a:ext cx="4032709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Segoe UI Semibold"/>
                <a:cs typeface="Segoe UI Semibold"/>
              </a:rPr>
              <a:t>Tareas automatizadas</a:t>
            </a:r>
          </a:p>
        </p:txBody>
      </p:sp>
    </p:spTree>
    <p:extLst>
      <p:ext uri="{BB962C8B-B14F-4D97-AF65-F5344CB8AC3E}">
        <p14:creationId xmlns:p14="http://schemas.microsoft.com/office/powerpoint/2010/main" val="113264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E3BA-5233-96BB-5DA1-B4FEC0F9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op Bar" descr="Imagen relacionada con IA en la somb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20" name="Left Card BG"/>
          <p:cNvSpPr/>
          <p:nvPr/>
        </p:nvSpPr>
        <p:spPr>
          <a:xfrm>
            <a:off x="538420" y="1754649"/>
            <a:ext cx="5096000" cy="390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0">
            <a:noFill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Left Band"/>
          <p:cNvSpPr/>
          <p:nvPr/>
        </p:nvSpPr>
        <p:spPr>
          <a:xfrm>
            <a:off x="538420" y="1754649"/>
            <a:ext cx="5096000" cy="55000"/>
          </a:xfrm>
          <a:prstGeom prst="rect">
            <a:avLst/>
          </a:prstGeom>
          <a:solidFill>
            <a:srgbClr val="F9731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4" name="USA Map Icon" descr="Icono ilustrativo en la diapositiva sobre IA en la sombra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8420" y="1934649"/>
            <a:ext cx="520000" cy="350000"/>
          </a:xfrm>
          <a:prstGeom prst="rect">
            <a:avLst/>
          </a:prstGeom>
        </p:spPr>
      </p:pic>
      <p:sp>
        <p:nvSpPr>
          <p:cNvPr id="22" name="Left Title"/>
          <p:cNvSpPr/>
          <p:nvPr/>
        </p:nvSpPr>
        <p:spPr>
          <a:xfrm>
            <a:off x="1388420" y="1954649"/>
            <a:ext cx="40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Shadow AI</a:t>
            </a:r>
          </a:p>
          <a:p>
            <a:r>
              <a:rPr lang="es-ES" sz="1100" i="1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IA </a:t>
            </a:r>
            <a:r>
              <a:rPr lang="es-ES" sz="1100" i="1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fuera de control</a:t>
            </a:r>
            <a:endParaRPr lang="es-ES" sz="1100" i="1" dirty="0">
              <a:solidFill>
                <a:srgbClr val="64748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5" name="Left Div"/>
          <p:cNvCxnSpPr>
            <a:cxnSpLocks/>
          </p:cNvCxnSpPr>
          <p:nvPr/>
        </p:nvCxnSpPr>
        <p:spPr>
          <a:xfrm>
            <a:off x="738420" y="2454649"/>
            <a:ext cx="4696000" cy="0"/>
          </a:xfrm>
          <a:prstGeom prst="line">
            <a:avLst/>
          </a:prstGeom>
          <a:ln w="9525" cap="rnd">
            <a:solidFill>
              <a:srgbClr val="F1F5F9"/>
            </a:solidFill>
            <a:round/>
          </a:ln>
        </p:spPr>
      </p:cxnSp>
      <p:sp>
        <p:nvSpPr>
          <p:cNvPr id="23" name="Left Body"/>
          <p:cNvSpPr/>
          <p:nvPr/>
        </p:nvSpPr>
        <p:spPr>
          <a:xfrm>
            <a:off x="738420" y="2454649"/>
            <a:ext cx="4696000" cy="236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F97316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Fuga de datos confidenciales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F97316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Sin cumplimiento legal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F97316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Sin control ni seguimiento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F97316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Mayor riesgo de ciberataques</a:t>
            </a:r>
          </a:p>
        </p:txBody>
      </p:sp>
      <p:sp>
        <p:nvSpPr>
          <p:cNvPr id="30" name="Right Card BG"/>
          <p:cNvSpPr/>
          <p:nvPr/>
        </p:nvSpPr>
        <p:spPr>
          <a:xfrm>
            <a:off x="6634420" y="1754649"/>
            <a:ext cx="5096000" cy="390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0">
            <a:noFill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Right Band"/>
          <p:cNvSpPr/>
          <p:nvPr/>
        </p:nvSpPr>
        <p:spPr>
          <a:xfrm>
            <a:off x="6634420" y="1754649"/>
            <a:ext cx="5096000" cy="55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4" name="Globe Map Icon" descr="Icono ilustrativo en la diapositiva sobre IA en la sombr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420" y="1914649"/>
            <a:ext cx="400000" cy="400000"/>
          </a:xfrm>
          <a:prstGeom prst="rect">
            <a:avLst/>
          </a:prstGeom>
        </p:spPr>
      </p:pic>
      <p:sp>
        <p:nvSpPr>
          <p:cNvPr id="32" name="Right Title"/>
          <p:cNvSpPr/>
          <p:nvPr/>
        </p:nvSpPr>
        <p:spPr>
          <a:xfrm>
            <a:off x="7354420" y="1954649"/>
            <a:ext cx="41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b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365 Copilot</a:t>
            </a:r>
          </a:p>
          <a:p>
            <a:r>
              <a:rPr lang="es-ES" sz="1100" i="1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IA segura y controlada</a:t>
            </a:r>
          </a:p>
        </p:txBody>
      </p:sp>
      <p:cxnSp>
        <p:nvCxnSpPr>
          <p:cNvPr id="35" name="Right Div"/>
          <p:cNvCxnSpPr/>
          <p:nvPr/>
        </p:nvCxnSpPr>
        <p:spPr>
          <a:xfrm>
            <a:off x="6834420" y="2454649"/>
            <a:ext cx="4696000" cy="0"/>
          </a:xfrm>
          <a:prstGeom prst="line">
            <a:avLst/>
          </a:prstGeom>
          <a:ln w="9525" cap="rnd">
            <a:solidFill>
              <a:srgbClr val="F1F5F9"/>
            </a:solidFill>
            <a:round/>
          </a:ln>
        </p:spPr>
      </p:cxnSp>
      <p:sp>
        <p:nvSpPr>
          <p:cNvPr id="33" name="Right Body"/>
          <p:cNvSpPr/>
          <p:nvPr/>
        </p:nvSpPr>
        <p:spPr>
          <a:xfrm>
            <a:off x="6834420" y="2434649"/>
            <a:ext cx="4696000" cy="238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0D9488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Datos seguros en tu entorno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0D9488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Cumple con GDPR y normativas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0D9488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Control total para TI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lr>
                <a:srgbClr val="0D9488"/>
              </a:buClr>
              <a:buSzPct val="130000"/>
              <a:buFont typeface="Segoe UI Symbol" pitchFamily="34" charset="0"/>
              <a:buChar char="■"/>
            </a:pPr>
            <a:r>
              <a:rPr lang="es-ES" sz="1400" b="1" dirty="0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Cifrado de datos en tránsito y en </a:t>
            </a:r>
            <a:r>
              <a:rPr lang="es-ES" sz="1400" b="1" dirty="0" err="1">
                <a:solidFill>
                  <a:srgbClr val="1E293B"/>
                </a:solidFill>
                <a:latin typeface="Segoe UI Semibold" pitchFamily="34" charset="0"/>
                <a:cs typeface="Segoe UI Semibold" pitchFamily="34" charset="0"/>
              </a:rPr>
              <a:t>resposo</a:t>
            </a:r>
            <a:endParaRPr lang="es-ES" sz="1400" b="1" dirty="0">
              <a:solidFill>
                <a:srgbClr val="1E293B"/>
              </a:solidFill>
              <a:latin typeface="Segoe UI Semibold" pitchFamily="34" charset="0"/>
              <a:cs typeface="Segoe UI Semibold" pitchFamily="34" charset="0"/>
            </a:endParaRPr>
          </a:p>
        </p:txBody>
      </p:sp>
      <p:sp>
        <p:nvSpPr>
          <p:cNvPr id="58" name="Subtitle">
            <a:extLst>
              <a:ext uri="{FF2B5EF4-FFF2-40B4-BE49-F238E27FC236}">
                <a16:creationId xmlns:a16="http://schemas.microsoft.com/office/drawing/2014/main" id="{2011D940-CB30-2FC0-2981-9B62CE78C4F8}"/>
              </a:ext>
            </a:extLst>
          </p:cNvPr>
          <p:cNvSpPr/>
          <p:nvPr/>
        </p:nvSpPr>
        <p:spPr>
          <a:xfrm>
            <a:off x="2888225" y="983152"/>
            <a:ext cx="6415549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4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 peligros del uso no autorizado de herramientas de IA</a:t>
            </a:r>
            <a:endParaRPr lang="es-ES" sz="1400" dirty="0"/>
          </a:p>
        </p:txBody>
      </p:sp>
      <p:sp>
        <p:nvSpPr>
          <p:cNvPr id="63" name="Tip Bar BG">
            <a:extLst>
              <a:ext uri="{FF2B5EF4-FFF2-40B4-BE49-F238E27FC236}">
                <a16:creationId xmlns:a16="http://schemas.microsoft.com/office/drawing/2014/main" id="{C7B394E7-1B65-7570-F3B3-83F44C412C5D}"/>
              </a:ext>
            </a:extLst>
          </p:cNvPr>
          <p:cNvSpPr/>
          <p:nvPr/>
        </p:nvSpPr>
        <p:spPr>
          <a:xfrm>
            <a:off x="738420" y="4994649"/>
            <a:ext cx="4550746" cy="4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576" name="Tip Icon">
            <a:extLst>
              <a:ext uri="{FF2B5EF4-FFF2-40B4-BE49-F238E27FC236}">
                <a16:creationId xmlns:a16="http://schemas.microsoft.com/office/drawing/2014/main" id="{A46A2149-AB0B-40D4-E604-788CFB410F44}"/>
              </a:ext>
            </a:extLst>
          </p:cNvPr>
          <p:cNvSpPr/>
          <p:nvPr/>
        </p:nvSpPr>
        <p:spPr>
          <a:xfrm>
            <a:off x="934420" y="5056804"/>
            <a:ext cx="324000" cy="3400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Segoe UI" pitchFamily="34" charset="0"/>
              </a:rPr>
              <a:t>!</a:t>
            </a:r>
          </a:p>
        </p:txBody>
      </p:sp>
      <p:sp>
        <p:nvSpPr>
          <p:cNvPr id="577" name="Tip Text">
            <a:extLst>
              <a:ext uri="{FF2B5EF4-FFF2-40B4-BE49-F238E27FC236}">
                <a16:creationId xmlns:a16="http://schemas.microsoft.com/office/drawing/2014/main" id="{7AC514D8-AC4C-B127-D6A4-148F1846429D}"/>
              </a:ext>
            </a:extLst>
          </p:cNvPr>
          <p:cNvSpPr/>
          <p:nvPr/>
        </p:nvSpPr>
        <p:spPr>
          <a:xfrm>
            <a:off x="1328904" y="4994649"/>
            <a:ext cx="3841955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b="1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Tus datos </a:t>
            </a:r>
            <a:r>
              <a:rPr lang="es-ES" sz="1200" b="1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entrenan modelos externos</a:t>
            </a:r>
            <a:endParaRPr lang="es-ES" sz="1200" dirty="0"/>
          </a:p>
        </p:txBody>
      </p:sp>
      <p:sp>
        <p:nvSpPr>
          <p:cNvPr id="578" name="Tip Bar BG">
            <a:extLst>
              <a:ext uri="{FF2B5EF4-FFF2-40B4-BE49-F238E27FC236}">
                <a16:creationId xmlns:a16="http://schemas.microsoft.com/office/drawing/2014/main" id="{47BB4BF3-9D79-DC05-F64B-FA7B3B1D1E13}"/>
              </a:ext>
            </a:extLst>
          </p:cNvPr>
          <p:cNvSpPr/>
          <p:nvPr/>
        </p:nvSpPr>
        <p:spPr>
          <a:xfrm>
            <a:off x="6834420" y="4994649"/>
            <a:ext cx="4695999" cy="4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D9488"/>
              </a:gs>
              <a:gs pos="48000">
                <a:srgbClr val="0D9488">
                  <a:lumMod val="88000"/>
                  <a:lumOff val="12000"/>
                </a:srgb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579" name="Tip Icon">
            <a:extLst>
              <a:ext uri="{FF2B5EF4-FFF2-40B4-BE49-F238E27FC236}">
                <a16:creationId xmlns:a16="http://schemas.microsoft.com/office/drawing/2014/main" id="{393B1E64-8787-5D22-44B9-F71AE4062AB1}"/>
              </a:ext>
            </a:extLst>
          </p:cNvPr>
          <p:cNvSpPr/>
          <p:nvPr/>
        </p:nvSpPr>
        <p:spPr>
          <a:xfrm>
            <a:off x="7034420" y="5064649"/>
            <a:ext cx="324000" cy="3400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itchFamily="34" charset="0"/>
              </a:rPr>
              <a:t>✓</a:t>
            </a:r>
            <a:endParaRPr lang="en-US" sz="1400" b="1" dirty="0">
              <a:solidFill>
                <a:srgbClr val="FFFFFF"/>
              </a:solidFill>
              <a:latin typeface="Segoe UI" pitchFamily="34" charset="0"/>
            </a:endParaRPr>
          </a:p>
        </p:txBody>
      </p:sp>
      <p:sp>
        <p:nvSpPr>
          <p:cNvPr id="580" name="Tip Text">
            <a:extLst>
              <a:ext uri="{FF2B5EF4-FFF2-40B4-BE49-F238E27FC236}">
                <a16:creationId xmlns:a16="http://schemas.microsoft.com/office/drawing/2014/main" id="{E6A679DB-E371-CC79-47C4-ED1338BE8775}"/>
              </a:ext>
            </a:extLst>
          </p:cNvPr>
          <p:cNvSpPr/>
          <p:nvPr/>
        </p:nvSpPr>
        <p:spPr>
          <a:xfrm>
            <a:off x="7558420" y="4994649"/>
            <a:ext cx="3880503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b="1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Tus datos </a:t>
            </a:r>
            <a:r>
              <a:rPr lang="es-ES" sz="1200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nunca</a:t>
            </a:r>
            <a:r>
              <a:rPr lang="es-ES" sz="1200" b="1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entrenan el modelo</a:t>
            </a:r>
            <a:endParaRPr lang="es-ES" sz="1200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B42EFC3-E30B-56A3-47E0-3C6DA60AD03D}"/>
              </a:ext>
            </a:extLst>
          </p:cNvPr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3200" b="1" dirty="0">
                <a:latin typeface="Segoe UI Semibold"/>
                <a:ea typeface="Segoe UI Semibold"/>
                <a:cs typeface="Segoe UI Semibold"/>
              </a:rPr>
              <a:t>IA en la sombra</a:t>
            </a:r>
          </a:p>
        </p:txBody>
      </p:sp>
    </p:spTree>
    <p:extLst>
      <p:ext uri="{BB962C8B-B14F-4D97-AF65-F5344CB8AC3E}">
        <p14:creationId xmlns:p14="http://schemas.microsoft.com/office/powerpoint/2010/main" val="66856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— Intro a la IA generativa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La IA generativa no sustituye, amplifica al profesional: entender qué son los LLM y sus casos de uso permite identificar oportunidades reales y reconocer sus limitaciones.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Qué es la inteligencia artificial y cómo imita capacidades humanas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Modelos LLM (Large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Language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Models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) como base de la IA generativa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Casos de uso profesionales: documentación, análisis y comunicación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Tareas automatizables frente a competencias humanas clave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Impacto en el mundo profesional y nuevos perfiles emergentes</a:t>
            </a: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Learn — Fundamentos de IA generativa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learn.microsoft.com/training/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paths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introduction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-generative-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ai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Stanford CRFM —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On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the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Opportunities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and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Risks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of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Foundation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Models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arxiv.org/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abs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/2108.07258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OpenAI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Research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— GPT-4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Technical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Report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openai.com/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research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/gpt-4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134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39DB4-0518-1A06-B8B6-4BCBE32A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C21B153D-57A0-2C2D-DF60-FF57B9630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3469CD-1CE4-5C11-6637-6FECBFD51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82BCECA-D9B9-7ADD-8B12-E3E742CEF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772035-C2F7-5255-16F9-30EA42B2D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B11C1D6-D5BD-0116-90EC-8477AA75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FCC9B9E-E773-EBB1-D71B-38386103C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43143CE-9BA1-219D-916F-9DF292011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00BC98D-AB98-6F4A-BE37-5D4BF5683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DF36CBC-B851-3657-1500-EEBEE58AF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A19479F-410F-F8F1-74FC-E1FB890B7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DD81B0F2-FA93-5C64-D8B0-C21165EEBBA3}"/>
              </a:ext>
            </a:extLst>
          </p:cNvPr>
          <p:cNvSpPr txBox="1">
            <a:spLocks/>
          </p:cNvSpPr>
          <p:nvPr/>
        </p:nvSpPr>
        <p:spPr>
          <a:xfrm>
            <a:off x="3045368" y="204366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30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Microsoft 365 Copilot </a:t>
            </a:r>
            <a:r>
              <a:rPr kumimoji="0" lang="en-US" sz="5200" b="0" i="0" u="none" strike="noStrike" kern="1200" cap="none" spc="300" normalizeH="0" baseline="0" noProof="0" dirty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en</a:t>
            </a:r>
            <a:r>
              <a:rPr kumimoji="0" lang="en-US" sz="5200" b="0" i="0" u="none" strike="noStrike" kern="1200" cap="none" spc="30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5200" b="0" i="0" u="none" strike="noStrike" kern="1200" cap="none" spc="300" normalizeH="0" baseline="0" noProof="0" dirty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acción</a:t>
            </a:r>
            <a:endParaRPr kumimoji="0" lang="en-US" sz="5200" b="0" i="0" u="none" strike="noStrike" kern="1200" cap="none" spc="30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4765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4832-D974-8BEE-0D3A-218ECD75D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87F347A-EE07-6122-ACB7-DBEE47612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5820" y="716280"/>
            <a:ext cx="10510434" cy="5699760"/>
            <a:chOff x="6037045" y="1624062"/>
            <a:chExt cx="4036827" cy="4497246"/>
          </a:xfrm>
        </p:grpSpPr>
        <p:sp>
          <p:nvSpPr>
            <p:cNvPr id="5" name="Rectangle: Rounded Corners 24">
              <a:extLst>
                <a:ext uri="{FF2B5EF4-FFF2-40B4-BE49-F238E27FC236}">
                  <a16:creationId xmlns:a16="http://schemas.microsoft.com/office/drawing/2014/main" id="{D82C5B53-D2B2-06E8-AE50-C2F346E8594D}"/>
                </a:ext>
              </a:extLst>
            </p:cNvPr>
            <p:cNvSpPr/>
            <p:nvPr/>
          </p:nvSpPr>
          <p:spPr bwMode="auto">
            <a:xfrm>
              <a:off x="6037045" y="1624062"/>
              <a:ext cx="4035898" cy="4497244"/>
            </a:xfrm>
            <a:prstGeom prst="roundRect">
              <a:avLst>
                <a:gd name="adj" fmla="val 3337"/>
              </a:avLst>
            </a:prstGeom>
            <a:solidFill>
              <a:schemeClr val="bg1"/>
            </a:solidFill>
            <a:ln w="12700">
              <a:noFill/>
              <a:headEnd type="none" w="med" len="med"/>
              <a:tailEnd type="none" w="med" len="med"/>
            </a:ln>
            <a:effectLst>
              <a:outerShdw blurRad="127000" dir="2700000" algn="tl" rotWithShape="0">
                <a:srgbClr val="1E293B">
                  <a:alpha val="40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CE05519-4A57-F0DE-C3D9-95637D9A5B85}"/>
                </a:ext>
              </a:extLst>
            </p:cNvPr>
            <p:cNvSpPr/>
            <p:nvPr/>
          </p:nvSpPr>
          <p:spPr bwMode="auto">
            <a:xfrm>
              <a:off x="6037974" y="1624062"/>
              <a:ext cx="4035898" cy="4497246"/>
            </a:xfrm>
            <a:prstGeom prst="roundRect">
              <a:avLst>
                <a:gd name="adj" fmla="val 3196"/>
              </a:avLst>
            </a:prstGeom>
            <a:gradFill flip="none" rotWithShape="1">
              <a:gsLst>
                <a:gs pos="0">
                  <a:srgbClr val="EC4899">
                    <a:alpha val="10000"/>
                  </a:srgbClr>
                </a:gs>
                <a:gs pos="48000">
                  <a:srgbClr val="7C3AED">
                    <a:alpha val="10000"/>
                  </a:srgbClr>
                </a:gs>
                <a:gs pos="100000">
                  <a:srgbClr val="3B82F6">
                    <a:alpha val="10000"/>
                  </a:srgbClr>
                </a:gs>
              </a:gsLst>
              <a:lin ang="2700000" scaled="1"/>
            </a:gradFill>
            <a:ln w="12700">
              <a:gradFill flip="none" rotWithShape="1">
                <a:gsLst>
                  <a:gs pos="0">
                    <a:srgbClr val="EC4899"/>
                  </a:gs>
                  <a:gs pos="48000">
                    <a:srgbClr val="7C3AED"/>
                  </a:gs>
                  <a:gs pos="100000">
                    <a:srgbClr val="3B82F6"/>
                  </a:gs>
                </a:gsLst>
                <a:lin ang="2700000" scaled="1"/>
              </a:gra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5CA4ABC-8054-6F34-E4CE-33D1EADFD654}"/>
              </a:ext>
            </a:extLst>
          </p:cNvPr>
          <p:cNvSpPr txBox="1"/>
          <p:nvPr/>
        </p:nvSpPr>
        <p:spPr>
          <a:xfrm>
            <a:off x="1431210" y="3558981"/>
            <a:ext cx="405123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3200" b="1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Microsoft 365 Copilot</a:t>
            </a:r>
          </a:p>
        </p:txBody>
      </p:sp>
      <p:pic>
        <p:nvPicPr>
          <p:cNvPr id="10" name="Picture 9" descr="Imagen ilustrativa relacionada con Copilot Chat">
            <a:extLst>
              <a:ext uri="{FF2B5EF4-FFF2-40B4-BE49-F238E27FC236}">
                <a16:creationId xmlns:a16="http://schemas.microsoft.com/office/drawing/2014/main" id="{F8A97367-5DC4-BB96-9341-E3F621926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268" y="2418650"/>
            <a:ext cx="978270" cy="985924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20858B-AEE9-2323-EF10-122F10E31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11947" y="2914971"/>
            <a:ext cx="3267434" cy="3043869"/>
          </a:xfrm>
          <a:prstGeom prst="roundRect">
            <a:avLst>
              <a:gd name="adj" fmla="val 4879"/>
            </a:avLst>
          </a:prstGeom>
          <a:solidFill>
            <a:schemeClr val="bg1"/>
          </a:solidFill>
          <a:ln w="12700">
            <a:noFill/>
            <a:headEnd type="none" w="med" len="med"/>
            <a:tailEnd type="none" w="med" len="med"/>
          </a:ln>
          <a:effectLst>
            <a:outerShdw blurRad="127000" dir="2700000" algn="tl" rotWithShape="0">
              <a:srgbClr val="1E293B">
                <a:alpha val="17323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29" name="Graphic 40">
            <a:extLst>
              <a:ext uri="{FF2B5EF4-FFF2-40B4-BE49-F238E27FC236}">
                <a16:creationId xmlns:a16="http://schemas.microsoft.com/office/drawing/2014/main" id="{51A084BA-02C0-9A6D-A45C-D21BA3E7E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944" y="2371952"/>
            <a:ext cx="302954" cy="302954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95250 w 190500"/>
              <a:gd name="connsiteY5" fmla="*/ 47625 h 190500"/>
              <a:gd name="connsiteX6" fmla="*/ 88171 w 190500"/>
              <a:gd name="connsiteY6" fmla="*/ 53799 h 190500"/>
              <a:gd name="connsiteX7" fmla="*/ 88106 w 190500"/>
              <a:gd name="connsiteY7" fmla="*/ 54769 h 190500"/>
              <a:gd name="connsiteX8" fmla="*/ 88106 w 190500"/>
              <a:gd name="connsiteY8" fmla="*/ 88106 h 190500"/>
              <a:gd name="connsiteX9" fmla="*/ 54769 w 190500"/>
              <a:gd name="connsiteY9" fmla="*/ 88106 h 190500"/>
              <a:gd name="connsiteX10" fmla="*/ 47625 w 190500"/>
              <a:gd name="connsiteY10" fmla="*/ 95250 h 190500"/>
              <a:gd name="connsiteX11" fmla="*/ 53799 w 190500"/>
              <a:gd name="connsiteY11" fmla="*/ 102329 h 190500"/>
              <a:gd name="connsiteX12" fmla="*/ 54769 w 190500"/>
              <a:gd name="connsiteY12" fmla="*/ 102394 h 190500"/>
              <a:gd name="connsiteX13" fmla="*/ 88106 w 190500"/>
              <a:gd name="connsiteY13" fmla="*/ 102394 h 190500"/>
              <a:gd name="connsiteX14" fmla="*/ 88106 w 190500"/>
              <a:gd name="connsiteY14" fmla="*/ 135731 h 190500"/>
              <a:gd name="connsiteX15" fmla="*/ 95250 w 190500"/>
              <a:gd name="connsiteY15" fmla="*/ 142875 h 190500"/>
              <a:gd name="connsiteX16" fmla="*/ 102329 w 190500"/>
              <a:gd name="connsiteY16" fmla="*/ 136701 h 190500"/>
              <a:gd name="connsiteX17" fmla="*/ 102394 w 190500"/>
              <a:gd name="connsiteY17" fmla="*/ 135731 h 190500"/>
              <a:gd name="connsiteX18" fmla="*/ 102394 w 190500"/>
              <a:gd name="connsiteY18" fmla="*/ 102394 h 190500"/>
              <a:gd name="connsiteX19" fmla="*/ 135731 w 190500"/>
              <a:gd name="connsiteY19" fmla="*/ 102394 h 190500"/>
              <a:gd name="connsiteX20" fmla="*/ 142875 w 190500"/>
              <a:gd name="connsiteY20" fmla="*/ 95250 h 190500"/>
              <a:gd name="connsiteX21" fmla="*/ 136701 w 190500"/>
              <a:gd name="connsiteY21" fmla="*/ 88171 h 190500"/>
              <a:gd name="connsiteX22" fmla="*/ 135731 w 190500"/>
              <a:gd name="connsiteY22" fmla="*/ 88106 h 190500"/>
              <a:gd name="connsiteX23" fmla="*/ 102394 w 190500"/>
              <a:gd name="connsiteY23" fmla="*/ 88106 h 190500"/>
              <a:gd name="connsiteX24" fmla="*/ 102394 w 190500"/>
              <a:gd name="connsiteY24" fmla="*/ 54769 h 190500"/>
              <a:gd name="connsiteX25" fmla="*/ 95250 w 190500"/>
              <a:gd name="connsiteY25" fmla="*/ 476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55" y="0"/>
                  <a:pt x="190500" y="42645"/>
                  <a:pt x="190500" y="95250"/>
                </a:cubicBezTo>
                <a:cubicBezTo>
                  <a:pt x="190500" y="147855"/>
                  <a:pt x="147855" y="190500"/>
                  <a:pt x="95250" y="190500"/>
                </a:cubicBezTo>
                <a:cubicBezTo>
                  <a:pt x="42645" y="190500"/>
                  <a:pt x="0" y="147855"/>
                  <a:pt x="0" y="95250"/>
                </a:cubicBezTo>
                <a:cubicBezTo>
                  <a:pt x="0" y="42645"/>
                  <a:pt x="42645" y="0"/>
                  <a:pt x="95250" y="0"/>
                </a:cubicBezTo>
                <a:close/>
                <a:moveTo>
                  <a:pt x="95250" y="47625"/>
                </a:moveTo>
                <a:cubicBezTo>
                  <a:pt x="91633" y="47625"/>
                  <a:pt x="88644" y="50312"/>
                  <a:pt x="88171" y="53799"/>
                </a:cubicBezTo>
                <a:lnTo>
                  <a:pt x="88106" y="54769"/>
                </a:lnTo>
                <a:lnTo>
                  <a:pt x="88106" y="88106"/>
                </a:lnTo>
                <a:lnTo>
                  <a:pt x="54769" y="88106"/>
                </a:lnTo>
                <a:cubicBezTo>
                  <a:pt x="50823" y="88106"/>
                  <a:pt x="47625" y="91305"/>
                  <a:pt x="47625" y="95250"/>
                </a:cubicBezTo>
                <a:cubicBezTo>
                  <a:pt x="47625" y="98867"/>
                  <a:pt x="50312" y="101856"/>
                  <a:pt x="53799" y="102329"/>
                </a:cubicBezTo>
                <a:lnTo>
                  <a:pt x="54769" y="102394"/>
                </a:lnTo>
                <a:lnTo>
                  <a:pt x="88106" y="102394"/>
                </a:lnTo>
                <a:lnTo>
                  <a:pt x="88106" y="135731"/>
                </a:lnTo>
                <a:cubicBezTo>
                  <a:pt x="88106" y="139677"/>
                  <a:pt x="91305" y="142875"/>
                  <a:pt x="95250" y="142875"/>
                </a:cubicBezTo>
                <a:cubicBezTo>
                  <a:pt x="98867" y="142875"/>
                  <a:pt x="101856" y="140187"/>
                  <a:pt x="102329" y="136701"/>
                </a:cubicBezTo>
                <a:lnTo>
                  <a:pt x="102394" y="135731"/>
                </a:lnTo>
                <a:lnTo>
                  <a:pt x="102394" y="102394"/>
                </a:lnTo>
                <a:lnTo>
                  <a:pt x="135731" y="102394"/>
                </a:lnTo>
                <a:cubicBezTo>
                  <a:pt x="139677" y="102394"/>
                  <a:pt x="142875" y="99195"/>
                  <a:pt x="142875" y="95250"/>
                </a:cubicBezTo>
                <a:cubicBezTo>
                  <a:pt x="142875" y="91633"/>
                  <a:pt x="140187" y="88644"/>
                  <a:pt x="136701" y="88171"/>
                </a:cubicBezTo>
                <a:lnTo>
                  <a:pt x="135731" y="88106"/>
                </a:lnTo>
                <a:lnTo>
                  <a:pt x="102394" y="88106"/>
                </a:lnTo>
                <a:lnTo>
                  <a:pt x="102394" y="54769"/>
                </a:lnTo>
                <a:cubicBezTo>
                  <a:pt x="102394" y="50823"/>
                  <a:pt x="99195" y="47625"/>
                  <a:pt x="95250" y="47625"/>
                </a:cubicBezTo>
                <a:close/>
              </a:path>
            </a:pathLst>
          </a:custGeom>
          <a:gradFill>
            <a:gsLst>
              <a:gs pos="0">
                <a:srgbClr val="EC4899"/>
              </a:gs>
              <a:gs pos="21000">
                <a:srgbClr val="7C3AED"/>
              </a:gs>
              <a:gs pos="100000">
                <a:srgbClr val="3B82F6"/>
              </a:gs>
            </a:gsLst>
            <a:path path="circle">
              <a:fillToRect r="100000" b="100000"/>
            </a:path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329455F-F72D-AA9D-A7BA-E791AFBA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00011" y="1203961"/>
            <a:ext cx="3279368" cy="931374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12700">
            <a:noFill/>
            <a:headEnd type="none" w="med" len="med"/>
            <a:tailEnd type="none" w="med" len="med"/>
          </a:ln>
          <a:effectLst>
            <a:outerShdw blurRad="127000" dir="2700000" algn="tl" rotWithShape="0">
              <a:srgbClr val="1E293B">
                <a:alpha val="17323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020A2-E4F0-7C1D-FA7F-7C577E1E7293}"/>
              </a:ext>
            </a:extLst>
          </p:cNvPr>
          <p:cNvSpPr txBox="1"/>
          <p:nvPr/>
        </p:nvSpPr>
        <p:spPr>
          <a:xfrm>
            <a:off x="7268154" y="1380675"/>
            <a:ext cx="146995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000" b="1" i="0" strike="noStrike" cap="none" baseline="0" dirty="0" err="1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Copilot</a:t>
            </a:r>
            <a:r>
              <a:rPr lang="es-ES" sz="2000" b="1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 Chat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701608-4EA6-C81E-0BA8-068F41AF746F}"/>
              </a:ext>
            </a:extLst>
          </p:cNvPr>
          <p:cNvSpPr txBox="1"/>
          <p:nvPr/>
        </p:nvSpPr>
        <p:spPr>
          <a:xfrm>
            <a:off x="7268154" y="1752029"/>
            <a:ext cx="2373065" cy="1354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Segoe UI Semibold" pitchFamily="2" charset="0"/>
                <a:cs typeface="Segoe UI Semibold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100" b="0" i="0" strike="noStrike" cap="none" baseline="0" dirty="0">
                <a:solidFill>
                  <a:srgbClr val="334155"/>
                </a:solidFill>
                <a:effectLst/>
                <a:latin typeface="Segoe UI"/>
                <a:ea typeface="Segoe UI"/>
                <a:cs typeface="Segoe UI"/>
              </a:rPr>
              <a:t>Chat gratuito y seguro con IA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710F5-E690-5DF6-2136-6E100637CD8B}"/>
              </a:ext>
            </a:extLst>
          </p:cNvPr>
          <p:cNvSpPr txBox="1"/>
          <p:nvPr/>
        </p:nvSpPr>
        <p:spPr>
          <a:xfrm>
            <a:off x="7268156" y="4509343"/>
            <a:ext cx="1371265" cy="304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000" b="1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Agentes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EBA12B-F407-7CD4-8DE5-AB78DBB5D2B3}"/>
              </a:ext>
            </a:extLst>
          </p:cNvPr>
          <p:cNvSpPr txBox="1"/>
          <p:nvPr/>
        </p:nvSpPr>
        <p:spPr>
          <a:xfrm>
            <a:off x="7268156" y="3639523"/>
            <a:ext cx="2850629" cy="9541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000" b="1" i="0" strike="noStrike" cap="none" baseline="0" dirty="0" err="1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Copilot</a:t>
            </a:r>
            <a:r>
              <a:rPr lang="es-ES" sz="2000" b="1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 en aplicaciones de M365</a:t>
            </a:r>
            <a:br>
              <a:rPr sz="1400" dirty="0"/>
            </a:br>
            <a:r>
              <a:rPr lang="es-ES" sz="1100" b="0" i="0" strike="noStrike" cap="none" baseline="0" dirty="0" err="1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Teams</a:t>
            </a:r>
            <a:r>
              <a:rPr lang="es-ES" sz="11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, Outlook, Word, Excel, PowerPoint, OneNote</a:t>
            </a:r>
            <a:endParaRPr kumimoji="0" lang="en-US" sz="105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 Semibold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8AEAB3-68D9-2D48-E41C-306576158F92}"/>
              </a:ext>
            </a:extLst>
          </p:cNvPr>
          <p:cNvSpPr txBox="1"/>
          <p:nvPr/>
        </p:nvSpPr>
        <p:spPr>
          <a:xfrm>
            <a:off x="7268156" y="4899133"/>
            <a:ext cx="2788195" cy="609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000" b="1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Sistema de control de </a:t>
            </a:r>
            <a:r>
              <a:rPr lang="es-ES" sz="2000" b="1" i="0" strike="noStrike" cap="none" baseline="0" err="1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Copilot</a:t>
            </a:r>
            <a:endParaRPr lang="es-ES" sz="2000" b="1" i="0" strike="noStrike" cap="none" baseline="0">
              <a:solidFill>
                <a:srgbClr val="1E293B"/>
              </a:solidFill>
              <a:effectLst/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594F9F-0516-57DB-7029-3077AE39211A}"/>
              </a:ext>
            </a:extLst>
          </p:cNvPr>
          <p:cNvSpPr txBox="1"/>
          <p:nvPr/>
        </p:nvSpPr>
        <p:spPr>
          <a:xfrm>
            <a:off x="7268155" y="5593725"/>
            <a:ext cx="237306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000" b="1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Análisis de </a:t>
            </a:r>
            <a:r>
              <a:rPr lang="es-ES" sz="2000" b="1" i="0" strike="noStrike" cap="none" baseline="0" err="1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Copilot</a:t>
            </a:r>
            <a:endParaRPr lang="es-ES" sz="2000" b="1" i="0" strike="noStrike" cap="none" baseline="0">
              <a:solidFill>
                <a:srgbClr val="1E293B"/>
              </a:solidFill>
              <a:effectLst/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2E77C-E723-B686-B4C6-19D5A8FD84C6}"/>
              </a:ext>
            </a:extLst>
          </p:cNvPr>
          <p:cNvSpPr txBox="1"/>
          <p:nvPr/>
        </p:nvSpPr>
        <p:spPr>
          <a:xfrm>
            <a:off x="7268155" y="3077479"/>
            <a:ext cx="2539521" cy="477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000" b="1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M365</a:t>
            </a:r>
            <a:r>
              <a:rPr lang="es-ES" sz="2000" b="1" i="0" strike="noStrike" cap="none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r>
              <a:rPr lang="es-ES" sz="2000" b="1" i="0" strike="noStrike" cap="none" dirty="0" err="1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Copilot</a:t>
            </a:r>
            <a:r>
              <a:rPr lang="es-ES" sz="2000" b="1" i="0" strike="noStrike" cap="none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r>
              <a:rPr lang="es-ES" sz="2000" b="1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Chat </a:t>
            </a:r>
            <a:br>
              <a:rPr sz="1600" dirty="0"/>
            </a:br>
            <a:r>
              <a:rPr lang="es-ES" sz="11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Fundamentado en el trabajo</a:t>
            </a:r>
            <a:endParaRPr kumimoji="0" lang="en-US" sz="105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 Semibold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10D7A1E-A43C-2F5E-5F91-16ECD809D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6097375" y="1264920"/>
            <a:ext cx="0" cy="4693920"/>
          </a:xfrm>
          <a:prstGeom prst="line">
            <a:avLst/>
          </a:prstGeom>
          <a:ln w="12700">
            <a:solidFill>
              <a:srgbClr val="D9D9D6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Imagen ilustrativa relacionada con Copilot Chat">
            <a:extLst>
              <a:ext uri="{FF2B5EF4-FFF2-40B4-BE49-F238E27FC236}">
                <a16:creationId xmlns:a16="http://schemas.microsoft.com/office/drawing/2014/main" id="{CD772216-57C4-31AD-EDF8-6C14B7D45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7735165" y="1444252"/>
            <a:ext cx="437246" cy="440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D4B184-B33D-D275-9069-B64B1D667D83}"/>
              </a:ext>
            </a:extLst>
          </p:cNvPr>
          <p:cNvSpPr txBox="1"/>
          <p:nvPr/>
        </p:nvSpPr>
        <p:spPr>
          <a:xfrm>
            <a:off x="1401378" y="4224827"/>
            <a:ext cx="4110902" cy="172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Segoe UI Semibold" pitchFamily="2" charset="0"/>
                <a:cs typeface="Segoe UI Semibold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>
                <a:solidFill>
                  <a:srgbClr val="334155"/>
                </a:solidFill>
                <a:effectLst/>
                <a:latin typeface="Segoe UI"/>
                <a:ea typeface="Segoe UI"/>
                <a:cs typeface="Segoe UI"/>
              </a:rPr>
              <a:t>El asistente de inteligencia artificial para el trabajo</a:t>
            </a:r>
          </a:p>
        </p:txBody>
      </p:sp>
      <p:pic>
        <p:nvPicPr>
          <p:cNvPr id="4" name="Image 0" descr="Imagen ilustrativa relacionada con Copilot Chat">
            <a:extLst>
              <a:ext uri="{FF2B5EF4-FFF2-40B4-BE49-F238E27FC236}">
                <a16:creationId xmlns:a16="http://schemas.microsoft.com/office/drawing/2014/main" id="{73CD3991-26E9-B03C-976F-DD7F57DF1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71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p15="http://schemas.microsoft.com/office/powerpoint/2012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75E-06 -0.03472 L -3.75E-06 -4.07407E-06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-4.58333E-06 -0.03472 L -4.58333E-06 -7.40741E-07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1.25E-06 -0.03472 L 1.25E-06 -4.81481E-06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1.25E-06 -0.03472 L 1.25E-06 -3.7037E-06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3.75E-06 -0.03473 L -3.75E-06 4.44444E-06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33333E-06 -0.03472 L 3.33333E-06 2.59259E-06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6.25E-07 -0.03472 L 6.25E-07 7.40741E-07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9" grpId="0" animBg="1"/>
      <p:bldP spid="29" grpId="1" animBg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2" grpId="0"/>
      <p:bldP spid="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3200" b="1" dirty="0">
                <a:solidFill>
                  <a:srgbClr val="1E293B"/>
                </a:solidFill>
                <a:latin typeface="Segoe UI Semibold"/>
                <a:cs typeface="Segoe UI Semibold"/>
              </a:rPr>
              <a:t>Microsoft 365 </a:t>
            </a:r>
            <a:r>
              <a:rPr lang="es-ES" sz="3200" b="1" dirty="0" err="1">
                <a:solidFill>
                  <a:srgbClr val="1E293B"/>
                </a:solidFill>
                <a:latin typeface="Segoe UI Semibold"/>
                <a:cs typeface="Segoe UI Semibold"/>
              </a:rPr>
              <a:t>Copilot</a:t>
            </a:r>
            <a:r>
              <a:rPr lang="es-ES" sz="3200" b="1" dirty="0">
                <a:solidFill>
                  <a:srgbClr val="1E293B"/>
                </a:solidFill>
                <a:latin typeface="Segoe UI Semibold"/>
                <a:cs typeface="Segoe UI Semibold"/>
              </a:rPr>
              <a:t> </a:t>
            </a:r>
            <a:r>
              <a:rPr lang="es-ES" sz="3200" b="1" dirty="0">
                <a:gradFill>
                  <a:gsLst>
                    <a:gs pos="0">
                      <a:srgbClr val="3B82F6"/>
                    </a:gs>
                    <a:gs pos="100000">
                      <a:srgbClr val="7C3AED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Chat</a:t>
            </a:r>
          </a:p>
        </p:txBody>
      </p:sp>
      <p:sp>
        <p:nvSpPr>
          <p:cNvPr id="4" name="Description"/>
          <p:cNvSpPr/>
          <p:nvPr/>
        </p:nvSpPr>
        <p:spPr>
          <a:xfrm>
            <a:off x="1500000" y="1130844"/>
            <a:ext cx="9192000" cy="9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600" dirty="0">
                <a:solidFill>
                  <a:srgbClr val="475569"/>
                </a:solidFill>
                <a:latin typeface="Segoe UI"/>
                <a:cs typeface="Segoe UI"/>
              </a:rPr>
              <a:t>Chat de IA generativa de Microsoft que ofrece acceso seguro a los últimos modelos LLM con controles empresariales y protección de datos.</a:t>
            </a:r>
          </a:p>
        </p:txBody>
      </p:sp>
      <p:sp>
        <p:nvSpPr>
          <p:cNvPr id="10" name="BasicCard"/>
          <p:cNvSpPr/>
          <p:nvPr/>
        </p:nvSpPr>
        <p:spPr>
          <a:xfrm>
            <a:off x="975360" y="2350000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BasicBadge"/>
          <p:cNvSpPr/>
          <p:nvPr/>
        </p:nvSpPr>
        <p:spPr>
          <a:xfrm>
            <a:off x="1175360" y="2470000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0D9488"/>
              </a:gs>
              <a:gs pos="100000">
                <a:srgbClr val="14A8BC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emibold"/>
                <a:cs typeface="Segoe UI Semibold"/>
              </a:rPr>
              <a:t>Versión básica (gratuita)</a:t>
            </a:r>
          </a:p>
        </p:txBody>
      </p:sp>
      <p:sp>
        <p:nvSpPr>
          <p:cNvPr id="12" name="BasicList"/>
          <p:cNvSpPr/>
          <p:nvPr/>
        </p:nvSpPr>
        <p:spPr>
          <a:xfrm>
            <a:off x="1275360" y="3100000"/>
            <a:ext cx="4370000" cy="24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Chat</a:t>
            </a:r>
            <a:r>
              <a:rPr lang="es-ES" sz="1600" dirty="0">
                <a:solidFill>
                  <a:srgbClr val="1E293B"/>
                </a:solidFill>
                <a:latin typeface="Segoe UI"/>
              </a:rPr>
              <a:t> web con los últimos modelos LLM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Búsqueda en la 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web</a:t>
            </a:r>
            <a:r>
              <a:rPr lang="es-ES" sz="1600" dirty="0">
                <a:solidFill>
                  <a:srgbClr val="1E293B"/>
                </a:solidFill>
                <a:latin typeface="Segoe UI"/>
              </a:rPr>
              <a:t> y carga de 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archivos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Generación de 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imágenes </a:t>
            </a:r>
            <a:r>
              <a:rPr lang="es-ES" sz="16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y contenido</a:t>
            </a:r>
            <a:endParaRPr lang="es-ES" sz="1600" dirty="0">
              <a:solidFill>
                <a:srgbClr val="1E293B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Agentes de pago por uso bajo demanda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Protección de datos </a:t>
            </a:r>
            <a:r>
              <a:rPr lang="es-ES" sz="1600" dirty="0">
                <a:solidFill>
                  <a:srgbClr val="1E293B"/>
                </a:solidFill>
                <a:latin typeface="Segoe UI"/>
              </a:rPr>
              <a:t>empresariales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Controles de TI básicos</a:t>
            </a:r>
          </a:p>
        </p:txBody>
      </p:sp>
      <p:sp>
        <p:nvSpPr>
          <p:cNvPr id="20" name="LicensedCard"/>
          <p:cNvSpPr/>
          <p:nvPr/>
        </p:nvSpPr>
        <p:spPr>
          <a:xfrm>
            <a:off x="6246640" y="2350000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LicensedBadge"/>
          <p:cNvSpPr/>
          <p:nvPr/>
        </p:nvSpPr>
        <p:spPr>
          <a:xfrm>
            <a:off x="6446640" y="2470000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emibold"/>
                <a:cs typeface="Segoe UI Semibold"/>
              </a:rPr>
              <a:t>Versión con licencia (M365 Copilot)</a:t>
            </a:r>
          </a:p>
        </p:txBody>
      </p:sp>
      <p:sp>
        <p:nvSpPr>
          <p:cNvPr id="22" name="LicensedList"/>
          <p:cNvSpPr/>
          <p:nvPr/>
        </p:nvSpPr>
        <p:spPr>
          <a:xfrm>
            <a:off x="6546640" y="2992424"/>
            <a:ext cx="4370000" cy="24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b="1" dirty="0">
                <a:solidFill>
                  <a:srgbClr val="7C3AED"/>
                </a:solidFill>
                <a:latin typeface="Segoe UI Semibold"/>
              </a:rPr>
              <a:t>Todo lo de la versión básica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Chat fundamentado en los 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datos de tu organización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 err="1">
                <a:solidFill>
                  <a:srgbClr val="1E293B"/>
                </a:solidFill>
                <a:latin typeface="Segoe UI"/>
              </a:rPr>
              <a:t>Copilot</a:t>
            </a:r>
            <a:r>
              <a:rPr lang="es-ES"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integrado</a:t>
            </a:r>
            <a:r>
              <a:rPr lang="es-ES" sz="1600" dirty="0">
                <a:solidFill>
                  <a:srgbClr val="1E293B"/>
                </a:solidFill>
                <a:latin typeface="Segoe UI"/>
              </a:rPr>
              <a:t> en aplicaciones de M365: Word, Excel, PowerPoint, Outlook y </a:t>
            </a:r>
            <a:r>
              <a:rPr lang="es-ES" sz="1600" dirty="0" err="1">
                <a:solidFill>
                  <a:srgbClr val="1E293B"/>
                </a:solidFill>
                <a:latin typeface="Segoe UI"/>
              </a:rPr>
              <a:t>Teams</a:t>
            </a:r>
            <a:endParaRPr lang="es-ES" sz="1600" dirty="0">
              <a:solidFill>
                <a:srgbClr val="1E293B"/>
              </a:solidFill>
              <a:latin typeface="Segoe UI"/>
            </a:endParaRP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Agentes</a:t>
            </a:r>
            <a:r>
              <a:rPr lang="es-ES" sz="1600" dirty="0">
                <a:solidFill>
                  <a:srgbClr val="1E293B"/>
                </a:solidFill>
                <a:latin typeface="Segoe UI"/>
              </a:rPr>
              <a:t> sin pago por consumo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Administración y análisis avanzados</a:t>
            </a:r>
          </a:p>
        </p:txBody>
      </p:sp>
      <p:sp>
        <p:nvSpPr>
          <p:cNvPr id="30" name="SecurityNote"/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>
                <a:solidFill>
                  <a:srgbClr val="92400E"/>
                </a:solidFill>
                <a:latin typeface="Segoe UI Semibold"/>
                <a:cs typeface="Segoe UI Semibold"/>
              </a:rPr>
              <a:t>⚠ Nota: </a:t>
            </a:r>
            <a:r>
              <a:rPr lang="es-ES" sz="1400">
                <a:solidFill>
                  <a:srgbClr val="92400E"/>
                </a:solidFill>
                <a:latin typeface="Segoe UI"/>
                <a:cs typeface="Segoe UI"/>
              </a:rPr>
              <a:t>algunas funcionalidades pueden estar restringidas según la política de seguridad de tu organización.</a:t>
            </a:r>
          </a:p>
        </p:txBody>
      </p:sp>
      <p:pic>
        <p:nvPicPr>
          <p:cNvPr id="5" name="Picture 4" descr="Imagen ilustrativa relacionada con Microsoft 365 Copilot Chat">
            <a:extLst>
              <a:ext uri="{FF2B5EF4-FFF2-40B4-BE49-F238E27FC236}">
                <a16:creationId xmlns:a16="http://schemas.microsoft.com/office/drawing/2014/main" id="{919D2ACC-27C3-122C-F797-16EFD6387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690" y="301116"/>
            <a:ext cx="755934" cy="7618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3200" b="1" dirty="0">
                <a:solidFill>
                  <a:srgbClr val="1E293B"/>
                </a:solidFill>
                <a:latin typeface="Segoe UI Semibold"/>
                <a:cs typeface="Segoe UI Semibold"/>
              </a:rPr>
              <a:t>Capacidades exclusivas </a:t>
            </a:r>
            <a:r>
              <a:rPr lang="es-ES" sz="3200" b="1" dirty="0" err="1">
                <a:latin typeface="Segoe UI Semibold"/>
                <a:cs typeface="Segoe UI Semibold"/>
              </a:rPr>
              <a:t>Copilot</a:t>
            </a:r>
            <a:r>
              <a:rPr lang="es-ES" sz="3200" b="1" dirty="0">
                <a:latin typeface="Segoe UI Semibold"/>
                <a:cs typeface="Segoe UI Semibold"/>
              </a:rPr>
              <a:t> Chat </a:t>
            </a:r>
            <a:r>
              <a:rPr lang="es-ES" sz="3200" b="1" dirty="0">
                <a:gradFill>
                  <a:gsLst>
                    <a:gs pos="0">
                      <a:srgbClr val="3B82F6"/>
                    </a:gs>
                    <a:gs pos="100000">
                      <a:srgbClr val="7C3AED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premium</a:t>
            </a:r>
          </a:p>
        </p:txBody>
      </p:sp>
      <p:sp>
        <p:nvSpPr>
          <p:cNvPr id="4" name="Description"/>
          <p:cNvSpPr/>
          <p:nvPr/>
        </p:nvSpPr>
        <p:spPr>
          <a:xfrm>
            <a:off x="1500000" y="1130844"/>
            <a:ext cx="9192000" cy="9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600">
                <a:solidFill>
                  <a:srgbClr val="475569"/>
                </a:solidFill>
                <a:latin typeface="Segoe UI"/>
                <a:cs typeface="Segoe UI"/>
              </a:rPr>
              <a:t>Funcionalidades reservadas a los usuarios con licencia Microsoft 365 Copilot: agentes avanzados sin pago por uso y Work mode fundamentado en los datos de tu organización.</a:t>
            </a:r>
          </a:p>
        </p:txBody>
      </p:sp>
      <p:sp>
        <p:nvSpPr>
          <p:cNvPr id="10" name="BasicCard"/>
          <p:cNvSpPr/>
          <p:nvPr/>
        </p:nvSpPr>
        <p:spPr>
          <a:xfrm>
            <a:off x="986553" y="2165583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BasicBadge"/>
          <p:cNvSpPr/>
          <p:nvPr/>
        </p:nvSpPr>
        <p:spPr>
          <a:xfrm>
            <a:off x="1186553" y="2285583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0D9488"/>
              </a:gs>
              <a:gs pos="100000">
                <a:srgbClr val="14A8BC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 dirty="0">
                <a:solidFill>
                  <a:srgbClr val="FFFFFF"/>
                </a:solidFill>
                <a:latin typeface="Segoe UI Semibold"/>
                <a:cs typeface="Segoe UI Semibold"/>
              </a:rPr>
              <a:t>Agentes</a:t>
            </a:r>
          </a:p>
        </p:txBody>
      </p:sp>
      <p:sp>
        <p:nvSpPr>
          <p:cNvPr id="12" name="BasicList"/>
          <p:cNvSpPr/>
          <p:nvPr/>
        </p:nvSpPr>
        <p:spPr>
          <a:xfrm>
            <a:off x="1286553" y="2915583"/>
            <a:ext cx="4370000" cy="24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35000"/>
              </a:lnSpc>
              <a:buFont typeface="Arial"/>
              <a:buChar char="•"/>
            </a:pPr>
            <a:r>
              <a:rPr lang="es-ES" sz="1500" dirty="0">
                <a:solidFill>
                  <a:srgbClr val="109C9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Asistentes especializados </a:t>
            </a:r>
            <a:r>
              <a:rPr lang="es-ES" sz="1500" dirty="0">
                <a:latin typeface="Segoe UI" panose="020B0502040204020203" pitchFamily="34" charset="0"/>
                <a:cs typeface="Segoe UI" panose="020B0502040204020203" pitchFamily="34" charset="0"/>
              </a:rPr>
              <a:t>que combinan el LLM con instrucciones, conocimiento y acciones para resolver tareas concretas dentro de </a:t>
            </a:r>
            <a:r>
              <a:rPr lang="es-E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Copilot</a:t>
            </a:r>
            <a:r>
              <a:rPr lang="es-ES" sz="1500" dirty="0">
                <a:latin typeface="Segoe UI" panose="020B0502040204020203" pitchFamily="34" charset="0"/>
                <a:cs typeface="Segoe UI" panose="020B0502040204020203" pitchFamily="34" charset="0"/>
              </a:rPr>
              <a:t> Chat.</a:t>
            </a:r>
            <a:endParaRPr lang="es-ES" sz="15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Marketplace</a:t>
            </a:r>
            <a:r>
              <a:rPr lang="es-ES" sz="1500" dirty="0">
                <a:latin typeface="Segoe UI" panose="020B0502040204020203" pitchFamily="34" charset="0"/>
                <a:cs typeface="Segoe UI" panose="020B0502040204020203" pitchFamily="34" charset="0"/>
              </a:rPr>
              <a:t> de agentes de Microsoft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Agentes propios </a:t>
            </a:r>
            <a:r>
              <a:rPr lang="es-ES" sz="1500" dirty="0">
                <a:latin typeface="Segoe UI" panose="020B0502040204020203" pitchFamily="34" charset="0"/>
                <a:cs typeface="Segoe UI" panose="020B0502040204020203" pitchFamily="34" charset="0"/>
              </a:rPr>
              <a:t>creados con </a:t>
            </a:r>
            <a:r>
              <a:rPr lang="es-E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Copilot</a:t>
            </a:r>
            <a:r>
              <a:rPr lang="es-ES" sz="1500" dirty="0">
                <a:latin typeface="Segoe UI" panose="020B0502040204020203" pitchFamily="34" charset="0"/>
                <a:cs typeface="Segoe UI" panose="020B0502040204020203" pitchFamily="34" charset="0"/>
              </a:rPr>
              <a:t> Studio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Agentes corporativos </a:t>
            </a:r>
            <a:r>
              <a:rPr lang="es-ES" sz="1500" dirty="0">
                <a:latin typeface="Segoe UI" panose="020B0502040204020203" pitchFamily="34" charset="0"/>
                <a:cs typeface="Segoe UI" panose="020B0502040204020203" pitchFamily="34" charset="0"/>
              </a:rPr>
              <a:t>publicados por TI</a:t>
            </a:r>
          </a:p>
        </p:txBody>
      </p:sp>
      <p:sp>
        <p:nvSpPr>
          <p:cNvPr id="20" name="LicensedCard"/>
          <p:cNvSpPr/>
          <p:nvPr/>
        </p:nvSpPr>
        <p:spPr>
          <a:xfrm>
            <a:off x="6257833" y="2165583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LicensedBadge"/>
          <p:cNvSpPr/>
          <p:nvPr/>
        </p:nvSpPr>
        <p:spPr>
          <a:xfrm>
            <a:off x="6457833" y="2285583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emibold"/>
                <a:cs typeface="Segoe UI Semibold"/>
              </a:rPr>
              <a:t>Work mode</a:t>
            </a:r>
          </a:p>
        </p:txBody>
      </p:sp>
      <p:sp>
        <p:nvSpPr>
          <p:cNvPr id="22" name="LicensedList"/>
          <p:cNvSpPr/>
          <p:nvPr/>
        </p:nvSpPr>
        <p:spPr>
          <a:xfrm>
            <a:off x="6557833" y="2915583"/>
            <a:ext cx="4370000" cy="234242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35000"/>
              </a:lnSpc>
              <a:buFont typeface="Arial"/>
              <a:buChar char="•"/>
            </a:pPr>
            <a:r>
              <a:rPr lang="es-ES" sz="1500" dirty="0">
                <a:solidFill>
                  <a:srgbClr val="1E293B"/>
                </a:solidFill>
                <a:latin typeface="Segoe UI"/>
              </a:rPr>
              <a:t>Chat fundamentado en los datos de tu </a:t>
            </a:r>
            <a:r>
              <a:rPr lang="es-ES" sz="1500" b="1" dirty="0">
                <a:solidFill>
                  <a:srgbClr val="7C3AED"/>
                </a:solidFill>
                <a:latin typeface="Segoe UI Semibold"/>
              </a:rPr>
              <a:t>organización</a:t>
            </a:r>
            <a:endParaRPr lang="es-ES" sz="1500" dirty="0">
              <a:solidFill>
                <a:srgbClr val="1E293B"/>
              </a:solidFill>
              <a:latin typeface="Segoe UI"/>
            </a:endParaRPr>
          </a:p>
          <a:p>
            <a:pPr marL="228600" indent="-228600">
              <a:lnSpc>
                <a:spcPct val="135000"/>
              </a:lnSpc>
              <a:buFont typeface="Arial"/>
              <a:buChar char="•"/>
            </a:pPr>
            <a:r>
              <a:rPr lang="es-ES" sz="1500" dirty="0">
                <a:solidFill>
                  <a:srgbClr val="1E293B"/>
                </a:solidFill>
                <a:latin typeface="Segoe UI"/>
              </a:rPr>
              <a:t>Acceso a correos, archivos, chats y reuniones vía </a:t>
            </a:r>
            <a:r>
              <a:rPr lang="es-ES" sz="1500" b="1" dirty="0">
                <a:solidFill>
                  <a:srgbClr val="1E293B"/>
                </a:solidFill>
                <a:latin typeface="Segoe UI Semibold"/>
              </a:rPr>
              <a:t>Microsoft Graph</a:t>
            </a:r>
          </a:p>
          <a:p>
            <a:pPr marL="228600" indent="-228600">
              <a:lnSpc>
                <a:spcPct val="135000"/>
              </a:lnSpc>
              <a:buFont typeface="Arial"/>
              <a:buChar char="•"/>
            </a:pPr>
            <a:r>
              <a:rPr lang="es-ES" sz="1500" b="1" dirty="0">
                <a:solidFill>
                  <a:srgbClr val="1E293B"/>
                </a:solidFill>
                <a:latin typeface="Segoe UI Semibold"/>
              </a:rPr>
              <a:t>Cuadernos </a:t>
            </a:r>
            <a:r>
              <a:rPr lang="es-ES" sz="1500" b="1">
                <a:solidFill>
                  <a:srgbClr val="1E293B"/>
                </a:solidFill>
                <a:latin typeface="Segoe UI Semibold"/>
              </a:rPr>
              <a:t>(Notebooks) </a:t>
            </a:r>
            <a:r>
              <a:rPr lang="es-ES" sz="1500" b="1" dirty="0">
                <a:solidFill>
                  <a:srgbClr val="1E293B"/>
                </a:solidFill>
                <a:latin typeface="Segoe UI Semibold"/>
              </a:rPr>
              <a:t>de </a:t>
            </a:r>
            <a:r>
              <a:rPr lang="es-ES" sz="1500" b="1" dirty="0" err="1">
                <a:solidFill>
                  <a:srgbClr val="1E293B"/>
                </a:solidFill>
                <a:latin typeface="Segoe UI Semibold"/>
              </a:rPr>
              <a:t>Copilot</a:t>
            </a:r>
            <a:r>
              <a:rPr lang="es-ES" sz="1500" b="1" dirty="0">
                <a:solidFill>
                  <a:srgbClr val="1E293B"/>
                </a:solidFill>
                <a:latin typeface="Segoe UI Semibold"/>
              </a:rPr>
              <a:t> </a:t>
            </a:r>
            <a:r>
              <a:rPr lang="es-ES" sz="1500" dirty="0">
                <a:solidFill>
                  <a:srgbClr val="1E293B"/>
                </a:solidFill>
                <a:latin typeface="Segoe UI"/>
              </a:rPr>
              <a:t>para colaborar en tiempo real</a:t>
            </a:r>
          </a:p>
          <a:p>
            <a:pPr marL="228600" indent="-228600">
              <a:lnSpc>
                <a:spcPct val="135000"/>
              </a:lnSpc>
              <a:buFont typeface="Arial"/>
              <a:buChar char="•"/>
            </a:pPr>
            <a:r>
              <a:rPr lang="es-ES" sz="1500" dirty="0" err="1">
                <a:solidFill>
                  <a:srgbClr val="1E293B"/>
                </a:solidFill>
                <a:latin typeface="Segoe UI"/>
              </a:rPr>
              <a:t>Copilot</a:t>
            </a:r>
            <a:r>
              <a:rPr lang="es-ES" sz="1500" dirty="0">
                <a:solidFill>
                  <a:srgbClr val="1E293B"/>
                </a:solidFill>
                <a:latin typeface="Segoe UI"/>
              </a:rPr>
              <a:t> en </a:t>
            </a:r>
            <a:r>
              <a:rPr lang="es-ES" sz="1500" b="1" dirty="0">
                <a:solidFill>
                  <a:srgbClr val="1E293B"/>
                </a:solidFill>
                <a:latin typeface="Segoe UI Semibold"/>
              </a:rPr>
              <a:t>Word, Excel, PowerPoint y Outlook</a:t>
            </a:r>
          </a:p>
        </p:txBody>
      </p:sp>
      <p:sp>
        <p:nvSpPr>
          <p:cNvPr id="30" name="SecurityNote"/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Segoe UI Semibold"/>
                <a:cs typeface="Segoe UI Semibold"/>
              </a:rPr>
              <a:t>💡 Recuerda: 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todas estas capacidades requieren licencia Microsoft </a:t>
            </a:r>
            <a:r>
              <a:rPr lang="es-ES" sz="1400">
                <a:solidFill>
                  <a:srgbClr val="92400E"/>
                </a:solidFill>
                <a:latin typeface="Segoe UI"/>
                <a:cs typeface="Segoe UI"/>
              </a:rPr>
              <a:t>365 Copilot 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y respetan los permisos existentes de cada usuario en Microsoft Graph.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Acceso a M365 </a:t>
            </a:r>
            <a:r>
              <a:rPr lang="es-ES" sz="3200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Copilot</a:t>
            </a:r>
            <a:r>
              <a:rPr lang="es-ES" sz="3200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Chat</a:t>
            </a:r>
            <a:endParaRPr lang="es-E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itle 1"/>
          <p:cNvSpPr/>
          <p:nvPr/>
        </p:nvSpPr>
        <p:spPr>
          <a:xfrm>
            <a:off x="663361" y="1700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Explorador web</a:t>
            </a:r>
            <a:endParaRPr lang="es-ES" sz="2000" dirty="0"/>
          </a:p>
        </p:txBody>
      </p:sp>
      <p:sp>
        <p:nvSpPr>
          <p:cNvPr id="5" name="Body 1"/>
          <p:cNvSpPr/>
          <p:nvPr/>
        </p:nvSpPr>
        <p:spPr>
          <a:xfrm>
            <a:off x="663361" y="2200000"/>
            <a:ext cx="52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 a </a:t>
            </a:r>
            <a:r>
              <a:rPr lang="es-ES" sz="1600" u="sng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m365.cloud.Microsoft</a:t>
            </a:r>
            <a:endParaRPr lang="es-ES" sz="1600" dirty="0"/>
          </a:p>
        </p:txBody>
      </p:sp>
      <p:sp>
        <p:nvSpPr>
          <p:cNvPr id="60" name="Web Card"/>
          <p:cNvSpPr/>
          <p:nvPr/>
        </p:nvSpPr>
        <p:spPr>
          <a:xfrm>
            <a:off x="963361" y="3050000"/>
            <a:ext cx="4600000" cy="250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s-ES"/>
          </a:p>
        </p:txBody>
      </p:sp>
      <p:pic>
        <p:nvPicPr>
          <p:cNvPr id="6" name="Image Web" descr="Imagen ilustrativa relacionada con Acceso a Copilot Ch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461" y="3300000"/>
            <a:ext cx="2263800" cy="1400000"/>
          </a:xfrm>
          <a:prstGeom prst="roundRect">
            <a:avLst>
              <a:gd name="adj" fmla="val 6000"/>
            </a:avLst>
          </a:prstGeom>
          <a:ln w="9525">
            <a:solidFill>
              <a:srgbClr val="E2E8F0"/>
            </a:solidFill>
          </a:ln>
        </p:spPr>
      </p:pic>
      <p:sp>
        <p:nvSpPr>
          <p:cNvPr id="62" name="Web Label"/>
          <p:cNvSpPr/>
          <p:nvPr/>
        </p:nvSpPr>
        <p:spPr>
          <a:xfrm>
            <a:off x="963361" y="4700000"/>
            <a:ext cx="46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s-ES" sz="14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365 web</a:t>
            </a:r>
          </a:p>
          <a:p>
            <a:pPr algn="ctr"/>
            <a:r>
              <a:rPr lang="es-ES" sz="12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Cualquier navegador</a:t>
            </a:r>
            <a:endParaRPr lang="es-ES" sz="1200" dirty="0"/>
          </a:p>
        </p:txBody>
      </p:sp>
      <p:sp>
        <p:nvSpPr>
          <p:cNvPr id="8" name="Title 2"/>
          <p:cNvSpPr/>
          <p:nvPr/>
        </p:nvSpPr>
        <p:spPr>
          <a:xfrm>
            <a:off x="6328639" y="1700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Navegador Microsoft Edge</a:t>
            </a:r>
            <a:endParaRPr lang="es-ES" sz="2000"/>
          </a:p>
        </p:txBody>
      </p:sp>
      <p:sp>
        <p:nvSpPr>
          <p:cNvPr id="9" name="Body 2"/>
          <p:cNvSpPr/>
          <p:nvPr/>
        </p:nvSpPr>
        <p:spPr>
          <a:xfrm>
            <a:off x="6328639" y="2200000"/>
            <a:ext cx="520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Selecciona el icono de </a:t>
            </a:r>
            <a:r>
              <a:rPr lang="es-ES" sz="1600" dirty="0" err="1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Copilot</a:t>
            </a: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 la esquina superior derecha de la barra del navegador Edge</a:t>
            </a:r>
            <a:endParaRPr lang="es-ES" sz="1600" dirty="0"/>
          </a:p>
        </p:txBody>
      </p:sp>
      <p:sp>
        <p:nvSpPr>
          <p:cNvPr id="61" name="Edge Card"/>
          <p:cNvSpPr/>
          <p:nvPr/>
        </p:nvSpPr>
        <p:spPr>
          <a:xfrm>
            <a:off x="6628639" y="3050000"/>
            <a:ext cx="4600000" cy="250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s-ES"/>
          </a:p>
        </p:txBody>
      </p:sp>
      <p:pic>
        <p:nvPicPr>
          <p:cNvPr id="10" name="Image Edge" descr="Imagen ilustrativa relacionada con Acceso a Copilot Cha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039" y="3275931"/>
            <a:ext cx="2209200" cy="1400000"/>
          </a:xfrm>
          <a:prstGeom prst="roundRect">
            <a:avLst>
              <a:gd name="adj" fmla="val 6000"/>
            </a:avLst>
          </a:prstGeom>
          <a:ln w="9525">
            <a:solidFill>
              <a:srgbClr val="E2E8F0"/>
            </a:solidFill>
          </a:ln>
        </p:spPr>
      </p:pic>
      <p:sp>
        <p:nvSpPr>
          <p:cNvPr id="63" name="Edge Label"/>
          <p:cNvSpPr/>
          <p:nvPr/>
        </p:nvSpPr>
        <p:spPr>
          <a:xfrm>
            <a:off x="6628639" y="4700000"/>
            <a:ext cx="46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s-ES" sz="14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Edge</a:t>
            </a:r>
          </a:p>
          <a:p>
            <a:pPr algn="ctr"/>
            <a:r>
              <a:rPr lang="es-ES" sz="1200" dirty="0" err="1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Copilot</a:t>
            </a:r>
            <a:r>
              <a:rPr lang="es-ES" sz="12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integrado</a:t>
            </a:r>
            <a:endParaRPr lang="es-ES" sz="1200" dirty="0"/>
          </a:p>
        </p:txBody>
      </p:sp>
      <p:sp>
        <p:nvSpPr>
          <p:cNvPr id="30" name="Info Bar"/>
          <p:cNvSpPr/>
          <p:nvPr/>
        </p:nvSpPr>
        <p:spPr>
          <a:xfrm>
            <a:off x="1036800" y="5751861"/>
            <a:ext cx="10241280" cy="600000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5B21B6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31" name="Info Icon BG"/>
          <p:cNvSpPr/>
          <p:nvPr/>
        </p:nvSpPr>
        <p:spPr>
          <a:xfrm>
            <a:off x="1199120" y="5824347"/>
            <a:ext cx="400000" cy="4000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endParaRPr lang="en-US" sz="1600"/>
          </a:p>
        </p:txBody>
      </p:sp>
      <p:sp>
        <p:nvSpPr>
          <p:cNvPr id="32" name="Info Text"/>
          <p:cNvSpPr/>
          <p:nvPr/>
        </p:nvSpPr>
        <p:spPr>
          <a:xfrm>
            <a:off x="1761440" y="5751861"/>
            <a:ext cx="95166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b="1" dirty="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Consejo</a:t>
            </a:r>
            <a:r>
              <a:rPr lang="es-ES" sz="1600" dirty="0">
                <a:solidFill>
                  <a:srgbClr val="E8D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—  La experiencia es la misma en todas las plataformas. Inicia sesión con tu cuenta profesional.</a:t>
            </a:r>
            <a:endParaRPr lang="es-ES" sz="1600" dirty="0"/>
          </a:p>
        </p:txBody>
      </p:sp>
      <p:pic>
        <p:nvPicPr>
          <p:cNvPr id="3" name="Image 0" descr="Imagen ilustrativa relacionada con Acceso a Copilot Chat">
            <a:extLst>
              <a:ext uri="{FF2B5EF4-FFF2-40B4-BE49-F238E27FC236}">
                <a16:creationId xmlns:a16="http://schemas.microsoft.com/office/drawing/2014/main" id="{3993C855-4B6A-B3E2-77FE-CEF5AF53D2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374"/>
            <a:ext cx="12192000" cy="73152"/>
          </a:xfrm>
          <a:prstGeom prst="rect">
            <a:avLst/>
          </a:prstGeom>
        </p:spPr>
      </p:pic>
      <p:pic>
        <p:nvPicPr>
          <p:cNvPr id="7" name="Image 0" descr="Imagen ilustrativa relacionada con Acceso a Copilot Chat">
            <a:extLst>
              <a:ext uri="{FF2B5EF4-FFF2-40B4-BE49-F238E27FC236}">
                <a16:creationId xmlns:a16="http://schemas.microsoft.com/office/drawing/2014/main" id="{ABDDAE4F-BA37-2C4E-F9EA-36E267A313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374"/>
            <a:ext cx="12192000" cy="73152"/>
          </a:xfrm>
          <a:prstGeom prst="rect">
            <a:avLst/>
          </a:prstGeom>
        </p:spPr>
      </p:pic>
      <p:sp>
        <p:nvSpPr>
          <p:cNvPr id="11" name="Subtitle">
            <a:extLst>
              <a:ext uri="{FF2B5EF4-FFF2-40B4-BE49-F238E27FC236}">
                <a16:creationId xmlns:a16="http://schemas.microsoft.com/office/drawing/2014/main" id="{45FE1003-7AFA-59C9-3FF7-BB709EE1FCA3}"/>
              </a:ext>
            </a:extLst>
          </p:cNvPr>
          <p:cNvSpPr/>
          <p:nvPr/>
        </p:nvSpPr>
        <p:spPr>
          <a:xfrm>
            <a:off x="975360" y="1150000"/>
            <a:ext cx="102412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8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Aplicación de web y de Microsoft Edge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275925777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Acceso a M365 </a:t>
            </a:r>
            <a:r>
              <a:rPr lang="es-ES" sz="3200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Copilot</a:t>
            </a:r>
            <a:r>
              <a:rPr lang="es-ES" sz="3200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Chat</a:t>
            </a:r>
            <a:endParaRPr lang="es-E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"/>
          <p:cNvSpPr/>
          <p:nvPr/>
        </p:nvSpPr>
        <p:spPr>
          <a:xfrm>
            <a:off x="975360" y="1150000"/>
            <a:ext cx="102412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8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Aplicación de escritorio y móvil</a:t>
            </a:r>
            <a:endParaRPr lang="es-ES" sz="1800" dirty="0"/>
          </a:p>
        </p:txBody>
      </p:sp>
      <p:sp>
        <p:nvSpPr>
          <p:cNvPr id="4" name="Title 1"/>
          <p:cNvSpPr/>
          <p:nvPr/>
        </p:nvSpPr>
        <p:spPr>
          <a:xfrm>
            <a:off x="663361" y="1700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Aplicación de escritorio</a:t>
            </a:r>
            <a:endParaRPr lang="es-ES" sz="2000"/>
          </a:p>
        </p:txBody>
      </p:sp>
      <p:sp>
        <p:nvSpPr>
          <p:cNvPr id="5" name="Body 1"/>
          <p:cNvSpPr/>
          <p:nvPr/>
        </p:nvSpPr>
        <p:spPr>
          <a:xfrm>
            <a:off x="663361" y="2200000"/>
            <a:ext cx="52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40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Disponible como aplicación de escritorio en Windows y macOS a través de Microsoft Teams o la aplicación Microsoft 365.</a:t>
            </a:r>
            <a:endParaRPr lang="es-ES" sz="1400"/>
          </a:p>
        </p:txBody>
      </p:sp>
      <p:sp>
        <p:nvSpPr>
          <p:cNvPr id="50" name="Desktop Card"/>
          <p:cNvSpPr/>
          <p:nvPr/>
        </p:nvSpPr>
        <p:spPr>
          <a:xfrm>
            <a:off x="963361" y="3050000"/>
            <a:ext cx="4600000" cy="250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s-ES"/>
          </a:p>
        </p:txBody>
      </p:sp>
      <p:sp>
        <p:nvSpPr>
          <p:cNvPr id="51" name="Monitor Screen"/>
          <p:cNvSpPr/>
          <p:nvPr/>
        </p:nvSpPr>
        <p:spPr>
          <a:xfrm>
            <a:off x="2363361" y="3250000"/>
            <a:ext cx="1800000" cy="11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ES" sz="1200">
                <a:solidFill>
                  <a:srgbClr val="7C3AE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Copilot</a:t>
            </a:r>
            <a:endParaRPr lang="es-ES" sz="1200"/>
          </a:p>
        </p:txBody>
      </p:sp>
      <p:sp>
        <p:nvSpPr>
          <p:cNvPr id="56" name="Monitor Stand"/>
          <p:cNvSpPr/>
          <p:nvPr/>
        </p:nvSpPr>
        <p:spPr>
          <a:xfrm>
            <a:off x="3063361" y="4350000"/>
            <a:ext cx="400000" cy="150000"/>
          </a:xfrm>
          <a:prstGeom prst="trapezoid">
            <a:avLst>
              <a:gd name="adj" fmla="val 35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52" name="Desktop Label"/>
          <p:cNvSpPr/>
          <p:nvPr/>
        </p:nvSpPr>
        <p:spPr>
          <a:xfrm>
            <a:off x="963361" y="4550000"/>
            <a:ext cx="46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endParaRPr lang="es-ES" sz="1200" dirty="0"/>
          </a:p>
        </p:txBody>
      </p:sp>
      <p:sp>
        <p:nvSpPr>
          <p:cNvPr id="8" name="Title 2"/>
          <p:cNvSpPr/>
          <p:nvPr/>
        </p:nvSpPr>
        <p:spPr>
          <a:xfrm>
            <a:off x="6403720" y="1700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Aplicación móvil</a:t>
            </a:r>
            <a:endParaRPr lang="es-ES" sz="2000"/>
          </a:p>
        </p:txBody>
      </p:sp>
      <p:sp>
        <p:nvSpPr>
          <p:cNvPr id="9" name="Body 2"/>
          <p:cNvSpPr/>
          <p:nvPr/>
        </p:nvSpPr>
        <p:spPr>
          <a:xfrm>
            <a:off x="6403720" y="2200000"/>
            <a:ext cx="52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40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Accede desde tu dispositivo iOS o Android descargando la aplicación Microsoft 365 Copilot desde la tienda de aplicaciones.</a:t>
            </a:r>
            <a:endParaRPr lang="es-ES" sz="1400"/>
          </a:p>
        </p:txBody>
      </p:sp>
      <p:sp>
        <p:nvSpPr>
          <p:cNvPr id="53" name="Mobile Card"/>
          <p:cNvSpPr/>
          <p:nvPr/>
        </p:nvSpPr>
        <p:spPr>
          <a:xfrm>
            <a:off x="6703720" y="3050000"/>
            <a:ext cx="4600000" cy="250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s-ES"/>
          </a:p>
        </p:txBody>
      </p:sp>
      <p:sp>
        <p:nvSpPr>
          <p:cNvPr id="54" name="Phone Shape"/>
          <p:cNvSpPr/>
          <p:nvPr/>
        </p:nvSpPr>
        <p:spPr>
          <a:xfrm>
            <a:off x="8542355" y="3233994"/>
            <a:ext cx="755326" cy="130186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ES" sz="900">
                <a:solidFill>
                  <a:srgbClr val="7C3AE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Copilot</a:t>
            </a:r>
            <a:endParaRPr lang="es-ES" sz="900"/>
          </a:p>
        </p:txBody>
      </p:sp>
      <p:sp>
        <p:nvSpPr>
          <p:cNvPr id="55" name="Mobile Label"/>
          <p:cNvSpPr/>
          <p:nvPr/>
        </p:nvSpPr>
        <p:spPr>
          <a:xfrm>
            <a:off x="6703720" y="4550000"/>
            <a:ext cx="46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endParaRPr lang="es-ES" sz="1200" dirty="0"/>
          </a:p>
        </p:txBody>
      </p:sp>
      <p:sp>
        <p:nvSpPr>
          <p:cNvPr id="30" name="Info Bar"/>
          <p:cNvSpPr/>
          <p:nvPr/>
        </p:nvSpPr>
        <p:spPr>
          <a:xfrm>
            <a:off x="1036800" y="5751861"/>
            <a:ext cx="10241280" cy="600000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5B21B6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31" name="Info Icon BG"/>
          <p:cNvSpPr/>
          <p:nvPr/>
        </p:nvSpPr>
        <p:spPr>
          <a:xfrm>
            <a:off x="1199120" y="5824347"/>
            <a:ext cx="400000" cy="4000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endParaRPr lang="en-US" sz="1600"/>
          </a:p>
        </p:txBody>
      </p:sp>
      <p:sp>
        <p:nvSpPr>
          <p:cNvPr id="32" name="Info Text"/>
          <p:cNvSpPr/>
          <p:nvPr/>
        </p:nvSpPr>
        <p:spPr>
          <a:xfrm>
            <a:off x="1761440" y="5751861"/>
            <a:ext cx="95166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b="1" dirty="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Consejo</a:t>
            </a:r>
            <a:r>
              <a:rPr lang="es-ES" sz="1600" dirty="0">
                <a:solidFill>
                  <a:srgbClr val="E8D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—  La experiencia es la misma en todas las plataformas. Inicia sesión con tu cuenta profesional.</a:t>
            </a:r>
            <a:endParaRPr lang="es-ES" sz="1600" dirty="0"/>
          </a:p>
        </p:txBody>
      </p:sp>
      <p:pic>
        <p:nvPicPr>
          <p:cNvPr id="6" name="Image 0" descr="Imagen ilustrativa relacionada con Acceso a Copilot Chat">
            <a:extLst>
              <a:ext uri="{FF2B5EF4-FFF2-40B4-BE49-F238E27FC236}">
                <a16:creationId xmlns:a16="http://schemas.microsoft.com/office/drawing/2014/main" id="{2DA95334-BEE4-1B65-AE7E-DF7E32F3D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pic>
        <p:nvPicPr>
          <p:cNvPr id="7" name="Picture 6" descr="Imagen ilustrativa relacionada con Acceso a Copilot Chat">
            <a:extLst>
              <a:ext uri="{FF2B5EF4-FFF2-40B4-BE49-F238E27FC236}">
                <a16:creationId xmlns:a16="http://schemas.microsoft.com/office/drawing/2014/main" id="{E71EC5A6-59D8-DE82-A39A-DCD5A095C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238" y="3250001"/>
            <a:ext cx="1800000" cy="1120500"/>
          </a:xfrm>
          <a:prstGeom prst="rect">
            <a:avLst/>
          </a:prstGeom>
        </p:spPr>
      </p:pic>
      <p:pic>
        <p:nvPicPr>
          <p:cNvPr id="10" name="Picture 9" descr="Imagen ilustrativa relacionada con Acceso a Copilot Chat">
            <a:extLst>
              <a:ext uri="{FF2B5EF4-FFF2-40B4-BE49-F238E27FC236}">
                <a16:creationId xmlns:a16="http://schemas.microsoft.com/office/drawing/2014/main" id="{F308B52A-EE45-57C3-3436-1C8B4E8E1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355" y="3250000"/>
            <a:ext cx="755326" cy="1285855"/>
          </a:xfrm>
          <a:prstGeom prst="rect">
            <a:avLst/>
          </a:prstGeom>
        </p:spPr>
      </p:pic>
      <p:sp>
        <p:nvSpPr>
          <p:cNvPr id="11" name="Web Label">
            <a:extLst>
              <a:ext uri="{FF2B5EF4-FFF2-40B4-BE49-F238E27FC236}">
                <a16:creationId xmlns:a16="http://schemas.microsoft.com/office/drawing/2014/main" id="{93C295C1-A230-DC9C-9B2E-77F36177F1A3}"/>
              </a:ext>
            </a:extLst>
          </p:cNvPr>
          <p:cNvSpPr/>
          <p:nvPr/>
        </p:nvSpPr>
        <p:spPr>
          <a:xfrm>
            <a:off x="963361" y="4700000"/>
            <a:ext cx="46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s-ES" sz="14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</a:t>
            </a:r>
            <a:r>
              <a:rPr lang="es-ES" sz="1400" b="1" dirty="0" err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Teams</a:t>
            </a:r>
            <a:r>
              <a:rPr lang="es-ES" sz="14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/ Microsoft 365</a:t>
            </a:r>
          </a:p>
          <a:p>
            <a:pPr algn="ctr"/>
            <a:r>
              <a:rPr lang="es-ES" sz="12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 y macOS</a:t>
            </a:r>
            <a:endParaRPr lang="es-ES" sz="1200" dirty="0"/>
          </a:p>
        </p:txBody>
      </p:sp>
      <p:sp>
        <p:nvSpPr>
          <p:cNvPr id="13" name="Edge Label">
            <a:extLst>
              <a:ext uri="{FF2B5EF4-FFF2-40B4-BE49-F238E27FC236}">
                <a16:creationId xmlns:a16="http://schemas.microsoft.com/office/drawing/2014/main" id="{1B88F26C-BCD8-8D6D-928B-22ED4DC2672C}"/>
              </a:ext>
            </a:extLst>
          </p:cNvPr>
          <p:cNvSpPr/>
          <p:nvPr/>
        </p:nvSpPr>
        <p:spPr>
          <a:xfrm>
            <a:off x="6628639" y="4700000"/>
            <a:ext cx="46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s-ES" sz="14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365 </a:t>
            </a:r>
            <a:r>
              <a:rPr lang="es-ES" sz="1400" b="1" dirty="0" err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Copilot</a:t>
            </a:r>
            <a:r>
              <a:rPr lang="es-ES" sz="1400" b="1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App</a:t>
            </a:r>
          </a:p>
          <a:p>
            <a:pPr algn="ctr"/>
            <a:r>
              <a:rPr lang="es-ES" sz="12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iOS y Android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84729105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B4A978-9B96-34EA-1E87-8FC0EDC1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73763" y="1321273"/>
            <a:ext cx="11244474" cy="4988087"/>
          </a:xfrm>
          <a:prstGeom prst="roundRect">
            <a:avLst>
              <a:gd name="adj" fmla="val 4127"/>
            </a:avLst>
          </a:prstGeom>
          <a:solidFill>
            <a:srgbClr val="FFFFFF">
              <a:alpha val="74118"/>
            </a:srgbClr>
          </a:solidFill>
          <a:ln w="9525" cap="flat" cmpd="sng" algn="ctr">
            <a:solidFill>
              <a:srgbClr val="1E293B"/>
            </a:solidFill>
            <a:prstDash val="solid"/>
          </a:ln>
          <a:effectLst>
            <a:outerShdw blurRad="343645" dist="295501" dir="2700000" algn="tl" rotWithShape="0">
              <a:srgbClr val="EC4899">
                <a:alpha val="15816"/>
              </a:srgbClr>
            </a:outerShdw>
          </a:effectLst>
        </p:spPr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E477027-6336-AF1E-6BBE-09193B056A23}"/>
              </a:ext>
            </a:extLst>
          </p:cNvPr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0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Interfaz de Microsoft 365 </a:t>
            </a:r>
            <a:r>
              <a:rPr lang="es-ES" sz="3200" b="0" i="0" strike="noStrike" cap="none" baseline="0" dirty="0" err="1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Copilot</a:t>
            </a:r>
            <a:r>
              <a:rPr lang="es-ES" sz="3200" b="0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 Chat</a:t>
            </a:r>
            <a:endParaRPr lang="es-E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Image 0" descr="Imagen ilustrativa relacionada con Interfaz de Microsoft 365 Copilot Chat">
            <a:extLst>
              <a:ext uri="{FF2B5EF4-FFF2-40B4-BE49-F238E27FC236}">
                <a16:creationId xmlns:a16="http://schemas.microsoft.com/office/drawing/2014/main" id="{D722FD3E-781C-C7E4-1EA6-9A0CEC336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pic>
        <p:nvPicPr>
          <p:cNvPr id="11" name="Picture 10" descr="Imagen ilustrativa relacionada con Interfaz de Microsoft 365 Copilot Chat">
            <a:extLst>
              <a:ext uri="{FF2B5EF4-FFF2-40B4-BE49-F238E27FC236}">
                <a16:creationId xmlns:a16="http://schemas.microsoft.com/office/drawing/2014/main" id="{EC15567B-0075-B566-428C-59784E1B68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78529" y="1686064"/>
            <a:ext cx="5727140" cy="324554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3E9D6D-F3A0-BD89-B8F4-3EF81DFCA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8583084" y="2094314"/>
            <a:ext cx="1017905" cy="258794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4BE6EB-68C4-57B3-1D2D-BA0DF215D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8205017" y="3560849"/>
            <a:ext cx="1395972" cy="791963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30BF0D-724A-D5FD-E1C2-30949346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8290267" y="3288712"/>
            <a:ext cx="1310722" cy="0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F1E82A-67F2-2A91-DF5B-F22019561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8071020" y="4352812"/>
            <a:ext cx="0" cy="935604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D3E193-EA0C-A17D-92DC-BEF4F35CC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377991" y="4233421"/>
            <a:ext cx="0" cy="1054995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4738E7-B7A3-D81B-0014-5DFB33D7B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2587636" y="3577542"/>
            <a:ext cx="2388426" cy="1183376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70259D-B036-7E91-7725-A46A2920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2681272" y="2478807"/>
            <a:ext cx="634321" cy="357185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37D86F-D9F6-EA34-363F-B4542D83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756892" y="2323356"/>
            <a:ext cx="558701" cy="0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841DF2-FF68-C942-5E99-90E30E6B1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2587636" y="2645057"/>
            <a:ext cx="751636" cy="761797"/>
          </a:xfrm>
          <a:prstGeom prst="straightConnector1">
            <a:avLst/>
          </a:prstGeom>
          <a:noFill/>
          <a:ln w="9525" cap="flat" cmpd="sng" algn="ctr">
            <a:solidFill>
              <a:srgbClr val="3B82F6"/>
            </a:solidFill>
            <a:prstDash val="solid"/>
            <a:headEnd type="none" w="lg" len="med"/>
            <a:tailEnd type="triangle"/>
          </a:ln>
          <a:effectLst/>
        </p:spPr>
      </p:cxnSp>
      <p:grpSp>
        <p:nvGrpSpPr>
          <p:cNvPr id="21" name="Group 20" descr="Microsoft 365 Copilot Chat app interface with callouts explaining each feature of the app.">
            <a:extLst>
              <a:ext uri="{FF2B5EF4-FFF2-40B4-BE49-F238E27FC236}">
                <a16:creationId xmlns:a16="http://schemas.microsoft.com/office/drawing/2014/main" id="{CBCB0190-3E82-211D-284F-4C9E0738219B}"/>
              </a:ext>
            </a:extLst>
          </p:cNvPr>
          <p:cNvGrpSpPr/>
          <p:nvPr/>
        </p:nvGrpSpPr>
        <p:grpSpPr>
          <a:xfrm>
            <a:off x="661788" y="1686064"/>
            <a:ext cx="11056449" cy="4448739"/>
            <a:chOff x="409651" y="2240687"/>
            <a:chExt cx="11056449" cy="40233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E2DCC0-2D76-BF3E-2935-487C34B796AA}"/>
                </a:ext>
              </a:extLst>
            </p:cNvPr>
            <p:cNvSpPr txBox="1"/>
            <p:nvPr/>
          </p:nvSpPr>
          <p:spPr>
            <a:xfrm>
              <a:off x="9461697" y="2595997"/>
              <a:ext cx="1939764" cy="7654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Botón para iniciar </a:t>
              </a:r>
              <a:b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</a:b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un nuevo chat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"/>
                  <a:ea typeface="Segoe UI"/>
                  <a:cs typeface="Segoe UI"/>
                </a:rPr>
                <a:t>Borrar el chat anterior e iniciar una nueva conversación.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1E293B"/>
                    </a:gs>
                    <a:gs pos="30000">
                      <a:srgbClr val="1E293B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 Semibold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AE6027-8EC1-2DCC-9956-10936B63BD13}"/>
                </a:ext>
              </a:extLst>
            </p:cNvPr>
            <p:cNvSpPr txBox="1"/>
            <p:nvPr/>
          </p:nvSpPr>
          <p:spPr>
            <a:xfrm>
              <a:off x="7109204" y="5498610"/>
              <a:ext cx="2653235" cy="7654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Galería de indicaciones de </a:t>
              </a:r>
              <a:r>
                <a:rPr lang="es-ES" sz="1100" b="0" i="0" strike="noStrike" cap="none" baseline="0" err="1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Copilot</a:t>
              </a:r>
              <a:br>
                <a:rPr sz="1100"/>
              </a:b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Expandir las indicaciones sugeridas para ver la Galería de indicaciones completa, como las indicaciones guardadas y las indicaciones de su equipo.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1E293B"/>
                    </a:gs>
                    <a:gs pos="30000">
                      <a:srgbClr val="1E293B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4B8D1AD-FD3E-8572-C913-1B254EA57B01}"/>
                </a:ext>
              </a:extLst>
            </p:cNvPr>
            <p:cNvSpPr txBox="1"/>
            <p:nvPr/>
          </p:nvSpPr>
          <p:spPr>
            <a:xfrm>
              <a:off x="9461696" y="3382222"/>
              <a:ext cx="1746557" cy="3061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Cuadro de indicaciones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Iniciar la conversación aquí.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F5A301-9BC2-0E80-F810-40CF6D6DE5AE}"/>
                </a:ext>
              </a:extLst>
            </p:cNvPr>
            <p:cNvSpPr txBox="1"/>
            <p:nvPr/>
          </p:nvSpPr>
          <p:spPr>
            <a:xfrm>
              <a:off x="4498881" y="5565820"/>
              <a:ext cx="2278993" cy="4592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Indicaciones sugeridas</a:t>
              </a:r>
              <a:br>
                <a:rPr sz="1100"/>
              </a:b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Comenzar con las sugerencias de indicaciones personalizadas.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1E293B"/>
                    </a:gs>
                    <a:gs pos="30000">
                      <a:srgbClr val="1E293B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6206D6-DD83-81C8-8EF2-3E4AA2870184}"/>
                </a:ext>
              </a:extLst>
            </p:cNvPr>
            <p:cNvSpPr txBox="1"/>
            <p:nvPr/>
          </p:nvSpPr>
          <p:spPr>
            <a:xfrm>
              <a:off x="409651" y="2240687"/>
              <a:ext cx="2274265" cy="7654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Agentes</a:t>
              </a:r>
              <a:br>
                <a:rPr sz="1100"/>
              </a:b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Elegir un agente de la lista para chatear con él o expandir el menú de agentes para buscar o crear agentes.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EBDB23-7EC3-65B9-ABC9-3D9B21559226}"/>
                </a:ext>
              </a:extLst>
            </p:cNvPr>
            <p:cNvSpPr txBox="1"/>
            <p:nvPr/>
          </p:nvSpPr>
          <p:spPr>
            <a:xfrm>
              <a:off x="409651" y="3096002"/>
              <a:ext cx="2084791" cy="3061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Historial de chats</a:t>
              </a:r>
              <a:br>
                <a:rPr sz="1100"/>
              </a:b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Ver las conversaciones anteriores.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47DD8B-7B3F-1C8F-B1A8-F098FA40F08F}"/>
                </a:ext>
              </a:extLst>
            </p:cNvPr>
            <p:cNvSpPr txBox="1"/>
            <p:nvPr/>
          </p:nvSpPr>
          <p:spPr>
            <a:xfrm>
              <a:off x="409652" y="4811397"/>
              <a:ext cx="2084790" cy="6123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Aft>
                  <a:spcPts val="600"/>
                </a:spcAft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Agregar contenido</a:t>
              </a:r>
              <a:br>
                <a:rPr sz="1100"/>
              </a:b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Expándelo para añadir archivos </a:t>
              </a:r>
              <a:b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</a:b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o imágenes de referencia a la indicación de </a:t>
              </a:r>
              <a:r>
                <a:rPr lang="es-ES" sz="1100" b="0" i="0" strike="noStrike" cap="none" baseline="0" err="1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Copilot</a:t>
              </a:r>
              <a:r>
                <a:rPr lang="es-ES" sz="1100" b="0" i="0" strike="noStrike" cap="none" baseline="0">
                  <a:gradFill>
                    <a:gsLst>
                      <a:gs pos="2917">
                        <a:srgbClr val="1E293B"/>
                      </a:gs>
                      <a:gs pos="30000">
                        <a:srgbClr val="1E293B"/>
                      </a:gs>
                    </a:gsLst>
                    <a:lin ang="5400000"/>
                    <a:tileRect l="-100000" t="-100000"/>
                  </a:gradFill>
                  <a:effectLst/>
                  <a:latin typeface="Segoe UI"/>
                  <a:ea typeface="Segoe UI"/>
                  <a:cs typeface="Segoe UI"/>
                </a:rPr>
                <a:t>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2C3201-6958-6AB7-865F-CE0BE7B7D113}"/>
                </a:ext>
              </a:extLst>
            </p:cNvPr>
            <p:cNvSpPr txBox="1"/>
            <p:nvPr/>
          </p:nvSpPr>
          <p:spPr>
            <a:xfrm>
              <a:off x="9462905" y="4438335"/>
              <a:ext cx="2003195" cy="6123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Dictado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Segoe UI Semibold"/>
                <a:ea typeface="+mn-ea"/>
                <a:cs typeface="Segoe UI Semibold" charset="0"/>
              </a:endParaRP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"/>
                  <a:ea typeface="Segoe UI"/>
                  <a:cs typeface="Segoe UI"/>
                </a:rPr>
                <a:t>Usa el dictado si prefieres hablar en lugar de escribir </a:t>
              </a:r>
              <a:b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"/>
                  <a:ea typeface="Segoe UI"/>
                  <a:cs typeface="Segoe UI"/>
                </a:rPr>
              </a:b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"/>
                  <a:ea typeface="Segoe UI"/>
                  <a:cs typeface="Segoe UI"/>
                </a:rPr>
                <a:t>al chatear con </a:t>
              </a:r>
              <a:r>
                <a:rPr lang="es-ES" sz="1100" b="0" i="0" strike="noStrike" cap="none" baseline="0" err="1">
                  <a:solidFill>
                    <a:srgbClr val="1E293B"/>
                  </a:solidFill>
                  <a:effectLst/>
                  <a:latin typeface="Segoe UI"/>
                  <a:ea typeface="Segoe UI"/>
                  <a:cs typeface="Segoe UI"/>
                </a:rPr>
                <a:t>Copilot</a:t>
              </a:r>
              <a:r>
                <a:rPr lang="es-ES" sz="1100" b="0" i="0" strike="noStrike" cap="none" baseline="0">
                  <a:solidFill>
                    <a:srgbClr val="1E293B"/>
                  </a:solidFill>
                  <a:effectLst/>
                  <a:latin typeface="Segoe UI"/>
                  <a:ea typeface="Segoe UI"/>
                  <a:cs typeface="Segoe UI"/>
                </a:rPr>
                <a:t>.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CC5F7C3-EEFB-83C7-4AC8-696EDDE2D20B}"/>
              </a:ext>
            </a:extLst>
          </p:cNvPr>
          <p:cNvSpPr txBox="1"/>
          <p:nvPr/>
        </p:nvSpPr>
        <p:spPr>
          <a:xfrm>
            <a:off x="661788" y="3215199"/>
            <a:ext cx="2084791" cy="507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100" b="0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Páginas de </a:t>
            </a:r>
            <a:r>
              <a:rPr lang="es-ES" sz="1100" b="0" i="0" strike="noStrike" cap="none" baseline="0" err="1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Copilot</a:t>
            </a:r>
            <a:r>
              <a:rPr lang="es-ES" sz="1100" b="0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 Chat</a:t>
            </a:r>
            <a:br>
              <a:rPr sz="1100" dirty="0"/>
            </a:br>
            <a:r>
              <a:rPr lang="es-ES" sz="1100" b="0" i="0" strike="noStrike" cap="none" baseline="0">
                <a:gradFill>
                  <a:gsLst>
                    <a:gs pos="2917">
                      <a:srgbClr val="1E293B"/>
                    </a:gs>
                    <a:gs pos="30000">
                      <a:srgbClr val="1E293B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Consulta las páginas que has creado.</a:t>
            </a:r>
          </a:p>
        </p:txBody>
      </p:sp>
    </p:spTree>
    <p:extLst>
      <p:ext uri="{BB962C8B-B14F-4D97-AF65-F5344CB8AC3E}">
        <p14:creationId xmlns:p14="http://schemas.microsoft.com/office/powerpoint/2010/main" val="1366508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26D47-943D-0BE6-77DC-55570E95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ilustrativa relacionada con Laboratorio: Primeros pasos con Microsoft 365 Copilot Chat">
            <a:extLst>
              <a:ext uri="{FF2B5EF4-FFF2-40B4-BE49-F238E27FC236}">
                <a16:creationId xmlns:a16="http://schemas.microsoft.com/office/drawing/2014/main" id="{285D6108-E8E5-6AF3-F4EF-E0ECB127F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670560"/>
            <a:ext cx="548640" cy="5486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5B8D716-C146-288D-E33A-6162A5CDF56F}"/>
              </a:ext>
            </a:extLst>
          </p:cNvPr>
          <p:cNvSpPr/>
          <p:nvPr/>
        </p:nvSpPr>
        <p:spPr>
          <a:xfrm>
            <a:off x="1767840" y="6096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Laboratorio: </a:t>
            </a:r>
            <a:r>
              <a:rPr lang="es-E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Primeros pasos con Microsoft 365 </a:t>
            </a:r>
            <a:r>
              <a:rPr lang="es-ES" sz="3200" b="1" dirty="0" err="1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Copilot</a:t>
            </a:r>
            <a:r>
              <a:rPr lang="es-E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Chat</a:t>
            </a:r>
            <a:endParaRPr lang="en-U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82460D6-AE43-FB10-EAF3-DAF711339515}"/>
              </a:ext>
            </a:extLst>
          </p:cNvPr>
          <p:cNvSpPr/>
          <p:nvPr/>
        </p:nvSpPr>
        <p:spPr>
          <a:xfrm>
            <a:off x="975360" y="1584960"/>
            <a:ext cx="10241280" cy="4632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A89A68-C845-31FF-D785-75AC984FA2CD}"/>
              </a:ext>
            </a:extLst>
          </p:cNvPr>
          <p:cNvSpPr/>
          <p:nvPr/>
        </p:nvSpPr>
        <p:spPr>
          <a:xfrm>
            <a:off x="1463040" y="1950720"/>
            <a:ext cx="97536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Imagina que tu manager te ha pedido que lideres la planificación de una próxima Cumbre de Innovación para Clientes. Utilizarás el chat de Microsoft 365 </a:t>
            </a:r>
            <a:r>
              <a:rPr lang="es-ES" sz="20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Copilot</a:t>
            </a: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para recopilar información, generar ideas, visualizar el cronograma, redactar un documento de planificación, resumirlo y colaborar con tus compañeros de trabajo.</a:t>
            </a: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</a:rPr>
              <a:t>Tiempo estimado: </a:t>
            </a: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30 minutos</a:t>
            </a:r>
          </a:p>
          <a:p>
            <a:pPr>
              <a:spcAft>
                <a:spcPts val="1600"/>
              </a:spcAft>
            </a:pPr>
            <a:endParaRPr lang="es-ES" sz="2000" dirty="0">
              <a:solidFill>
                <a:srgbClr val="334155"/>
              </a:solidFill>
              <a:latin typeface="Segoe UI Semibold" panose="020B0702040204020203" pitchFamily="34" charset="0"/>
              <a:ea typeface="Segoe UI" pitchFamily="34" charset="-122"/>
              <a:cs typeface="Segoe UI Semibold" panose="020B0702040204020203" pitchFamily="34" charset="0"/>
            </a:endParaRP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Sigue el ejercicio en:</a:t>
            </a: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  <a:hlinkClick r:id="rId5"/>
              </a:rPr>
              <a:t>Primeros pasos con Microsoft 365 </a:t>
            </a:r>
            <a:r>
              <a:rPr lang="es-ES" sz="2000" dirty="0" err="1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  <a:hlinkClick r:id="rId5"/>
              </a:rPr>
              <a:t>Copilot</a:t>
            </a: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  <a:hlinkClick r:id="rId5"/>
              </a:rPr>
              <a:t> Chat</a:t>
            </a: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</a:rPr>
              <a:t> </a:t>
            </a:r>
            <a:endParaRPr lang="es-ES" sz="2000" dirty="0">
              <a:solidFill>
                <a:srgbClr val="334155"/>
              </a:solidFill>
              <a:latin typeface="Segoe UI" panose="020B0502040204020203" pitchFamily="34" charset="0"/>
              <a:ea typeface="Segoe UI" pitchFamily="34" charset="-122"/>
              <a:cs typeface="Segoe UI" panose="020B0502040204020203" pitchFamily="34" charset="0"/>
            </a:endParaRPr>
          </a:p>
        </p:txBody>
      </p:sp>
      <p:pic>
        <p:nvPicPr>
          <p:cNvPr id="6" name="Image 0" descr="Imagen ilustrativa relacionada con Laboratorio: Primeros pasos con Microsoft 365 Copilot Chat">
            <a:extLst>
              <a:ext uri="{FF2B5EF4-FFF2-40B4-BE49-F238E27FC236}">
                <a16:creationId xmlns:a16="http://schemas.microsoft.com/office/drawing/2014/main" id="{4A6A433E-44E9-1173-1992-E41F10416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454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— M365 Copilot en acción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 dirty="0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>
              <a:spcBef>
                <a:spcPts val="200"/>
              </a:spcBef>
            </a:pPr>
            <a:r>
              <a:rPr lang="es-ES" sz="14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Microsoft 365 </a:t>
            </a:r>
            <a:r>
              <a:rPr lang="es-ES" sz="1400" dirty="0" err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Copilot</a:t>
            </a:r>
            <a:r>
              <a:rPr lang="es-ES" sz="14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es la vía segura y productiva frente a la IA en la sombra: el ecosistema Chat + Agentes cubre la mayoría de los casos profesionales con garantías de privacidad.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Ecosistema Microsoft 365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: Chat, agentes y aplicaciones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IA en la sombra: riesgos de usar herramientas no corporativas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Versión básica gratuita frente a licencia M365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Chat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Acceso desde navegador, escritorio y aplicación móvil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Interfaz, capacidades exclusivas premium y laboratorio práctico</a:t>
            </a: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365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— Página oficial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microsoft.com/microsoft-365/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Adopción de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— Centro de recursos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adoption.microsoft.com/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Lab — Primeros pasos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copilot.cloud.microsoft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CD052-71A3-3D8F-0FDA-D9E99E8D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DFC4742-F0F7-9045-9084-629560332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D1B8BC-599D-4FC2-EECD-9AD04A875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5A78998-5AC9-AC84-9794-958AE82E2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2CE2937-B10C-B80B-B933-158C8B12D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002E7D1-3043-7DC0-899C-5FCC2F1EC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32D6337-9167-5AA5-8EF3-165454EEF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98421EF-B770-6BAB-C540-8AC22709F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B6CFE76-A4C3-062C-2D74-6CDBEAD47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9738C71-2918-7B69-50B4-BCF08A8E58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C8CAF74-A410-D5CE-345A-D00693E2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DA48F06B-D70C-CCB8-7C93-CED112E63417}"/>
              </a:ext>
            </a:extLst>
          </p:cNvPr>
          <p:cNvSpPr txBox="1">
            <a:spLocks/>
          </p:cNvSpPr>
          <p:nvPr/>
        </p:nvSpPr>
        <p:spPr>
          <a:xfrm>
            <a:off x="3045368" y="204366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30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El </a:t>
            </a:r>
            <a:r>
              <a:rPr kumimoji="0" lang="en-US" sz="5200" b="0" i="0" u="none" strike="noStrike" kern="1200" cap="none" spc="300" normalizeH="0" baseline="0" noProof="0" dirty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arte</a:t>
            </a:r>
            <a:r>
              <a:rPr kumimoji="0" lang="en-US" sz="5200" b="0" i="0" u="none" strike="noStrike" kern="1200" cap="none" spc="30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del </a:t>
            </a:r>
            <a:r>
              <a:rPr kumimoji="0" lang="en-US" sz="5200" b="0" i="1" u="none" strike="noStrike" kern="1200" cap="none" spc="30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prompting</a:t>
            </a:r>
            <a:endParaRPr kumimoji="0" lang="en-US" sz="5200" b="0" i="0" u="none" strike="noStrike" kern="1200" cap="none" spc="30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2222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D7F5BD-AFFD-A8A7-5DA9-21B8BECDD8AC}"/>
              </a:ext>
            </a:extLst>
          </p:cNvPr>
          <p:cNvSpPr/>
          <p:nvPr/>
        </p:nvSpPr>
        <p:spPr>
          <a:xfrm>
            <a:off x="975360" y="487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¿Qué es un </a:t>
            </a:r>
            <a:r>
              <a:rPr lang="es-ES" sz="3200" b="1" i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prompt</a:t>
            </a:r>
            <a:r>
              <a:rPr lang="es-E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?</a:t>
            </a:r>
            <a:endParaRPr lang="es-ES" sz="3200" dirty="0"/>
          </a:p>
        </p:txBody>
      </p:sp>
      <p:sp>
        <p:nvSpPr>
          <p:cNvPr id="3" name="Intro Text">
            <a:extLst>
              <a:ext uri="{FF2B5EF4-FFF2-40B4-BE49-F238E27FC236}">
                <a16:creationId xmlns:a16="http://schemas.microsoft.com/office/drawing/2014/main" id="{809D020B-E661-F12B-F522-F77CCB4B0176}"/>
              </a:ext>
            </a:extLst>
          </p:cNvPr>
          <p:cNvSpPr/>
          <p:nvPr/>
        </p:nvSpPr>
        <p:spPr>
          <a:xfrm>
            <a:off x="975360" y="12801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Un </a:t>
            </a:r>
            <a:r>
              <a:rPr lang="es-ES" sz="1600" i="1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prompt</a:t>
            </a: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es la entrada que le das a un LLM para obtener una respuesta. Puede ser una pregunta, un comando o incluso un comentario informal para iniciar una conversación.</a:t>
            </a:r>
            <a:endParaRPr lang="es-ES" sz="1600" dirty="0"/>
          </a:p>
        </p:txBody>
      </p:sp>
      <p:sp>
        <p:nvSpPr>
          <p:cNvPr id="4" name="Card 1">
            <a:extLst>
              <a:ext uri="{FF2B5EF4-FFF2-40B4-BE49-F238E27FC236}">
                <a16:creationId xmlns:a16="http://schemas.microsoft.com/office/drawing/2014/main" id="{C8DCBEC0-3626-F439-02A7-EF8A6F492C32}"/>
              </a:ext>
            </a:extLst>
          </p:cNvPr>
          <p:cNvSpPr/>
          <p:nvPr/>
        </p:nvSpPr>
        <p:spPr>
          <a:xfrm>
            <a:off x="975360" y="2202873"/>
            <a:ext cx="4920640" cy="39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Circle 1">
            <a:extLst>
              <a:ext uri="{FF2B5EF4-FFF2-40B4-BE49-F238E27FC236}">
                <a16:creationId xmlns:a16="http://schemas.microsoft.com/office/drawing/2014/main" id="{EB0C1E96-4C8D-5B89-D1D8-E29938FC9704}"/>
              </a:ext>
            </a:extLst>
          </p:cNvPr>
          <p:cNvSpPr/>
          <p:nvPr/>
        </p:nvSpPr>
        <p:spPr>
          <a:xfrm>
            <a:off x="3001520" y="2310000"/>
            <a:ext cx="868320" cy="868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Icon 1">
            <a:extLst>
              <a:ext uri="{FF2B5EF4-FFF2-40B4-BE49-F238E27FC236}">
                <a16:creationId xmlns:a16="http://schemas.microsoft.com/office/drawing/2014/main" id="{0F426728-46A1-8D5B-49C7-D5A3289218E6}"/>
              </a:ext>
            </a:extLst>
          </p:cNvPr>
          <p:cNvSpPr/>
          <p:nvPr/>
        </p:nvSpPr>
        <p:spPr>
          <a:xfrm>
            <a:off x="3001520" y="2310000"/>
            <a:ext cx="868320" cy="8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ea typeface="Segoe UI Semibold" pitchFamily="34" charset="-122"/>
                <a:cs typeface="Segoe UI" panose="020B0502040204020203" pitchFamily="34" charset="0"/>
              </a:rPr>
              <a:t>S</a:t>
            </a:r>
            <a:endParaRPr lang="en-US" sz="2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903BFD-9ECE-74EC-0494-CD5146A1A7CE}"/>
              </a:ext>
            </a:extLst>
          </p:cNvPr>
          <p:cNvSpPr/>
          <p:nvPr/>
        </p:nvSpPr>
        <p:spPr>
          <a:xfrm>
            <a:off x="1280160" y="3300000"/>
            <a:ext cx="431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Prompts</a:t>
            </a:r>
            <a:r>
              <a:rPr lang="es-ES" sz="20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de sistema</a:t>
            </a:r>
            <a:endParaRPr lang="es-ES" sz="2000"/>
          </a:p>
        </p:txBody>
      </p:sp>
      <p:sp>
        <p:nvSpPr>
          <p:cNvPr id="8" name="Desc 1">
            <a:extLst>
              <a:ext uri="{FF2B5EF4-FFF2-40B4-BE49-F238E27FC236}">
                <a16:creationId xmlns:a16="http://schemas.microsoft.com/office/drawing/2014/main" id="{2557DE1E-965B-DC5E-8B7C-78708F7A0AE5}"/>
              </a:ext>
            </a:extLst>
          </p:cNvPr>
          <p:cNvSpPr/>
          <p:nvPr/>
        </p:nvSpPr>
        <p:spPr>
          <a:xfrm>
            <a:off x="1280160" y="3750000"/>
            <a:ext cx="43110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5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Establece el comportamiento y el tono del modelo, así como cualquier restricción a la que deba ceñirse.</a:t>
            </a:r>
            <a:endParaRPr lang="es-ES" sz="1500"/>
          </a:p>
        </p:txBody>
      </p:sp>
      <p:sp>
        <p:nvSpPr>
          <p:cNvPr id="9" name="Quote Box 1">
            <a:extLst>
              <a:ext uri="{FF2B5EF4-FFF2-40B4-BE49-F238E27FC236}">
                <a16:creationId xmlns:a16="http://schemas.microsoft.com/office/drawing/2014/main" id="{AA0F69B1-09A3-2C0C-858A-A95E55F3A863}"/>
              </a:ext>
            </a:extLst>
          </p:cNvPr>
          <p:cNvSpPr/>
          <p:nvPr/>
        </p:nvSpPr>
        <p:spPr>
          <a:xfrm>
            <a:off x="1280160" y="4780000"/>
            <a:ext cx="4311040" cy="1280000"/>
          </a:xfrm>
          <a:prstGeom prst="roundRect">
            <a:avLst>
              <a:gd name="adj" fmla="val 8000"/>
            </a:avLst>
          </a:prstGeom>
          <a:solidFill>
            <a:srgbClr val="F5F0FF"/>
          </a:solidFill>
          <a:ln>
            <a:solidFill>
              <a:srgbClr val="7C3AED"/>
            </a:solidFill>
          </a:ln>
        </p:spPr>
        <p:txBody>
          <a:bodyPr wrap="square" lIns="182880" tIns="182880" rIns="182880" bIns="182880" rtlCol="0" anchor="ctr"/>
          <a:lstStyle/>
          <a:p>
            <a:pPr algn="ctr"/>
            <a:r>
              <a:rPr lang="es-ES" sz="1500" i="1">
                <a:solidFill>
                  <a:srgbClr val="1E293B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"Eres un asistente servicial que responde de manera alegre y amigable".</a:t>
            </a:r>
            <a:endParaRPr lang="es-ES" sz="1500"/>
          </a:p>
        </p:txBody>
      </p:sp>
      <p:sp>
        <p:nvSpPr>
          <p:cNvPr id="10" name="Card 2">
            <a:extLst>
              <a:ext uri="{FF2B5EF4-FFF2-40B4-BE49-F238E27FC236}">
                <a16:creationId xmlns:a16="http://schemas.microsoft.com/office/drawing/2014/main" id="{106DFECB-9AD1-2A99-FC21-4EDA1971246E}"/>
              </a:ext>
            </a:extLst>
          </p:cNvPr>
          <p:cNvSpPr/>
          <p:nvPr/>
        </p:nvSpPr>
        <p:spPr>
          <a:xfrm>
            <a:off x="6296000" y="2202872"/>
            <a:ext cx="4920640" cy="39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Circle 2">
            <a:extLst>
              <a:ext uri="{FF2B5EF4-FFF2-40B4-BE49-F238E27FC236}">
                <a16:creationId xmlns:a16="http://schemas.microsoft.com/office/drawing/2014/main" id="{DE1B3365-59B5-6D6A-B8CC-6E92E2ADDFD7}"/>
              </a:ext>
            </a:extLst>
          </p:cNvPr>
          <p:cNvSpPr/>
          <p:nvPr/>
        </p:nvSpPr>
        <p:spPr>
          <a:xfrm>
            <a:off x="8322160" y="2310000"/>
            <a:ext cx="868320" cy="868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Icon 2">
            <a:extLst>
              <a:ext uri="{FF2B5EF4-FFF2-40B4-BE49-F238E27FC236}">
                <a16:creationId xmlns:a16="http://schemas.microsoft.com/office/drawing/2014/main" id="{0CE1AF7B-3958-3371-3525-51AD8A0BFBA9}"/>
              </a:ext>
            </a:extLst>
          </p:cNvPr>
          <p:cNvSpPr/>
          <p:nvPr/>
        </p:nvSpPr>
        <p:spPr>
          <a:xfrm>
            <a:off x="8322160" y="2310000"/>
            <a:ext cx="868320" cy="8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  <a:ea typeface="Segoe UI Semibold" pitchFamily="34" charset="-122"/>
                <a:cs typeface="Segoe UI" panose="020B0502040204020203" pitchFamily="34" charset="0"/>
              </a:rPr>
              <a:t>U</a:t>
            </a:r>
            <a:endParaRPr lang="en-US" sz="280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33391CAD-3D61-70A1-1CCE-4E3A61AC6598}"/>
              </a:ext>
            </a:extLst>
          </p:cNvPr>
          <p:cNvSpPr/>
          <p:nvPr/>
        </p:nvSpPr>
        <p:spPr>
          <a:xfrm>
            <a:off x="6600800" y="3300000"/>
            <a:ext cx="431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Prompts</a:t>
            </a:r>
            <a:r>
              <a:rPr lang="es-ES" sz="20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de usuario</a:t>
            </a:r>
            <a:endParaRPr lang="es-ES" sz="2000"/>
          </a:p>
        </p:txBody>
      </p:sp>
      <p:sp>
        <p:nvSpPr>
          <p:cNvPr id="14" name="Desc 2">
            <a:extLst>
              <a:ext uri="{FF2B5EF4-FFF2-40B4-BE49-F238E27FC236}">
                <a16:creationId xmlns:a16="http://schemas.microsoft.com/office/drawing/2014/main" id="{6D480052-7847-0382-AC41-D68E0BBDD97B}"/>
              </a:ext>
            </a:extLst>
          </p:cNvPr>
          <p:cNvSpPr/>
          <p:nvPr/>
        </p:nvSpPr>
        <p:spPr>
          <a:xfrm>
            <a:off x="6600800" y="3750000"/>
            <a:ext cx="43110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5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Provoca u obtiene una respuesta ante una pregunta o instrucción específica.</a:t>
            </a:r>
            <a:endParaRPr lang="es-ES" sz="1500"/>
          </a:p>
        </p:txBody>
      </p:sp>
      <p:sp>
        <p:nvSpPr>
          <p:cNvPr id="15" name="Quote Box 2">
            <a:extLst>
              <a:ext uri="{FF2B5EF4-FFF2-40B4-BE49-F238E27FC236}">
                <a16:creationId xmlns:a16="http://schemas.microsoft.com/office/drawing/2014/main" id="{7B66FACF-6E36-77CC-C1DD-1E5412A8F3DA}"/>
              </a:ext>
            </a:extLst>
          </p:cNvPr>
          <p:cNvSpPr/>
          <p:nvPr/>
        </p:nvSpPr>
        <p:spPr>
          <a:xfrm>
            <a:off x="6600800" y="4780000"/>
            <a:ext cx="4311040" cy="128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3B82F6"/>
            </a:solidFill>
          </a:ln>
        </p:spPr>
        <p:txBody>
          <a:bodyPr wrap="square" lIns="182880" tIns="182880" rIns="182880" bIns="182880" rtlCol="0" anchor="ctr"/>
          <a:lstStyle/>
          <a:p>
            <a:pPr algn="ctr"/>
            <a:r>
              <a:rPr lang="es-ES" sz="1300" i="1">
                <a:solidFill>
                  <a:srgbClr val="1E293B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"Resume para un ejecutivo corporativo las consideraciones clave para adoptar la IA generativa descritas en GenAI_Considerations.docx. Dale formato al resumen con no más de seis viñetas y un tono profesional".</a:t>
            </a:r>
            <a:endParaRPr lang="es-ES" sz="1300"/>
          </a:p>
        </p:txBody>
      </p:sp>
      <p:pic>
        <p:nvPicPr>
          <p:cNvPr id="16" name="Image 0" descr="Imagen ilustrativa relacionada con ¿Qué es un prompt?">
            <a:extLst>
              <a:ext uri="{FF2B5EF4-FFF2-40B4-BE49-F238E27FC236}">
                <a16:creationId xmlns:a16="http://schemas.microsoft.com/office/drawing/2014/main" id="{271B2E5C-402F-408A-6010-E416EE0F8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40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ilustrativa relacionada con Personaliza Copilot">
            <a:extLst>
              <a:ext uri="{FF2B5EF4-FFF2-40B4-BE49-F238E27FC236}">
                <a16:creationId xmlns:a16="http://schemas.microsoft.com/office/drawing/2014/main" id="{DA5C8C9D-BCBB-344D-FE1D-85F3828CB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4" name="Subtitle">
            <a:extLst>
              <a:ext uri="{FF2B5EF4-FFF2-40B4-BE49-F238E27FC236}">
                <a16:creationId xmlns:a16="http://schemas.microsoft.com/office/drawing/2014/main" id="{61BC1F86-0DA5-B6ED-4605-63F8F2993107}"/>
              </a:ext>
            </a:extLst>
          </p:cNvPr>
          <p:cNvSpPr/>
          <p:nvPr/>
        </p:nvSpPr>
        <p:spPr>
          <a:xfrm>
            <a:off x="975360" y="1400000"/>
            <a:ext cx="10241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Controla cómo </a:t>
            </a:r>
            <a:r>
              <a:rPr lang="es-ES" sz="18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Copilot</a:t>
            </a:r>
            <a:r>
              <a:rPr lang="es-E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 adapta las respuestas según tus preferencias.</a:t>
            </a:r>
          </a:p>
        </p:txBody>
      </p:sp>
      <p:sp>
        <p:nvSpPr>
          <p:cNvPr id="5" name="Card BG 0">
            <a:extLst>
              <a:ext uri="{FF2B5EF4-FFF2-40B4-BE49-F238E27FC236}">
                <a16:creationId xmlns:a16="http://schemas.microsoft.com/office/drawing/2014/main" id="{8E4594BE-0262-4748-D94E-7E2CCCE6826F}"/>
              </a:ext>
            </a:extLst>
          </p:cNvPr>
          <p:cNvSpPr/>
          <p:nvPr/>
        </p:nvSpPr>
        <p:spPr>
          <a:xfrm>
            <a:off x="975360" y="1950000"/>
            <a:ext cx="3100000" cy="370000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6350">
            <a:solidFill>
              <a:srgbClr val="7C3AED">
                <a:alpha val="20000"/>
              </a:srgbClr>
            </a:solidFill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Accent 0">
            <a:extLst>
              <a:ext uri="{FF2B5EF4-FFF2-40B4-BE49-F238E27FC236}">
                <a16:creationId xmlns:a16="http://schemas.microsoft.com/office/drawing/2014/main" id="{2A77381C-6283-7FA9-14C2-1AEA5105EC5E}"/>
              </a:ext>
            </a:extLst>
          </p:cNvPr>
          <p:cNvSpPr/>
          <p:nvPr/>
        </p:nvSpPr>
        <p:spPr>
          <a:xfrm>
            <a:off x="975360" y="1950000"/>
            <a:ext cx="3100000" cy="60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Circle 0">
            <a:extLst>
              <a:ext uri="{FF2B5EF4-FFF2-40B4-BE49-F238E27FC236}">
                <a16:creationId xmlns:a16="http://schemas.microsoft.com/office/drawing/2014/main" id="{BF9F362D-AD51-CC55-39FC-4613B5B588D0}"/>
              </a:ext>
            </a:extLst>
          </p:cNvPr>
          <p:cNvSpPr/>
          <p:nvPr/>
        </p:nvSpPr>
        <p:spPr>
          <a:xfrm>
            <a:off x="2200360" y="2150000"/>
            <a:ext cx="650000" cy="650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9050">
            <a:solidFill>
              <a:srgbClr val="7C3AE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Num 0">
            <a:extLst>
              <a:ext uri="{FF2B5EF4-FFF2-40B4-BE49-F238E27FC236}">
                <a16:creationId xmlns:a16="http://schemas.microsoft.com/office/drawing/2014/main" id="{B0D08B70-31C0-ADEC-E7A6-58D130DA4374}"/>
              </a:ext>
            </a:extLst>
          </p:cNvPr>
          <p:cNvSpPr/>
          <p:nvPr/>
        </p:nvSpPr>
        <p:spPr>
          <a:xfrm>
            <a:off x="2200360" y="2150000"/>
            <a:ext cx="65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400" b="1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9" name="Title 0">
            <a:extLst>
              <a:ext uri="{FF2B5EF4-FFF2-40B4-BE49-F238E27FC236}">
                <a16:creationId xmlns:a16="http://schemas.microsoft.com/office/drawing/2014/main" id="{3E27CE21-E517-1C33-1326-E7655E66EF2B}"/>
              </a:ext>
            </a:extLst>
          </p:cNvPr>
          <p:cNvSpPr/>
          <p:nvPr/>
        </p:nvSpPr>
        <p:spPr>
          <a:xfrm>
            <a:off x="1155360" y="3000000"/>
            <a:ext cx="27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800" b="1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Instrucciones personalizadas</a:t>
            </a:r>
          </a:p>
        </p:txBody>
      </p:sp>
      <p:sp>
        <p:nvSpPr>
          <p:cNvPr id="10" name="Desc 0">
            <a:extLst>
              <a:ext uri="{FF2B5EF4-FFF2-40B4-BE49-F238E27FC236}">
                <a16:creationId xmlns:a16="http://schemas.microsoft.com/office/drawing/2014/main" id="{92182487-84C8-BC55-F580-00FD61FD0899}"/>
              </a:ext>
            </a:extLst>
          </p:cNvPr>
          <p:cNvSpPr/>
          <p:nvPr/>
        </p:nvSpPr>
        <p:spPr>
          <a:xfrm>
            <a:off x="1155360" y="3700000"/>
            <a:ext cx="274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Definen cómo responde </a:t>
            </a:r>
            <a:r>
              <a:rPr lang="es-ES" sz="14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Copilot</a:t>
            </a:r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: tono, formato, idioma y reglas de comportamiento. Se ejecutan en segundo plano en cada conversación.</a:t>
            </a:r>
          </a:p>
        </p:txBody>
      </p:sp>
      <p:sp>
        <p:nvSpPr>
          <p:cNvPr id="11" name="Callout 0">
            <a:extLst>
              <a:ext uri="{FF2B5EF4-FFF2-40B4-BE49-F238E27FC236}">
                <a16:creationId xmlns:a16="http://schemas.microsoft.com/office/drawing/2014/main" id="{F07D1176-15BF-B434-BD10-8C1BCCFB3634}"/>
              </a:ext>
            </a:extLst>
          </p:cNvPr>
          <p:cNvSpPr/>
          <p:nvPr/>
        </p:nvSpPr>
        <p:spPr>
          <a:xfrm>
            <a:off x="1155360" y="5008000"/>
            <a:ext cx="2740000" cy="450000"/>
          </a:xfrm>
          <a:prstGeom prst="roundRect">
            <a:avLst>
              <a:gd name="adj" fmla="val 8000"/>
            </a:avLst>
          </a:prstGeom>
          <a:solidFill>
            <a:srgbClr val="F3F0FF"/>
          </a:solidFill>
          <a:ln w="12700">
            <a:solidFill>
              <a:srgbClr val="7C3AED">
                <a:alpha val="40000"/>
              </a:srgbClr>
            </a:solidFill>
          </a:ln>
        </p:spPr>
        <p:txBody>
          <a:bodyPr wrap="square" lIns="72000" tIns="36000" rIns="72000" bIns="36000" rtlCol="0" anchor="ctr"/>
          <a:lstStyle/>
          <a:p>
            <a:pPr algn="ctr"/>
            <a:r>
              <a:rPr lang="es-ES" sz="900" b="1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📍 Configuración → Personalización → Instrucciones personalizadas</a:t>
            </a:r>
          </a:p>
        </p:txBody>
      </p:sp>
      <p:sp>
        <p:nvSpPr>
          <p:cNvPr id="12" name="Card BG 1">
            <a:extLst>
              <a:ext uri="{FF2B5EF4-FFF2-40B4-BE49-F238E27FC236}">
                <a16:creationId xmlns:a16="http://schemas.microsoft.com/office/drawing/2014/main" id="{B51FEB26-9CEA-4678-F065-7EC052F00719}"/>
              </a:ext>
            </a:extLst>
          </p:cNvPr>
          <p:cNvSpPr/>
          <p:nvPr/>
        </p:nvSpPr>
        <p:spPr>
          <a:xfrm>
            <a:off x="4546000" y="1950000"/>
            <a:ext cx="3100000" cy="3700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3B82F6">
                <a:alpha val="20000"/>
              </a:srgbClr>
            </a:solidFill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Accent 1">
            <a:extLst>
              <a:ext uri="{FF2B5EF4-FFF2-40B4-BE49-F238E27FC236}">
                <a16:creationId xmlns:a16="http://schemas.microsoft.com/office/drawing/2014/main" id="{4F7DEE12-215E-EAE1-8925-3E53E46C8B2D}"/>
              </a:ext>
            </a:extLst>
          </p:cNvPr>
          <p:cNvSpPr/>
          <p:nvPr/>
        </p:nvSpPr>
        <p:spPr>
          <a:xfrm>
            <a:off x="4546000" y="1950000"/>
            <a:ext cx="3100000" cy="60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Circle 1">
            <a:extLst>
              <a:ext uri="{FF2B5EF4-FFF2-40B4-BE49-F238E27FC236}">
                <a16:creationId xmlns:a16="http://schemas.microsoft.com/office/drawing/2014/main" id="{F10042A6-0257-B3CE-FFF6-E8B23455C401}"/>
              </a:ext>
            </a:extLst>
          </p:cNvPr>
          <p:cNvSpPr/>
          <p:nvPr/>
        </p:nvSpPr>
        <p:spPr>
          <a:xfrm>
            <a:off x="5771000" y="2150000"/>
            <a:ext cx="650000" cy="650000"/>
          </a:xfrm>
          <a:prstGeom prst="ellipse">
            <a:avLst/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5" name="Num 1">
            <a:extLst>
              <a:ext uri="{FF2B5EF4-FFF2-40B4-BE49-F238E27FC236}">
                <a16:creationId xmlns:a16="http://schemas.microsoft.com/office/drawing/2014/main" id="{0F341F04-EF3D-2FC0-2A5A-ACEF9A9C60F8}"/>
              </a:ext>
            </a:extLst>
          </p:cNvPr>
          <p:cNvSpPr/>
          <p:nvPr/>
        </p:nvSpPr>
        <p:spPr>
          <a:xfrm>
            <a:off x="5771000" y="2150000"/>
            <a:ext cx="65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400" b="1">
                <a:solidFill>
                  <a:srgbClr val="3B82F6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FBF230F-4417-C588-2A56-F4865DB805D7}"/>
              </a:ext>
            </a:extLst>
          </p:cNvPr>
          <p:cNvSpPr/>
          <p:nvPr/>
        </p:nvSpPr>
        <p:spPr>
          <a:xfrm>
            <a:off x="4726000" y="3000000"/>
            <a:ext cx="27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800" b="1">
                <a:solidFill>
                  <a:srgbClr val="3B82F6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Perfil de trabajo</a:t>
            </a:r>
          </a:p>
        </p:txBody>
      </p:sp>
      <p:sp>
        <p:nvSpPr>
          <p:cNvPr id="17" name="Desc 1">
            <a:extLst>
              <a:ext uri="{FF2B5EF4-FFF2-40B4-BE49-F238E27FC236}">
                <a16:creationId xmlns:a16="http://schemas.microsoft.com/office/drawing/2014/main" id="{45D1CCF3-1A45-9D70-06CD-896182C32C27}"/>
              </a:ext>
            </a:extLst>
          </p:cNvPr>
          <p:cNvSpPr/>
          <p:nvPr/>
        </p:nvSpPr>
        <p:spPr>
          <a:xfrm>
            <a:off x="4726000" y="3700000"/>
            <a:ext cx="274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Contexto organizacional que </a:t>
            </a:r>
            <a:r>
              <a:rPr lang="es-ES" sz="14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Copilot</a:t>
            </a:r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 usa para personalizar respuestas según tu rol, departamento y área de </a:t>
            </a:r>
            <a:r>
              <a:rPr lang="es-ES" sz="14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expertise</a:t>
            </a:r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.</a:t>
            </a:r>
          </a:p>
        </p:txBody>
      </p:sp>
      <p:sp>
        <p:nvSpPr>
          <p:cNvPr id="18" name="Card BG 2">
            <a:extLst>
              <a:ext uri="{FF2B5EF4-FFF2-40B4-BE49-F238E27FC236}">
                <a16:creationId xmlns:a16="http://schemas.microsoft.com/office/drawing/2014/main" id="{090BE3F5-7EB5-A7AA-2C33-8FC47EFD6670}"/>
              </a:ext>
            </a:extLst>
          </p:cNvPr>
          <p:cNvSpPr/>
          <p:nvPr/>
        </p:nvSpPr>
        <p:spPr>
          <a:xfrm>
            <a:off x="8116640" y="1950000"/>
            <a:ext cx="3100000" cy="37000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6350">
            <a:solidFill>
              <a:srgbClr val="0D9488">
                <a:alpha val="20000"/>
              </a:srgbClr>
            </a:solidFill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Accent 2">
            <a:extLst>
              <a:ext uri="{FF2B5EF4-FFF2-40B4-BE49-F238E27FC236}">
                <a16:creationId xmlns:a16="http://schemas.microsoft.com/office/drawing/2014/main" id="{F0BF96B5-8418-F25C-56AC-9C8B61A9B497}"/>
              </a:ext>
            </a:extLst>
          </p:cNvPr>
          <p:cNvSpPr/>
          <p:nvPr/>
        </p:nvSpPr>
        <p:spPr>
          <a:xfrm>
            <a:off x="8116640" y="1950000"/>
            <a:ext cx="3100000" cy="6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Circle 2">
            <a:extLst>
              <a:ext uri="{FF2B5EF4-FFF2-40B4-BE49-F238E27FC236}">
                <a16:creationId xmlns:a16="http://schemas.microsoft.com/office/drawing/2014/main" id="{FCF78FD6-4DED-5B4E-B5B9-DA7EFA560CC9}"/>
              </a:ext>
            </a:extLst>
          </p:cNvPr>
          <p:cNvSpPr/>
          <p:nvPr/>
        </p:nvSpPr>
        <p:spPr>
          <a:xfrm>
            <a:off x="9341640" y="2150000"/>
            <a:ext cx="650000" cy="650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1" name="Num 2">
            <a:extLst>
              <a:ext uri="{FF2B5EF4-FFF2-40B4-BE49-F238E27FC236}">
                <a16:creationId xmlns:a16="http://schemas.microsoft.com/office/drawing/2014/main" id="{0239B8FA-C183-A911-D31C-9DD25664848E}"/>
              </a:ext>
            </a:extLst>
          </p:cNvPr>
          <p:cNvSpPr/>
          <p:nvPr/>
        </p:nvSpPr>
        <p:spPr>
          <a:xfrm>
            <a:off x="9341640" y="2150000"/>
            <a:ext cx="65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400" b="1">
                <a:solidFill>
                  <a:srgbClr val="0D9488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FFBDBC5-6110-02AB-A82E-A6E54F235019}"/>
              </a:ext>
            </a:extLst>
          </p:cNvPr>
          <p:cNvSpPr/>
          <p:nvPr/>
        </p:nvSpPr>
        <p:spPr>
          <a:xfrm>
            <a:off x="8296640" y="3000000"/>
            <a:ext cx="27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800" b="1">
                <a:solidFill>
                  <a:srgbClr val="0D9488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Recuerdos guardados</a:t>
            </a:r>
          </a:p>
        </p:txBody>
      </p:sp>
      <p:sp>
        <p:nvSpPr>
          <p:cNvPr id="23" name="Desc 2">
            <a:extLst>
              <a:ext uri="{FF2B5EF4-FFF2-40B4-BE49-F238E27FC236}">
                <a16:creationId xmlns:a16="http://schemas.microsoft.com/office/drawing/2014/main" id="{05CB55DE-C2B5-DA7A-92B9-30B2368BB4C8}"/>
              </a:ext>
            </a:extLst>
          </p:cNvPr>
          <p:cNvSpPr/>
          <p:nvPr/>
        </p:nvSpPr>
        <p:spPr>
          <a:xfrm>
            <a:off x="8296640" y="3700000"/>
            <a:ext cx="274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Datos y hechos que </a:t>
            </a:r>
            <a:r>
              <a:rPr lang="es-ES" sz="14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Copilot</a:t>
            </a:r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0"/>
              </a:rPr>
              <a:t> recuerda entre conversaciones: proyectos activos, preferencias y contexto continuo.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C1344D3A-6E6A-951E-5CE2-B19FAE1725A5}"/>
              </a:ext>
            </a:extLst>
          </p:cNvPr>
          <p:cNvSpPr/>
          <p:nvPr/>
        </p:nvSpPr>
        <p:spPr>
          <a:xfrm>
            <a:off x="975360" y="487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Personaliza </a:t>
            </a:r>
            <a:r>
              <a:rPr lang="es-E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Copilot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1476376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D25D-7D34-E345-3C2A-A55186DA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88FD4A9A-B888-6202-2437-225F7E4C8AA1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07C6F92-DBFD-970E-C63B-861EBD2EFFBD}"/>
              </a:ext>
            </a:extLst>
          </p:cNvPr>
          <p:cNvSpPr/>
          <p:nvPr/>
        </p:nvSpPr>
        <p:spPr>
          <a:xfrm>
            <a:off x="600000" y="320000"/>
            <a:ext cx="10992000" cy="5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3000" b="1" dirty="0">
                <a:solidFill>
                  <a:srgbClr val="1E293B"/>
                </a:solidFill>
                <a:latin typeface="Segoe UI Semibold"/>
              </a:rPr>
              <a:t>Historial de </a:t>
            </a:r>
            <a:r>
              <a:rPr lang="es-ES" sz="3000" b="1" dirty="0">
                <a:latin typeface="Segoe UI Semibold"/>
              </a:rPr>
              <a:t>conversaciones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BB0BB56-446E-3B5E-57F4-A16051E6B048}"/>
              </a:ext>
            </a:extLst>
          </p:cNvPr>
          <p:cNvSpPr/>
          <p:nvPr/>
        </p:nvSpPr>
        <p:spPr>
          <a:xfrm>
            <a:off x="1500000" y="900000"/>
            <a:ext cx="9192000" cy="4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500">
                <a:solidFill>
                  <a:srgbClr val="475569"/>
                </a:solidFill>
                <a:latin typeface="Segoe UI"/>
              </a:rPr>
              <a:t>Cómo Copilot mantiene el contexto continuo turno a turno dentro de una misma conversación.</a:t>
            </a:r>
          </a:p>
        </p:txBody>
      </p:sp>
      <p:sp>
        <p:nvSpPr>
          <p:cNvPr id="5" name="SchemaHeading">
            <a:extLst>
              <a:ext uri="{FF2B5EF4-FFF2-40B4-BE49-F238E27FC236}">
                <a16:creationId xmlns:a16="http://schemas.microsoft.com/office/drawing/2014/main" id="{68FC971E-EB4E-2842-E486-80969A5D6C2C}"/>
              </a:ext>
            </a:extLst>
          </p:cNvPr>
          <p:cNvSpPr/>
          <p:nvPr/>
        </p:nvSpPr>
        <p:spPr>
          <a:xfrm>
            <a:off x="600000" y="1620000"/>
            <a:ext cx="10992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300" b="1">
                <a:solidFill>
                  <a:srgbClr val="334155"/>
                </a:solidFill>
                <a:latin typeface="Segoe UI Semibold"/>
              </a:rPr>
              <a:t>El ciclo del contexto continuo turno a turno</a:t>
            </a:r>
          </a:p>
        </p:txBody>
      </p:sp>
      <p:sp>
        <p:nvSpPr>
          <p:cNvPr id="6" name="ConnLine">
            <a:extLst>
              <a:ext uri="{FF2B5EF4-FFF2-40B4-BE49-F238E27FC236}">
                <a16:creationId xmlns:a16="http://schemas.microsoft.com/office/drawing/2014/main" id="{19072A28-CA14-87FE-4D27-4856F2347BEC}"/>
              </a:ext>
            </a:extLst>
          </p:cNvPr>
          <p:cNvSpPr/>
          <p:nvPr/>
        </p:nvSpPr>
        <p:spPr>
          <a:xfrm>
            <a:off x="2346000" y="2542000"/>
            <a:ext cx="7500000" cy="16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Step1Circle">
            <a:extLst>
              <a:ext uri="{FF2B5EF4-FFF2-40B4-BE49-F238E27FC236}">
                <a16:creationId xmlns:a16="http://schemas.microsoft.com/office/drawing/2014/main" id="{1E506255-2111-D3C2-0841-455290019B27}"/>
              </a:ext>
            </a:extLst>
          </p:cNvPr>
          <p:cNvSpPr/>
          <p:nvPr/>
        </p:nvSpPr>
        <p:spPr>
          <a:xfrm>
            <a:off x="1896000" y="2100000"/>
            <a:ext cx="900000" cy="9000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50000" dist="12000" dir="5400000" algn="bl" rotWithShape="0">
              <a:srgbClr val="0D9488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Step2Circle">
            <a:extLst>
              <a:ext uri="{FF2B5EF4-FFF2-40B4-BE49-F238E27FC236}">
                <a16:creationId xmlns:a16="http://schemas.microsoft.com/office/drawing/2014/main" id="{82D80649-7B10-047F-346B-61EB4346F067}"/>
              </a:ext>
            </a:extLst>
          </p:cNvPr>
          <p:cNvSpPr/>
          <p:nvPr/>
        </p:nvSpPr>
        <p:spPr>
          <a:xfrm>
            <a:off x="4396000" y="2100000"/>
            <a:ext cx="900000" cy="9000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50000" dist="12000" dir="5400000" algn="bl" rotWithShape="0">
              <a:srgbClr val="3B82F6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Step3Circle">
            <a:extLst>
              <a:ext uri="{FF2B5EF4-FFF2-40B4-BE49-F238E27FC236}">
                <a16:creationId xmlns:a16="http://schemas.microsoft.com/office/drawing/2014/main" id="{DF4F0F7F-4BC1-CA25-2461-571E96B9596C}"/>
              </a:ext>
            </a:extLst>
          </p:cNvPr>
          <p:cNvSpPr/>
          <p:nvPr/>
        </p:nvSpPr>
        <p:spPr>
          <a:xfrm>
            <a:off x="6896000" y="2100000"/>
            <a:ext cx="900000" cy="900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50000" dist="12000" dir="5400000" algn="bl" rotWithShape="0">
              <a:srgbClr val="7C3AED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3" name="Step4Circle">
            <a:extLst>
              <a:ext uri="{FF2B5EF4-FFF2-40B4-BE49-F238E27FC236}">
                <a16:creationId xmlns:a16="http://schemas.microsoft.com/office/drawing/2014/main" id="{87A43DF8-118E-B592-82CC-6CBE9A2381BE}"/>
              </a:ext>
            </a:extLst>
          </p:cNvPr>
          <p:cNvSpPr/>
          <p:nvPr/>
        </p:nvSpPr>
        <p:spPr>
          <a:xfrm>
            <a:off x="9396000" y="2100000"/>
            <a:ext cx="900000" cy="90000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50000" dist="12000" dir="5400000" algn="bl" rotWithShape="0">
              <a:srgbClr val="EC4899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Step1Label">
            <a:extLst>
              <a:ext uri="{FF2B5EF4-FFF2-40B4-BE49-F238E27FC236}">
                <a16:creationId xmlns:a16="http://schemas.microsoft.com/office/drawing/2014/main" id="{D42DE9A7-03F2-220D-6CDB-2F4441C14BC0}"/>
              </a:ext>
            </a:extLst>
          </p:cNvPr>
          <p:cNvSpPr/>
          <p:nvPr/>
        </p:nvSpPr>
        <p:spPr>
          <a:xfrm>
            <a:off x="12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Prompt</a:t>
            </a:r>
          </a:p>
        </p:txBody>
      </p:sp>
      <p:sp>
        <p:nvSpPr>
          <p:cNvPr id="21" name="Step2Label">
            <a:extLst>
              <a:ext uri="{FF2B5EF4-FFF2-40B4-BE49-F238E27FC236}">
                <a16:creationId xmlns:a16="http://schemas.microsoft.com/office/drawing/2014/main" id="{76285ACB-8CC3-5791-CA05-2E550D4C6FB2}"/>
              </a:ext>
            </a:extLst>
          </p:cNvPr>
          <p:cNvSpPr/>
          <p:nvPr/>
        </p:nvSpPr>
        <p:spPr>
          <a:xfrm>
            <a:off x="37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Contexto</a:t>
            </a:r>
          </a:p>
        </p:txBody>
      </p:sp>
      <p:sp>
        <p:nvSpPr>
          <p:cNvPr id="22" name="Step3Label">
            <a:extLst>
              <a:ext uri="{FF2B5EF4-FFF2-40B4-BE49-F238E27FC236}">
                <a16:creationId xmlns:a16="http://schemas.microsoft.com/office/drawing/2014/main" id="{827AAA37-7159-7EA4-A2C4-C338AEC911CE}"/>
              </a:ext>
            </a:extLst>
          </p:cNvPr>
          <p:cNvSpPr/>
          <p:nvPr/>
        </p:nvSpPr>
        <p:spPr>
          <a:xfrm>
            <a:off x="62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Generación</a:t>
            </a:r>
          </a:p>
        </p:txBody>
      </p:sp>
      <p:sp>
        <p:nvSpPr>
          <p:cNvPr id="23" name="Step4Label">
            <a:extLst>
              <a:ext uri="{FF2B5EF4-FFF2-40B4-BE49-F238E27FC236}">
                <a16:creationId xmlns:a16="http://schemas.microsoft.com/office/drawing/2014/main" id="{2E99D487-A932-52F0-E794-F893D849528E}"/>
              </a:ext>
            </a:extLst>
          </p:cNvPr>
          <p:cNvSpPr/>
          <p:nvPr/>
        </p:nvSpPr>
        <p:spPr>
          <a:xfrm>
            <a:off x="87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Respuesta</a:t>
            </a:r>
          </a:p>
        </p:txBody>
      </p:sp>
      <p:sp>
        <p:nvSpPr>
          <p:cNvPr id="30" name="Step1Desc">
            <a:extLst>
              <a:ext uri="{FF2B5EF4-FFF2-40B4-BE49-F238E27FC236}">
                <a16:creationId xmlns:a16="http://schemas.microsoft.com/office/drawing/2014/main" id="{7E8C5FC9-EB22-46CC-5987-D04A40A23026}"/>
              </a:ext>
            </a:extLst>
          </p:cNvPr>
          <p:cNvSpPr/>
          <p:nvPr/>
        </p:nvSpPr>
        <p:spPr>
          <a:xfrm>
            <a:off x="12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El usuario formula una pregunta o instrucción en el chat.</a:t>
            </a:r>
          </a:p>
        </p:txBody>
      </p:sp>
      <p:sp>
        <p:nvSpPr>
          <p:cNvPr id="31" name="Step2Desc">
            <a:extLst>
              <a:ext uri="{FF2B5EF4-FFF2-40B4-BE49-F238E27FC236}">
                <a16:creationId xmlns:a16="http://schemas.microsoft.com/office/drawing/2014/main" id="{C75430F5-0B15-31AB-9078-E26ED59558C7}"/>
              </a:ext>
            </a:extLst>
          </p:cNvPr>
          <p:cNvSpPr/>
          <p:nvPr/>
        </p:nvSpPr>
        <p:spPr>
          <a:xfrm>
            <a:off x="37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Copilot añade un resumen condensado del historial reciente al prompt.</a:t>
            </a:r>
          </a:p>
        </p:txBody>
      </p:sp>
      <p:sp>
        <p:nvSpPr>
          <p:cNvPr id="32" name="Step3Desc">
            <a:extLst>
              <a:ext uri="{FF2B5EF4-FFF2-40B4-BE49-F238E27FC236}">
                <a16:creationId xmlns:a16="http://schemas.microsoft.com/office/drawing/2014/main" id="{0A0EAA05-2851-E2B9-9603-630ED711A6F6}"/>
              </a:ext>
            </a:extLst>
          </p:cNvPr>
          <p:cNvSpPr/>
          <p:nvPr/>
        </p:nvSpPr>
        <p:spPr>
          <a:xfrm>
            <a:off x="62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El LLM produce la respuesta combinando prompt y contexto.</a:t>
            </a:r>
          </a:p>
        </p:txBody>
      </p:sp>
      <p:sp>
        <p:nvSpPr>
          <p:cNvPr id="33" name="Step4Desc">
            <a:extLst>
              <a:ext uri="{FF2B5EF4-FFF2-40B4-BE49-F238E27FC236}">
                <a16:creationId xmlns:a16="http://schemas.microsoft.com/office/drawing/2014/main" id="{CA7190B7-F9C3-0D28-246D-9E33EBDE3C3E}"/>
              </a:ext>
            </a:extLst>
          </p:cNvPr>
          <p:cNvSpPr/>
          <p:nvPr/>
        </p:nvSpPr>
        <p:spPr>
          <a:xfrm>
            <a:off x="87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Se entrega al usuario y se añade como nuevo turno del historial.</a:t>
            </a:r>
          </a:p>
        </p:txBody>
      </p:sp>
      <p:sp>
        <p:nvSpPr>
          <p:cNvPr id="50" name="HowToCard"/>
          <p:cNvSpPr/>
          <p:nvPr/>
        </p:nvSpPr>
        <p:spPr>
          <a:xfrm>
            <a:off x="1500000" y="4788000"/>
            <a:ext cx="9192000" cy="88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HowToBadge"/>
          <p:cNvSpPr/>
          <p:nvPr/>
        </p:nvSpPr>
        <p:spPr>
          <a:xfrm>
            <a:off x="1692000" y="5038000"/>
            <a:ext cx="1800000" cy="3800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0D9488"/>
              </a:gs>
              <a:gs pos="100000">
                <a:srgbClr val="14A8BC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Cómo usarlo</a:t>
            </a:r>
          </a:p>
        </p:txBody>
      </p:sp>
      <p:sp>
        <p:nvSpPr>
          <p:cNvPr id="52" name="HowToCol1"/>
          <p:cNvSpPr/>
          <p:nvPr/>
        </p:nvSpPr>
        <p:spPr>
          <a:xfrm>
            <a:off x="3700000" y="4838000"/>
            <a:ext cx="3400000" cy="8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Contexto continuo </a:t>
            </a:r>
            <a:r>
              <a:rPr lang="es-ES" sz="1100">
                <a:solidFill>
                  <a:srgbClr val="334155"/>
                </a:solidFill>
                <a:latin typeface="Segoe UI"/>
                <a:cs typeface="Segoe UI"/>
              </a:rPr>
              <a:t>entre sesiones del chat</a:t>
            </a:r>
          </a:p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334155"/>
                </a:solidFill>
                <a:latin typeface="Segoe UI"/>
                <a:cs typeface="Segoe UI"/>
              </a:rPr>
              <a:t>Las conversaciones se guardan hasta </a:t>
            </a: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18 meses</a:t>
            </a:r>
          </a:p>
        </p:txBody>
      </p:sp>
      <p:sp>
        <p:nvSpPr>
          <p:cNvPr id="53" name="HowToCol2"/>
          <p:cNvSpPr/>
          <p:nvPr/>
        </p:nvSpPr>
        <p:spPr>
          <a:xfrm>
            <a:off x="7200000" y="4838000"/>
            <a:ext cx="3300000" cy="8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Retoma </a:t>
            </a:r>
            <a:r>
              <a:rPr lang="es-ES" sz="1100">
                <a:solidFill>
                  <a:srgbClr val="334155"/>
                </a:solidFill>
                <a:latin typeface="Segoe UI"/>
                <a:cs typeface="Segoe UI"/>
              </a:rPr>
              <a:t>conversaciones desde el panel lateral</a:t>
            </a:r>
          </a:p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Renombra</a:t>
            </a:r>
            <a:r>
              <a:rPr lang="es-ES" sz="1100">
                <a:solidFill>
                  <a:srgbClr val="334155"/>
                </a:solidFill>
                <a:latin typeface="Segoe UI"/>
                <a:cs typeface="Segoe UI"/>
              </a:rPr>
              <a:t> o </a:t>
            </a: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elimina</a:t>
            </a:r>
            <a:r>
              <a:rPr lang="es-ES" sz="1100">
                <a:solidFill>
                  <a:srgbClr val="334155"/>
                </a:solidFill>
                <a:latin typeface="Segoe UI"/>
                <a:cs typeface="Segoe UI"/>
              </a:rPr>
              <a:t> conversaciones</a:t>
            </a:r>
          </a:p>
        </p:txBody>
      </p:sp>
    </p:spTree>
    <p:extLst>
      <p:ext uri="{BB962C8B-B14F-4D97-AF65-F5344CB8AC3E}">
        <p14:creationId xmlns:p14="http://schemas.microsoft.com/office/powerpoint/2010/main" val="2987356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20BE-8B17-2D0A-C8B3-459EDC5B50FD}"/>
              </a:ext>
            </a:extLst>
          </p:cNvPr>
          <p:cNvSpPr txBox="1">
            <a:spLocks/>
          </p:cNvSpPr>
          <p:nvPr/>
        </p:nvSpPr>
        <p:spPr>
          <a:xfrm>
            <a:off x="588262" y="585216"/>
            <a:ext cx="8193024" cy="55399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Creación de </a:t>
            </a:r>
            <a:r>
              <a:rPr lang="es-ES" sz="3600" i="1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prompts </a:t>
            </a:r>
            <a:r>
              <a:rPr lang="es-ES" sz="360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efectivos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C2A06-136C-CEB5-654F-C42F6A369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37667" y="1475486"/>
            <a:ext cx="9515458" cy="4828454"/>
          </a:xfrm>
          <a:prstGeom prst="roundRect">
            <a:avLst>
              <a:gd name="adj" fmla="val 3190"/>
            </a:avLst>
          </a:prstGeom>
          <a:solidFill>
            <a:srgbClr val="FFFFFF">
              <a:alpha val="46000"/>
            </a:srgbClr>
          </a:solidFill>
          <a:ln w="25400">
            <a:solidFill>
              <a:srgbClr val="5B21B6"/>
            </a:solidFill>
          </a:ln>
          <a:effectLst>
            <a:outerShdw blurRad="63500" algn="ctr" rotWithShape="0">
              <a:schemeClr val="tx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ts val="1200"/>
              </a:spcAft>
              <a:defRPr sz="1000">
                <a:ln w="3175">
                  <a:noFill/>
                </a:ln>
                <a:solidFill>
                  <a:schemeClr val="tx1"/>
                </a:solidFill>
                <a:cs typeface="Segoe UI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Segoe U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10EE8-81B9-A95E-9C38-8CB4E4E05E0B}"/>
              </a:ext>
            </a:extLst>
          </p:cNvPr>
          <p:cNvSpPr txBox="1"/>
          <p:nvPr/>
        </p:nvSpPr>
        <p:spPr>
          <a:xfrm>
            <a:off x="335373" y="2115059"/>
            <a:ext cx="20022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32472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22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Para obtener la mejor respuesta, es importante centrarse en algunos de los </a:t>
            </a:r>
            <a:r>
              <a:rPr lang="es-ES" sz="2200" dirty="0">
                <a:solidFill>
                  <a:srgbClr val="1E293B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elementos clave </a:t>
            </a:r>
            <a:r>
              <a:rPr lang="es-ES" sz="22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a la hora de expresar los </a:t>
            </a:r>
            <a:r>
              <a:rPr lang="es-ES" sz="2200" i="1" dirty="0" err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prompts</a:t>
            </a:r>
            <a:r>
              <a:rPr lang="es-ES" sz="22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" name="Rounded Rectangle 15">
            <a:extLst>
              <a:ext uri="{FF2B5EF4-FFF2-40B4-BE49-F238E27FC236}">
                <a16:creationId xmlns:a16="http://schemas.microsoft.com/office/drawing/2014/main" id="{847AEE87-676A-2229-AFB1-519485FFF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3732" y="2714978"/>
            <a:ext cx="8519595" cy="2386846"/>
          </a:xfrm>
          <a:prstGeom prst="roundRect">
            <a:avLst>
              <a:gd name="adj" fmla="val 7542"/>
            </a:avLst>
          </a:prstGeom>
          <a:gradFill flip="none" rotWithShape="1">
            <a:gsLst>
              <a:gs pos="58000">
                <a:srgbClr val="FFFFFF"/>
              </a:gs>
              <a:gs pos="100000">
                <a:schemeClr val="bg1">
                  <a:lumMod val="95000"/>
                  <a:alpha val="0"/>
                </a:schemeClr>
              </a:gs>
              <a:gs pos="34000">
                <a:schemeClr val="bg1"/>
              </a:gs>
            </a:gsLst>
            <a:lin ang="18900000" scaled="1"/>
          </a:gradFill>
          <a:ln w="12700">
            <a:noFill/>
            <a:headEnd type="none" w="med" len="med"/>
            <a:tailEnd type="none" w="med" len="med"/>
          </a:ln>
          <a:effectLst/>
          <a:scene3d>
            <a:camera prst="perspectiveRight">
              <a:rot lat="0" lon="21594000" rev="0"/>
            </a:camera>
            <a:lightRig rig="flat" dir="t"/>
          </a:scene3d>
          <a:sp3d>
            <a:bevelT w="0" h="0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D2257005-D2AF-CCEE-D100-A358BA658142}"/>
              </a:ext>
            </a:extLst>
          </p:cNvPr>
          <p:cNvSpPr/>
          <p:nvPr/>
        </p:nvSpPr>
        <p:spPr bwMode="auto">
          <a:xfrm>
            <a:off x="3066870" y="1648760"/>
            <a:ext cx="1835900" cy="3471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rgbClr val="3B82F6"/>
            </a:solidFill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200" b="1" i="0" strike="noStrike" cap="none" baseline="0">
                <a:solidFill>
                  <a:srgbClr val="3B82F6"/>
                </a:solidFill>
                <a:effectLst/>
                <a:latin typeface="Segoe UI Semibold"/>
                <a:ea typeface="Segoe UI Semibold"/>
                <a:cs typeface="Segoe UI Semibold"/>
              </a:rPr>
              <a:t>Rol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0F6260FF-1A35-3160-8E49-7F2E5EFD85A1}"/>
              </a:ext>
            </a:extLst>
          </p:cNvPr>
          <p:cNvSpPr txBox="1"/>
          <p:nvPr/>
        </p:nvSpPr>
        <p:spPr>
          <a:xfrm>
            <a:off x="3113732" y="2095187"/>
            <a:ext cx="298226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800" b="0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¿Qué papel debe asumir la IA?</a:t>
            </a:r>
          </a:p>
        </p:txBody>
      </p:sp>
      <p:sp>
        <p:nvSpPr>
          <p:cNvPr id="8" name="Rounded Rectangle 26">
            <a:extLst>
              <a:ext uri="{FF2B5EF4-FFF2-40B4-BE49-F238E27FC236}">
                <a16:creationId xmlns:a16="http://schemas.microsoft.com/office/drawing/2014/main" id="{3E383DBA-A62F-3763-1C6B-418D5FBEDF2B}"/>
              </a:ext>
            </a:extLst>
          </p:cNvPr>
          <p:cNvSpPr/>
          <p:nvPr/>
        </p:nvSpPr>
        <p:spPr bwMode="auto">
          <a:xfrm>
            <a:off x="7863420" y="1645996"/>
            <a:ext cx="1835732" cy="3471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rgbClr val="0D9488"/>
            </a:solidFill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200" b="1" i="0" strike="noStrike" cap="none" baseline="0">
                <a:solidFill>
                  <a:srgbClr val="0D9488"/>
                </a:solidFill>
                <a:effectLst/>
                <a:latin typeface="Segoe UI Semibold"/>
                <a:ea typeface="Segoe UI Semibold"/>
                <a:cs typeface="Segoe UI Semibold"/>
              </a:rPr>
              <a:t>Contexto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44148-AF5C-3CCF-FD8A-14F7AEAE6715}"/>
              </a:ext>
            </a:extLst>
          </p:cNvPr>
          <p:cNvSpPr txBox="1"/>
          <p:nvPr/>
        </p:nvSpPr>
        <p:spPr>
          <a:xfrm>
            <a:off x="7877772" y="2138241"/>
            <a:ext cx="319754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800" b="1" i="0" strike="noStrike" cap="none" baseline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¿Por qué lo necesitas y quién está implicado?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552ED3-FB9C-95C6-6227-B048F1C1D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782293" y="2661852"/>
            <a:ext cx="169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C2C2C2"/>
                </a:gs>
                <a:gs pos="90000">
                  <a:schemeClr val="bg1">
                    <a:alpha val="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37">
            <a:extLst>
              <a:ext uri="{FF2B5EF4-FFF2-40B4-BE49-F238E27FC236}">
                <a16:creationId xmlns:a16="http://schemas.microsoft.com/office/drawing/2014/main" id="{A83A3DE6-1A37-0015-50FD-2C6A0AF1253F}"/>
              </a:ext>
            </a:extLst>
          </p:cNvPr>
          <p:cNvSpPr/>
          <p:nvPr/>
        </p:nvSpPr>
        <p:spPr bwMode="auto">
          <a:xfrm>
            <a:off x="3066870" y="5250407"/>
            <a:ext cx="1835732" cy="3471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rgbClr val="7C3AED"/>
            </a:solidFill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200" b="1" i="0" strike="noStrike" cap="none" baseline="0" dirty="0">
                <a:solidFill>
                  <a:srgbClr val="7C3AED"/>
                </a:solidFill>
                <a:effectLst/>
                <a:latin typeface="Segoe UI Semibold"/>
                <a:ea typeface="Segoe UI Semibold"/>
                <a:cs typeface="Segoe UI Semibold"/>
              </a:rPr>
              <a:t>  Tarea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6E6145A-6EB2-BBFD-8F4D-CE476DBC1F63}"/>
              </a:ext>
            </a:extLst>
          </p:cNvPr>
          <p:cNvSpPr txBox="1"/>
          <p:nvPr/>
        </p:nvSpPr>
        <p:spPr>
          <a:xfrm>
            <a:off x="3066870" y="5714529"/>
            <a:ext cx="3393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800" b="1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¿Qué quieres que haga?</a:t>
            </a:r>
          </a:p>
        </p:txBody>
      </p:sp>
      <p:sp>
        <p:nvSpPr>
          <p:cNvPr id="13" name="Rounded Rectangle 34">
            <a:extLst>
              <a:ext uri="{FF2B5EF4-FFF2-40B4-BE49-F238E27FC236}">
                <a16:creationId xmlns:a16="http://schemas.microsoft.com/office/drawing/2014/main" id="{C5B32D6E-5D3B-BCD4-02A8-D0F3F72A29CA}"/>
              </a:ext>
            </a:extLst>
          </p:cNvPr>
          <p:cNvSpPr/>
          <p:nvPr/>
        </p:nvSpPr>
        <p:spPr bwMode="auto">
          <a:xfrm>
            <a:off x="7863420" y="5250407"/>
            <a:ext cx="1835732" cy="347158"/>
          </a:xfrm>
          <a:prstGeom prst="roundRect">
            <a:avLst>
              <a:gd name="adj" fmla="val 50000"/>
            </a:avLst>
          </a:prstGeom>
          <a:solidFill>
            <a:schemeClr val="bg1">
              <a:alpha val="99000"/>
            </a:schemeClr>
          </a:solidFill>
          <a:ln w="15875">
            <a:solidFill>
              <a:srgbClr val="EC55A0"/>
            </a:solidFill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334155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200" b="1" i="0" strike="noStrike" cap="none" baseline="0" dirty="0">
                <a:solidFill>
                  <a:srgbClr val="EC4899"/>
                </a:solidFill>
                <a:effectLst/>
                <a:latin typeface="Segoe UI Semibold"/>
                <a:ea typeface="Segoe UI Semibold"/>
                <a:cs typeface="Segoe UI Semibold"/>
              </a:rPr>
              <a:t>Formato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1A5D714E-536C-6BE7-3332-B3985B1E0E37}"/>
              </a:ext>
            </a:extLst>
          </p:cNvPr>
          <p:cNvSpPr txBox="1"/>
          <p:nvPr/>
        </p:nvSpPr>
        <p:spPr>
          <a:xfrm>
            <a:off x="7863420" y="5714529"/>
            <a:ext cx="347403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800" b="1" i="0" strike="noStrike" cap="none" baseline="0" dirty="0">
                <a:solidFill>
                  <a:srgbClr val="1E293B"/>
                </a:solidFill>
                <a:effectLst/>
                <a:latin typeface="Segoe UI Semibold"/>
                <a:ea typeface="Segoe UI Semibold"/>
                <a:cs typeface="Segoe UI Semibold"/>
              </a:rPr>
              <a:t>¿Cómo debe entregar la respuesta?</a:t>
            </a:r>
          </a:p>
        </p:txBody>
      </p:sp>
      <p:pic>
        <p:nvPicPr>
          <p:cNvPr id="16" name="Image 0" descr="Imagen ilustrativa relacionada con Creación de prompts efectivos">
            <a:extLst>
              <a:ext uri="{FF2B5EF4-FFF2-40B4-BE49-F238E27FC236}">
                <a16:creationId xmlns:a16="http://schemas.microsoft.com/office/drawing/2014/main" id="{57B35A92-1B75-2ABC-6771-69CEFDF9C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17" name="Rounded Rectangle 41">
            <a:extLst>
              <a:ext uri="{FF2B5EF4-FFF2-40B4-BE49-F238E27FC236}">
                <a16:creationId xmlns:a16="http://schemas.microsoft.com/office/drawing/2014/main" id="{CC4BCB06-E050-9411-4C7D-0C7FE9C80669}"/>
              </a:ext>
            </a:extLst>
          </p:cNvPr>
          <p:cNvSpPr/>
          <p:nvPr/>
        </p:nvSpPr>
        <p:spPr bwMode="auto">
          <a:xfrm>
            <a:off x="2393244" y="1218085"/>
            <a:ext cx="5540112" cy="36711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000">
                <a:srgbClr val="7C3AED"/>
              </a:gs>
              <a:gs pos="100000">
                <a:srgbClr val="3B82F6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334155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27000" tIns="0" rIns="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8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Framework RCTF: los 4 ingredientes de un </a:t>
            </a:r>
            <a:r>
              <a:rPr lang="es-ES" sz="1800" b="1" i="1" strike="noStrike" cap="none" baseline="0" dirty="0" err="1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prompt</a:t>
            </a:r>
            <a:endParaRPr lang="es-ES" sz="1800" b="1" i="0" strike="noStrike" cap="none" baseline="0" dirty="0">
              <a:solidFill>
                <a:srgbClr val="FFFFFF"/>
              </a:solidFill>
              <a:effectLst/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E2B531-10B4-3C67-74C6-05F24ADDC7B7}"/>
              </a:ext>
            </a:extLst>
          </p:cNvPr>
          <p:cNvSpPr txBox="1"/>
          <p:nvPr/>
        </p:nvSpPr>
        <p:spPr>
          <a:xfrm>
            <a:off x="3294978" y="2847886"/>
            <a:ext cx="8445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i="0" strike="noStrike" cap="none" baseline="0" dirty="0">
                <a:solidFill>
                  <a:srgbClr val="0D9488"/>
                </a:solidFill>
                <a:effectLst/>
                <a:latin typeface="Segoe UI Semibold"/>
                <a:ea typeface="Segoe UI Semibold"/>
                <a:cs typeface="Segoe UI Semibold"/>
              </a:rPr>
              <a:t>							    Trabajo en </a:t>
            </a:r>
          </a:p>
          <a:p>
            <a:r>
              <a:rPr lang="es-ES" sz="2400" b="1" i="0" strike="noStrike" cap="none" baseline="0" dirty="0">
                <a:solidFill>
                  <a:srgbClr val="0D9488"/>
                </a:solidFill>
                <a:effectLst/>
                <a:latin typeface="Segoe UI Semibold"/>
                <a:ea typeface="Segoe UI Semibold"/>
                <a:cs typeface="Segoe UI Semibold"/>
              </a:rPr>
              <a:t>marketing y necesito vigilar a </a:t>
            </a:r>
            <a:r>
              <a:rPr lang="es-ES" sz="2400" b="1" dirty="0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Contoso, </a:t>
            </a:r>
            <a:r>
              <a:rPr lang="es-ES" sz="2400" b="1" i="0" strike="noStrike" cap="none" baseline="0" dirty="0">
                <a:solidFill>
                  <a:srgbClr val="0D9488"/>
                </a:solidFill>
                <a:effectLst/>
                <a:latin typeface="Segoe UI Semibold"/>
                <a:ea typeface="Segoe UI Semibold"/>
                <a:cs typeface="Segoe UI Semibold"/>
              </a:rPr>
              <a:t>uno de nuestros competidores. </a:t>
            </a:r>
            <a:endParaRPr lang="es-E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DBDA9C-0D3C-075A-1A80-5F64D7189188}"/>
              </a:ext>
            </a:extLst>
          </p:cNvPr>
          <p:cNvSpPr txBox="1"/>
          <p:nvPr/>
        </p:nvSpPr>
        <p:spPr>
          <a:xfrm>
            <a:off x="3292558" y="2863409"/>
            <a:ext cx="7216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i="0" strike="noStrike" cap="none" baseline="0" dirty="0">
                <a:solidFill>
                  <a:srgbClr val="3B82F6"/>
                </a:solidFill>
                <a:effectLst/>
                <a:latin typeface="Segoe UI Semibold"/>
                <a:ea typeface="Segoe UI Semibold"/>
                <a:cs typeface="Segoe UI Semibold"/>
              </a:rPr>
              <a:t>Actúa como analista de inteligencia competitiva.</a:t>
            </a:r>
            <a:endParaRPr lang="es-E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F90654-47B6-C52D-1E0B-5C28255B6637}"/>
              </a:ext>
            </a:extLst>
          </p:cNvPr>
          <p:cNvSpPr txBox="1"/>
          <p:nvPr/>
        </p:nvSpPr>
        <p:spPr>
          <a:xfrm>
            <a:off x="3292557" y="3562340"/>
            <a:ext cx="8328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i="0" strike="noStrike" cap="none" baseline="0" dirty="0">
                <a:solidFill>
                  <a:srgbClr val="7C3AED"/>
                </a:solidFill>
                <a:effectLst/>
                <a:latin typeface="Segoe UI Semibold"/>
                <a:ea typeface="Segoe UI Semibold"/>
                <a:cs typeface="Segoe UI Semibold"/>
              </a:rPr>
              <a:t>		   Resume las últimas noticias sobre esa empresa publicadas en artículos web de los últimos 2 meses. </a:t>
            </a:r>
            <a:endParaRPr lang="es-E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368A85-3DDE-0685-AD13-14DEC8C35E47}"/>
              </a:ext>
            </a:extLst>
          </p:cNvPr>
          <p:cNvSpPr txBox="1"/>
          <p:nvPr/>
        </p:nvSpPr>
        <p:spPr>
          <a:xfrm>
            <a:off x="3278608" y="4282994"/>
            <a:ext cx="8340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EC4899"/>
                </a:solidFill>
                <a:latin typeface="Segoe UI Semibold"/>
                <a:ea typeface="Segoe UI Semibold"/>
                <a:cs typeface="Segoe UI Semibold"/>
              </a:rPr>
              <a:t>	 </a:t>
            </a:r>
            <a:r>
              <a:rPr lang="es-ES" sz="2400" b="1" i="0" strike="noStrike" cap="none" baseline="0" dirty="0">
                <a:solidFill>
                  <a:srgbClr val="EC4899"/>
                </a:solidFill>
                <a:effectLst/>
                <a:latin typeface="Segoe UI Semibold"/>
                <a:ea typeface="Segoe UI Semibold"/>
                <a:cs typeface="Segoe UI Semibold"/>
              </a:rPr>
              <a:t>Entrega la respuesta en dos o tres párrafos con un tono profesional.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00194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1" grpId="0" animBg="1"/>
      <p:bldP spid="12" grpId="0"/>
      <p:bldP spid="13" grpId="0" animBg="1"/>
      <p:bldP spid="14" grpId="0"/>
      <p:bldP spid="21" grpId="0"/>
      <p:bldP spid="19" grpId="0"/>
      <p:bldP spid="23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937FB07E-AEE1-C6AC-07D9-6F709FC70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1677009"/>
            <a:ext cx="11099944" cy="4595775"/>
          </a:xfrm>
          <a:prstGeom prst="roundRect">
            <a:avLst>
              <a:gd name="adj" fmla="val 2364"/>
            </a:avLst>
          </a:prstGeom>
          <a:solidFill>
            <a:srgbClr val="FFFFFF">
              <a:alpha val="74118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3D518B-88A9-A887-C0FB-133A957787A9}"/>
              </a:ext>
            </a:extLst>
          </p:cNvPr>
          <p:cNvSpPr txBox="1">
            <a:spLocks/>
          </p:cNvSpPr>
          <p:nvPr/>
        </p:nvSpPr>
        <p:spPr>
          <a:xfrm>
            <a:off x="546028" y="585216"/>
            <a:ext cx="11099944" cy="55399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Creación de </a:t>
            </a:r>
            <a:r>
              <a:rPr lang="es-ES" sz="3600" i="1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prompts </a:t>
            </a:r>
            <a:r>
              <a:rPr lang="es-ES" sz="360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efectivos</a:t>
            </a:r>
            <a:endParaRPr lang="es-ES" sz="3600" i="1">
              <a:solidFill>
                <a:srgbClr val="1E293B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81996-88DC-5D44-B67A-77313D01BDFD}"/>
              </a:ext>
            </a:extLst>
          </p:cNvPr>
          <p:cNvSpPr txBox="1"/>
          <p:nvPr/>
        </p:nvSpPr>
        <p:spPr>
          <a:xfrm>
            <a:off x="953587" y="1863661"/>
            <a:ext cx="4323806" cy="4097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Ser claro y específico</a:t>
            </a:r>
          </a:p>
          <a:p>
            <a:pPr marL="342900" indent="-342900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Proporcionar detalles</a:t>
            </a:r>
          </a:p>
          <a:p>
            <a:pPr marL="342900" indent="-342900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Proporcionar ejemplos</a:t>
            </a:r>
            <a:endParaRPr lang="es-ES" sz="2000" b="0" i="0" strike="noStrike" cap="none" baseline="0" dirty="0">
              <a:solidFill>
                <a:srgbClr val="1E293B"/>
              </a:solidFill>
              <a:effectLst/>
              <a:latin typeface="Segoe UI"/>
              <a:ea typeface="Segoe UI"/>
              <a:cs typeface="Segoe UI"/>
            </a:endParaRPr>
          </a:p>
          <a:p>
            <a:pPr marL="342900" indent="-342900" algn="l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Hacerlo ameno y cercano</a:t>
            </a:r>
          </a:p>
          <a:p>
            <a:pPr marL="342900" indent="-342900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Ser cortés</a:t>
            </a:r>
          </a:p>
          <a:p>
            <a:pPr marL="342900" indent="-342900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Escribir de manera legible</a:t>
            </a:r>
          </a:p>
          <a:p>
            <a:pPr marL="342900" indent="-342900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Pedir comentarios</a:t>
            </a:r>
          </a:p>
          <a:p>
            <a:pPr marL="342900" indent="-342900" algn="l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Verificar la precisión</a:t>
            </a:r>
          </a:p>
          <a:p>
            <a:pPr marL="342900" indent="-342900" algn="l">
              <a:lnSpc>
                <a:spcPct val="150000"/>
              </a:lnSpc>
              <a:buClr>
                <a:srgbClr val="16A34A"/>
              </a:buClr>
              <a:buSzPct val="125000"/>
              <a:buFont typeface="Wingdings" panose="05000000000000000000" pitchFamily="2" charset="2"/>
              <a:buChar char="ü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Iterar y refinar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0D914-9DEE-34C4-66CD-5B7F64E77A0E}"/>
              </a:ext>
            </a:extLst>
          </p:cNvPr>
          <p:cNvSpPr txBox="1"/>
          <p:nvPr/>
        </p:nvSpPr>
        <p:spPr>
          <a:xfrm>
            <a:off x="6096000" y="1863661"/>
            <a:ext cx="5507738" cy="31872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Clr>
                <a:srgbClr val="EC4899"/>
              </a:buClr>
              <a:buSzPct val="150000"/>
              <a:buFont typeface="Wingdings 2" panose="05020102010507070707" pitchFamily="18" charset="2"/>
              <a:buChar char="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Ser impreciso</a:t>
            </a:r>
          </a:p>
          <a:p>
            <a:pPr marL="342900" indent="-342900">
              <a:lnSpc>
                <a:spcPct val="150000"/>
              </a:lnSpc>
              <a:buClr>
                <a:srgbClr val="EC4899"/>
              </a:buClr>
              <a:buSzPct val="150000"/>
              <a:buFont typeface="Wingdings 2" panose="05020102010507070707" pitchFamily="18" charset="2"/>
              <a:buChar char=""/>
            </a:pP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Usar argot, jerga o lenguaje informal</a:t>
            </a:r>
            <a:endParaRPr lang="es-ES" sz="2000" b="0" i="0" strike="noStrike" cap="none" baseline="0" dirty="0">
              <a:solidFill>
                <a:srgbClr val="1E293B"/>
              </a:solidFill>
              <a:effectLst/>
              <a:latin typeface="Segoe UI"/>
              <a:ea typeface="Segoe UI"/>
              <a:cs typeface="Segoe UI"/>
            </a:endParaRPr>
          </a:p>
          <a:p>
            <a:pPr marL="342900" indent="-342900" algn="l">
              <a:lnSpc>
                <a:spcPct val="150000"/>
              </a:lnSpc>
              <a:buClr>
                <a:srgbClr val="EC4899"/>
              </a:buClr>
              <a:buSzPct val="150000"/>
              <a:buFont typeface="Wingdings 2" panose="05020102010507070707" pitchFamily="18" charset="2"/>
              <a:buChar char="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Solicitar contenido inapropiado o poco ético</a:t>
            </a:r>
          </a:p>
          <a:p>
            <a:pPr marL="342900" indent="-342900" algn="l">
              <a:lnSpc>
                <a:spcPct val="150000"/>
              </a:lnSpc>
              <a:buClr>
                <a:srgbClr val="EC4899"/>
              </a:buClr>
              <a:buSzPct val="150000"/>
              <a:buFont typeface="Wingdings 2" panose="05020102010507070707" pitchFamily="18" charset="2"/>
              <a:buChar char="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Dar instrucciones contradictorias</a:t>
            </a:r>
          </a:p>
          <a:p>
            <a:pPr marL="342900" indent="-342900" algn="l">
              <a:lnSpc>
                <a:spcPct val="150000"/>
              </a:lnSpc>
              <a:buClr>
                <a:srgbClr val="EC4899"/>
              </a:buClr>
              <a:buSzPct val="150000"/>
              <a:buFont typeface="Wingdings 2" panose="05020102010507070707" pitchFamily="18" charset="2"/>
              <a:buChar char=""/>
            </a:pPr>
            <a:r>
              <a:rPr lang="es-ES" sz="2000" b="0" i="0" strike="noStrike" cap="none" baseline="0" dirty="0">
                <a:solidFill>
                  <a:srgbClr val="1E293B"/>
                </a:solidFill>
                <a:effectLst/>
                <a:latin typeface="Segoe UI"/>
                <a:ea typeface="Segoe UI"/>
                <a:cs typeface="Segoe UI"/>
              </a:rPr>
              <a:t> Interrumpir o cambiar de tema abruptamente</a:t>
            </a:r>
          </a:p>
          <a:p>
            <a:pPr marL="342900" indent="-342900" algn="l">
              <a:lnSpc>
                <a:spcPct val="150000"/>
              </a:lnSpc>
              <a:buClr>
                <a:srgbClr val="EC4899"/>
              </a:buClr>
              <a:buSzPct val="150000"/>
              <a:buFont typeface="Wingdings 2" panose="05020102010507070707" pitchFamily="18" charset="2"/>
              <a:buChar char=""/>
            </a:pPr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EE0F09-3F67-7303-8F20-2796F6DB8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5277393" y="1863661"/>
            <a:ext cx="0" cy="4097660"/>
          </a:xfrm>
          <a:prstGeom prst="line">
            <a:avLst/>
          </a:prstGeom>
          <a:ln w="38100">
            <a:headEnd type="none" w="lg" len="med"/>
            <a:tailEnd type="none" w="lg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Image 0" descr="Imagen ilustrativa relacionada con Creación de prompts efectivos">
            <a:extLst>
              <a:ext uri="{FF2B5EF4-FFF2-40B4-BE49-F238E27FC236}">
                <a16:creationId xmlns:a16="http://schemas.microsoft.com/office/drawing/2014/main" id="{2B30F533-5CE5-55A0-415A-CE8179CBD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63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mparison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67707"/>
              </p:ext>
            </p:extLst>
          </p:nvPr>
        </p:nvGraphicFramePr>
        <p:xfrm>
          <a:off x="975360" y="1584960"/>
          <a:ext cx="1024128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s-ES" sz="1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Aspecto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Superprompts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Chain </a:t>
                      </a:r>
                      <a:r>
                        <a:rPr lang="es-ES" sz="2000" b="1" dirty="0" err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of</a:t>
                      </a:r>
                      <a:r>
                        <a:rPr lang="es-ES" sz="20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lang="es-ES" sz="2000" b="1" dirty="0" err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Thought</a:t>
                      </a:r>
                      <a:endParaRPr lang="es-ES" sz="2000" b="1" dirty="0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rPr lang="es-ES" sz="1733" b="1">
                          <a:solidFill>
                            <a:srgbClr val="1E293B"/>
                          </a:solidFill>
                          <a:latin typeface="Segoe UI Semibold"/>
                          <a:cs typeface="Segoe UI Semibold"/>
                        </a:rPr>
                        <a:t>Enfoque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Instrucciones densas en un solo mensaje.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Razonamiento explícito paso a paso.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rPr lang="es-ES" sz="1733" b="1">
                          <a:solidFill>
                            <a:srgbClr val="1E293B"/>
                          </a:solidFill>
                          <a:latin typeface="Segoe UI Semibold"/>
                          <a:cs typeface="Segoe UI Semibold"/>
                        </a:rPr>
                        <a:t>Objetivo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Maximizar precisión del resultado final.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Mejorar la calidad del razonamiento.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rPr lang="es-ES" sz="1733" b="1">
                          <a:solidFill>
                            <a:srgbClr val="1E293B"/>
                          </a:solidFill>
                          <a:latin typeface="Segoe UI Semibold"/>
                          <a:cs typeface="Segoe UI Semibold"/>
                        </a:rPr>
                        <a:t>Ideal para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Creación de contenido y tareas estructuradas.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Lógica, matemáticas y toma de decisiones.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rPr lang="es-ES" sz="1733" b="1">
                          <a:solidFill>
                            <a:srgbClr val="1E293B"/>
                          </a:solidFill>
                          <a:latin typeface="Segoe UI Semibold"/>
                          <a:cs typeface="Segoe UI Semibold"/>
                        </a:rPr>
                        <a:t>Ventaja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Respuesta completa al primer intento.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rgbClr val="334155"/>
                          </a:solidFill>
                          <a:latin typeface="Segoe UI"/>
                          <a:cs typeface="Segoe UI"/>
                        </a:rPr>
                        <a:t>Respuestas más fiables y auditables.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Image 0" descr="Imagen ilustrativa relacionada con Superprompts vs. Chain of Thoughts">
            <a:extLst>
              <a:ext uri="{FF2B5EF4-FFF2-40B4-BE49-F238E27FC236}">
                <a16:creationId xmlns:a16="http://schemas.microsoft.com/office/drawing/2014/main" id="{3F67F1D3-B21C-9AD0-EA8A-E1A790617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0FA534A-E8C7-BBFC-9D48-52C5610E83C9}"/>
              </a:ext>
            </a:extLst>
          </p:cNvPr>
          <p:cNvSpPr txBox="1">
            <a:spLocks/>
          </p:cNvSpPr>
          <p:nvPr/>
        </p:nvSpPr>
        <p:spPr>
          <a:xfrm>
            <a:off x="588262" y="585216"/>
            <a:ext cx="8193024" cy="55399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err="1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Superprompts</a:t>
            </a:r>
            <a:r>
              <a:rPr lang="es-ES" sz="3600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 vs. Chain </a:t>
            </a:r>
            <a:r>
              <a:rPr lang="es-ES" sz="3600" dirty="0" err="1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of</a:t>
            </a:r>
            <a:r>
              <a:rPr lang="es-ES" sz="3600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 </a:t>
            </a:r>
            <a:r>
              <a:rPr lang="es-ES" sz="3600" dirty="0" err="1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Thought</a:t>
            </a:r>
            <a:endParaRPr lang="en-US" sz="3600" dirty="0"/>
          </a:p>
        </p:txBody>
      </p:sp>
      <p:sp>
        <p:nvSpPr>
          <p:cNvPr id="99" name="Footer"/>
          <p:cNvSpPr txBox="1"/>
          <p:nvPr/>
        </p:nvSpPr>
        <p:spPr>
          <a:xfrm>
            <a:off x="588262" y="6096000"/>
            <a:ext cx="110154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s-ES" sz="1200" i="1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Existen más técnicas de prompting: Few-shot, Zero-shot, Role Prompting, Self-Consistency, Tree of Thoughts, ReAct, entre otras.</a:t>
            </a:r>
          </a:p>
        </p:txBody>
      </p:sp>
    </p:spTree>
    <p:extLst>
      <p:ext uri="{BB962C8B-B14F-4D97-AF65-F5344CB8AC3E}">
        <p14:creationId xmlns:p14="http://schemas.microsoft.com/office/powerpoint/2010/main" val="4244394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685800" y="2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0"/>
              </a:spcAft>
              <a:buNone/>
            </a:pPr>
            <a:r>
              <a:rPr lang="es-E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La técnica del </a:t>
            </a:r>
            <a:r>
              <a:rPr lang="es-ES" sz="32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Superprompt</a:t>
            </a:r>
            <a:endParaRPr lang="es-E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Subtitle"/>
          <p:cNvSpPr txBox="1"/>
          <p:nvPr/>
        </p:nvSpPr>
        <p:spPr>
          <a:xfrm>
            <a:off x="685800" y="770000"/>
            <a:ext cx="108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0"/>
              </a:spcAft>
              <a:buNone/>
            </a:pP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Una instrucción densa que integra rol, contexto, tarea, formato y restricciones.</a:t>
            </a:r>
          </a:p>
        </p:txBody>
      </p:sp>
      <p:sp>
        <p:nvSpPr>
          <p:cNvPr id="20" name="DefinitionBox"/>
          <p:cNvSpPr txBox="1"/>
          <p:nvPr/>
        </p:nvSpPr>
        <p:spPr>
          <a:xfrm>
            <a:off x="457200" y="1350000"/>
            <a:ext cx="5180000" cy="4010349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800"/>
              </a:spcAft>
              <a:buNone/>
            </a:pPr>
            <a:r>
              <a:rPr lang="es-ES" sz="2200" b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¿En qué consiste?</a:t>
            </a:r>
          </a:p>
          <a:p>
            <a:pPr marL="285750" indent="-285750">
              <a:spcAft>
                <a:spcPts val="600"/>
              </a:spcAft>
              <a:buClr>
                <a:srgbClr val="7C3AED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Indicación extensa que reúne en un </a:t>
            </a:r>
            <a:r>
              <a:rPr lang="es-ES" sz="1600" b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único mensaje</a:t>
            </a:r>
            <a:r>
              <a:rPr lang="es-ES" sz="16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todo lo necesario para resolver la tarea con precisión.</a:t>
            </a:r>
          </a:p>
          <a:p>
            <a:pPr marL="285750" indent="-285750">
              <a:spcAft>
                <a:spcPts val="600"/>
              </a:spcAft>
              <a:buClr>
                <a:srgbClr val="7C3AED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Anticipa los </a:t>
            </a:r>
            <a:r>
              <a:rPr lang="es-ES" sz="1600" b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componentes clave</a:t>
            </a: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rol, contexto, resultado esperado, estructura y restricciones.</a:t>
            </a:r>
          </a:p>
          <a:p>
            <a:pPr marL="285750" indent="-285750">
              <a:spcAft>
                <a:spcPts val="0"/>
              </a:spcAft>
              <a:buClr>
                <a:srgbClr val="7C3AED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Objetivo: </a:t>
            </a:r>
            <a:r>
              <a:rPr lang="es-ES" sz="1600" b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respuesta útil a la primera</a:t>
            </a: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con menos iteraciones y menos ambigüedad.</a:t>
            </a:r>
          </a:p>
        </p:txBody>
      </p:sp>
      <p:sp>
        <p:nvSpPr>
          <p:cNvPr id="30" name="ExampleCard"/>
          <p:cNvSpPr/>
          <p:nvPr/>
        </p:nvSpPr>
        <p:spPr>
          <a:xfrm>
            <a:off x="5943600" y="1350000"/>
            <a:ext cx="5791200" cy="52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endParaRPr lang="es-ES"/>
          </a:p>
        </p:txBody>
      </p:sp>
      <p:sp>
        <p:nvSpPr>
          <p:cNvPr id="31" name="ExampleBox"/>
          <p:cNvSpPr txBox="1"/>
          <p:nvPr/>
        </p:nvSpPr>
        <p:spPr>
          <a:xfrm>
            <a:off x="5943600" y="1350000"/>
            <a:ext cx="5791200" cy="52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spcAft>
                <a:spcPts val="400"/>
              </a:spcAft>
              <a:buNone/>
            </a:pPr>
            <a:r>
              <a:rPr lang="es-ES" sz="22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Ejemplo</a:t>
            </a:r>
          </a:p>
          <a:p>
            <a:pPr>
              <a:spcAft>
                <a:spcPts val="600"/>
              </a:spcAft>
              <a:buNone/>
            </a:pPr>
            <a:r>
              <a:rPr lang="es-ES" sz="13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Caso: nota interna sobre los resultados de una empresa SaaS.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Actúa como analista financiero senior especializado en compañías tecnológicas cotizadas.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Contexto.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Formo parte de una gestora de fondos y preparo una nota interna para el equipo de inversión sobre el último trimestre de una empresa SaaS europea.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Tarea.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Resume el informe adjunto y señala los riesgos y las oportunidades más relevantes para los próximos doce meses.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Formato.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Devuelve la respuesta en tres bloques: resumen ejecutivo en cinco viñetas, tres riesgos con su explicación breve y tres oportunidades con su impacto estimado.</a:t>
            </a:r>
          </a:p>
          <a:p>
            <a:pPr>
              <a:spcAft>
                <a:spcPts val="0"/>
              </a:spcAft>
              <a:buNone/>
            </a:pPr>
            <a:r>
              <a:rPr lang="es-ES" sz="1500" b="1" i="1" dirty="0">
                <a:solidFill>
                  <a:srgbClr val="7C3AE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Restricciones.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Lenguaje técnico pero claro, máximo 300 palabras, sin recomendaciones de inversión y citando los datos numéricos exactos del informe.</a:t>
            </a:r>
          </a:p>
        </p:txBody>
      </p:sp>
      <p:sp>
        <p:nvSpPr>
          <p:cNvPr id="40" name="FooterAccent"/>
          <p:cNvSpPr/>
          <p:nvPr/>
        </p:nvSpPr>
        <p:spPr>
          <a:xfrm>
            <a:off x="457200" y="6650000"/>
            <a:ext cx="11277600" cy="3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anchor="t"/>
          <a:lstStyle/>
          <a:p>
            <a:endParaRPr lang="es-ES"/>
          </a:p>
        </p:txBody>
      </p:sp>
      <p:sp>
        <p:nvSpPr>
          <p:cNvPr id="41" name="Footer"/>
          <p:cNvSpPr txBox="1"/>
          <p:nvPr/>
        </p:nvSpPr>
        <p:spPr>
          <a:xfrm>
            <a:off x="457200" y="6700000"/>
            <a:ext cx="11277600" cy="13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0"/>
              </a:spcAft>
              <a:buNone/>
            </a:pPr>
            <a:r>
              <a:rPr lang="es-ES" sz="11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Estructura RCTF + restricciones · un único mensaje · respuesta más precisa a la primera</a:t>
            </a:r>
          </a:p>
        </p:txBody>
      </p:sp>
      <p:pic>
        <p:nvPicPr>
          <p:cNvPr id="2" name="Image 0" descr="Imagen ilustrativa relacionada con Creación de prompts efectivos">
            <a:extLst>
              <a:ext uri="{FF2B5EF4-FFF2-40B4-BE49-F238E27FC236}">
                <a16:creationId xmlns:a16="http://schemas.microsoft.com/office/drawing/2014/main" id="{F9A4EB05-B878-9C2B-C3C3-92D51E5EF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685800" y="2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0"/>
              </a:spcAft>
              <a:buNone/>
            </a:pPr>
            <a:r>
              <a:rPr lang="es-E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La técnica del Chain </a:t>
            </a:r>
            <a:r>
              <a:rPr lang="es-ES" sz="32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of</a:t>
            </a:r>
            <a:r>
              <a:rPr lang="es-E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s-ES" sz="32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Thought</a:t>
            </a:r>
            <a:endParaRPr lang="es-E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Subtitle"/>
          <p:cNvSpPr txBox="1"/>
          <p:nvPr/>
        </p:nvSpPr>
        <p:spPr>
          <a:xfrm>
            <a:off x="685800" y="770000"/>
            <a:ext cx="108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0"/>
              </a:spcAft>
              <a:buNone/>
            </a:pP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Pedir al modelo que razone paso a paso antes de ofrecer la respuesta final.</a:t>
            </a:r>
          </a:p>
        </p:txBody>
      </p:sp>
      <p:sp>
        <p:nvSpPr>
          <p:cNvPr id="20" name="DefinitionBox"/>
          <p:cNvSpPr txBox="1"/>
          <p:nvPr/>
        </p:nvSpPr>
        <p:spPr>
          <a:xfrm>
            <a:off x="457200" y="1350000"/>
            <a:ext cx="5180000" cy="418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800"/>
              </a:spcAft>
              <a:buNone/>
            </a:pPr>
            <a:r>
              <a:rPr lang="es-ES" sz="2200" b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¿En qué consiste?</a:t>
            </a:r>
          </a:p>
          <a:p>
            <a:pPr marL="285750" indent="-285750">
              <a:spcAft>
                <a:spcPts val="600"/>
              </a:spcAft>
              <a:buClr>
                <a:srgbClr val="16A34A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 modelo despliega su </a:t>
            </a:r>
            <a:r>
              <a:rPr lang="es-ES" sz="1600" b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razonamiento paso a paso</a:t>
            </a:r>
            <a:r>
              <a:rPr lang="es-ES" sz="16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antes de la respuesta definitiva.</a:t>
            </a:r>
          </a:p>
          <a:p>
            <a:pPr marL="285750" indent="-285750">
              <a:spcAft>
                <a:spcPts val="600"/>
              </a:spcAft>
              <a:buClr>
                <a:srgbClr val="16A34A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Verbaliza etapas, expone supuestos y </a:t>
            </a:r>
            <a:r>
              <a:rPr lang="es-ES" sz="1600" b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reduce errores</a:t>
            </a: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 aritmética, lógica, planificación y decisiones multicriterio.</a:t>
            </a:r>
          </a:p>
          <a:p>
            <a:pPr marL="285750" indent="-285750">
              <a:spcAft>
                <a:spcPts val="0"/>
              </a:spcAft>
              <a:buClr>
                <a:srgbClr val="16A34A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 activa con </a:t>
            </a:r>
            <a:r>
              <a:rPr lang="es-ES" sz="1600" b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instrucciones explícitas</a:t>
            </a:r>
            <a:r>
              <a:rPr lang="es-ES" sz="1600" dirty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«razona paso a paso», «explica tu lógica» o «detalla cada cálculo intermedio».</a:t>
            </a:r>
          </a:p>
        </p:txBody>
      </p:sp>
      <p:sp>
        <p:nvSpPr>
          <p:cNvPr id="30" name="ExampleCard"/>
          <p:cNvSpPr/>
          <p:nvPr/>
        </p:nvSpPr>
        <p:spPr>
          <a:xfrm>
            <a:off x="5943600" y="1350000"/>
            <a:ext cx="5791200" cy="52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endParaRPr lang="es-ES"/>
          </a:p>
        </p:txBody>
      </p:sp>
      <p:sp>
        <p:nvSpPr>
          <p:cNvPr id="31" name="ExampleBox"/>
          <p:cNvSpPr txBox="1"/>
          <p:nvPr/>
        </p:nvSpPr>
        <p:spPr>
          <a:xfrm>
            <a:off x="5943600" y="1350000"/>
            <a:ext cx="5791200" cy="52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spcAft>
                <a:spcPts val="400"/>
              </a:spcAft>
              <a:buNone/>
            </a:pPr>
            <a:r>
              <a:rPr lang="es-ES" sz="22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Ejemplo</a:t>
            </a:r>
          </a:p>
          <a:p>
            <a:pPr>
              <a:spcAft>
                <a:spcPts val="600"/>
              </a:spcAft>
              <a:buNone/>
            </a:pPr>
            <a:r>
              <a:rPr lang="es-ES" sz="13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Caso: dimensionar el equipo logístico para una campaña de envíos.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Problema.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Una tienda recibe 4.800 pedidos en 6 días. Cada operario procesa 60 pedidos por turno de 8 horas y trabaja como máximo 5 turnos por semana. ¿Cuántos operarios hacen falta para cumplir el plazo?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Instrucción.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Razona paso a paso antes de dar la cifra final: identifica los datos relevantes, calcula los pedidos diarios, la capacidad por operario y por semana, y compara los totales.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Razonamiento.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Muestra cada operación intermedia (suma, división, redondeo) y explica brevemente por qué se aplica antes de avanzar a la siguiente.</a:t>
            </a:r>
          </a:p>
          <a:p>
            <a:pPr>
              <a:spcAft>
                <a:spcPts val="400"/>
              </a:spcAft>
              <a:buNone/>
            </a:pPr>
            <a:r>
              <a:rPr lang="es-ES" sz="1500" b="1" i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Respuesta.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Tras el razonamiento, indica en una línea aparte el número entero de operarios necesarios para cubrir la campaña.</a:t>
            </a:r>
          </a:p>
          <a:p>
            <a:pPr>
              <a:spcAft>
                <a:spcPts val="0"/>
              </a:spcAft>
              <a:buNone/>
            </a:pPr>
            <a:r>
              <a:rPr lang="es-ES" sz="1500" b="1" i="1" dirty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Verificación. </a:t>
            </a:r>
            <a:r>
              <a:rPr lang="es-ES" sz="15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Comprueba el resultado multiplicando hacia atrás (operarios × turnos × capacidad) y confirma que cubre o supera los 4.800 pedidos.</a:t>
            </a:r>
          </a:p>
        </p:txBody>
      </p:sp>
      <p:sp>
        <p:nvSpPr>
          <p:cNvPr id="40" name="FooterAccent"/>
          <p:cNvSpPr/>
          <p:nvPr/>
        </p:nvSpPr>
        <p:spPr>
          <a:xfrm>
            <a:off x="457200" y="6650000"/>
            <a:ext cx="11277600" cy="3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t"/>
          <a:lstStyle/>
          <a:p>
            <a:endParaRPr lang="es-ES"/>
          </a:p>
        </p:txBody>
      </p:sp>
      <p:sp>
        <p:nvSpPr>
          <p:cNvPr id="41" name="Footer"/>
          <p:cNvSpPr txBox="1"/>
          <p:nvPr/>
        </p:nvSpPr>
        <p:spPr>
          <a:xfrm>
            <a:off x="457200" y="6700000"/>
            <a:ext cx="11277600" cy="13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ctr"/>
          <a:lstStyle/>
          <a:p>
            <a:pPr>
              <a:spcAft>
                <a:spcPts val="0"/>
              </a:spcAft>
              <a:buNone/>
            </a:pPr>
            <a:r>
              <a:rPr lang="es-ES" sz="11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Razonamiento paso a paso · menos errores en tareas complejas · respuesta verificable</a:t>
            </a:r>
          </a:p>
        </p:txBody>
      </p:sp>
      <p:pic>
        <p:nvPicPr>
          <p:cNvPr id="2" name="Image 0" descr="Imagen ilustrativa relacionada con Creación de prompts efectivos">
            <a:extLst>
              <a:ext uri="{FF2B5EF4-FFF2-40B4-BE49-F238E27FC236}">
                <a16:creationId xmlns:a16="http://schemas.microsoft.com/office/drawing/2014/main" id="{CF4BF73D-6560-BAB5-2707-C64E6FF20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C34DD-B926-3A6F-456E-6DD8AACC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ilustrativa relacionada con Laboratorio: Creación de prompts efectivos con el marco RCTF">
            <a:extLst>
              <a:ext uri="{FF2B5EF4-FFF2-40B4-BE49-F238E27FC236}">
                <a16:creationId xmlns:a16="http://schemas.microsoft.com/office/drawing/2014/main" id="{AD0BCD12-EBBD-6D21-6F97-44E5C8F62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670560"/>
            <a:ext cx="548640" cy="5486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D824FCE-61F1-2836-B8AB-41956DDB76C0}"/>
              </a:ext>
            </a:extLst>
          </p:cNvPr>
          <p:cNvSpPr/>
          <p:nvPr/>
        </p:nvSpPr>
        <p:spPr>
          <a:xfrm>
            <a:off x="1767840" y="6096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Laboratorio: Creación de </a:t>
            </a:r>
            <a:r>
              <a:rPr lang="es-ES" sz="3200" b="1" i="1" dirty="0" err="1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prompts</a:t>
            </a:r>
            <a:r>
              <a:rPr lang="es-E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efectivos con el marco RCTF</a:t>
            </a:r>
            <a:endParaRPr lang="en-U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4FBE873-0321-7B28-3892-3CA75B8F8DA2}"/>
              </a:ext>
            </a:extLst>
          </p:cNvPr>
          <p:cNvSpPr/>
          <p:nvPr/>
        </p:nvSpPr>
        <p:spPr>
          <a:xfrm>
            <a:off x="975360" y="1584960"/>
            <a:ext cx="10241280" cy="4632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F765C8-D969-6170-E435-ED668667E149}"/>
              </a:ext>
            </a:extLst>
          </p:cNvPr>
          <p:cNvSpPr/>
          <p:nvPr/>
        </p:nvSpPr>
        <p:spPr>
          <a:xfrm>
            <a:off x="1463040" y="1950720"/>
            <a:ext cx="97536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La calidad de las respuestas de una IA generativa depende directamente de la calidad de las instrucciones que recibe. Un </a:t>
            </a:r>
            <a:r>
              <a:rPr lang="es-ES" sz="20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prompt</a:t>
            </a: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vago produce resultados genéricos; un </a:t>
            </a:r>
            <a:r>
              <a:rPr lang="es-ES" sz="20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prompt</a:t>
            </a: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estructurado produce resultados utilizables.</a:t>
            </a: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</a:rPr>
              <a:t>Tiempo estimado: </a:t>
            </a: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30 minutos</a:t>
            </a:r>
          </a:p>
          <a:p>
            <a:pPr>
              <a:spcAft>
                <a:spcPts val="1600"/>
              </a:spcAft>
            </a:pPr>
            <a:endParaRPr lang="es-ES" sz="2000" dirty="0">
              <a:solidFill>
                <a:srgbClr val="334155"/>
              </a:solidFill>
              <a:latin typeface="Segoe UI Semibold" panose="020B0702040204020203" pitchFamily="34" charset="0"/>
              <a:ea typeface="Segoe UI" pitchFamily="34" charset="-122"/>
              <a:cs typeface="Segoe UI Semibold" panose="020B0702040204020203" pitchFamily="34" charset="0"/>
            </a:endParaRP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Sigue el ejercicio en:</a:t>
            </a: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  <a:hlinkClick r:id="rId5"/>
              </a:rPr>
              <a:t>Creación de </a:t>
            </a:r>
            <a:r>
              <a:rPr lang="es-ES" sz="2000" dirty="0" err="1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  <a:hlinkClick r:id="rId5"/>
              </a:rPr>
              <a:t>prompts</a:t>
            </a: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  <a:hlinkClick r:id="rId5"/>
              </a:rPr>
              <a:t> efectivos con el marco RCTF</a:t>
            </a: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</a:rPr>
              <a:t> </a:t>
            </a:r>
            <a:endParaRPr lang="es-ES" sz="2000" dirty="0">
              <a:solidFill>
                <a:srgbClr val="334155"/>
              </a:solidFill>
              <a:latin typeface="Segoe UI" panose="020B0502040204020203" pitchFamily="34" charset="0"/>
              <a:ea typeface="Segoe UI" pitchFamily="34" charset="-122"/>
              <a:cs typeface="Segoe UI" panose="020B0502040204020203" pitchFamily="34" charset="0"/>
            </a:endParaRPr>
          </a:p>
        </p:txBody>
      </p:sp>
      <p:pic>
        <p:nvPicPr>
          <p:cNvPr id="6" name="Image 0" descr="Imagen ilustrativa relacionada con Laboratorio: Creación de prompts efectivos con el marco RCTF">
            <a:extLst>
              <a:ext uri="{FF2B5EF4-FFF2-40B4-BE49-F238E27FC236}">
                <a16:creationId xmlns:a16="http://schemas.microsoft.com/office/drawing/2014/main" id="{BF886C7B-47C4-CF69-E8CD-57A92B6FA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617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— El arte del prompting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Un buen prompt determina la calidad de la respuesta: claridad, contexto y formato marcan la diferencia. El marco RCTF y técnicas como Chain of Thought convierten a Copilot en un copiloto realmente productivo.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Qué es un </a:t>
            </a:r>
            <a:r>
              <a:rPr lang="es-ES" sz="1300" dirty="0" err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prompt</a:t>
            </a:r>
            <a:r>
              <a:rPr lang="es-ES" sz="13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y diferencia entre </a:t>
            </a:r>
            <a:r>
              <a:rPr lang="es-ES" sz="1300" dirty="0" err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prompts</a:t>
            </a:r>
            <a:r>
              <a:rPr lang="es-ES" sz="13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de sistema y de usuario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Personalización de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con instrucciones y perfil de trabajo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Historial de conversaciones y mantenimiento del contexto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Marco RCTF para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prompts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efectivos: Rol, Contexto, Tarea y Formato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Buenas prácticas y antipatrones al redactar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prompts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profesionales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Técnicas avanzadas: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Superprompt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y Chain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of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Thought</a:t>
            </a:r>
            <a:endParaRPr lang="es-ES" sz="1300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Learn — Diseño de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prompts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para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learn.microsoft.com/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prompting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Prompt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Gallery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copilot.cloud.microsoft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prompts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— biblioteca oficial de ejemplos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"Chain-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of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-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Thought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Prompting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" (Wei et al., 2022)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arxiv.org/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abs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/2201.11903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9997F-0931-C2D3-7A52-6DB110F8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E3C7175-B9F8-5592-E9D3-F84BE78B7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48BCE0-DEEE-A8DB-CDE2-7D7528760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AF82062-C324-AF14-CF68-A7AE422C1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0940F9F-3D1B-6936-647D-34081FC5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CF8108A-27CB-6B90-7AAD-D7421755A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AC437D0-6A88-D942-53CA-33B27A07B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EA6F6B6-40CF-7DB8-97B1-34778ED85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2230BFD-6753-B640-7F66-417EB6A2E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6EC3E84-B5BC-C55C-1A21-725046218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E6A744E-7343-71E2-76E6-E1EB576D3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6F0349AD-E937-C97C-D572-CD921E7D77F9}"/>
              </a:ext>
            </a:extLst>
          </p:cNvPr>
          <p:cNvSpPr txBox="1">
            <a:spLocks/>
          </p:cNvSpPr>
          <p:nvPr/>
        </p:nvSpPr>
        <p:spPr>
          <a:xfrm>
            <a:off x="3102552" y="224178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Multimodalidad en M365 </a:t>
            </a:r>
            <a:r>
              <a:rPr lang="es-ES" sz="5400" spc="300" dirty="0" err="1">
                <a:solidFill>
                  <a:prstClr val="black"/>
                </a:solidFill>
                <a:latin typeface="Aptos Display" panose="02110004020202020204"/>
              </a:rPr>
              <a:t>Copilot</a:t>
            </a:r>
            <a:endParaRPr kumimoji="0" lang="en-US" sz="5200" b="0" i="0" u="none" strike="noStrike" kern="1200" cap="none" spc="30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6029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Multimodalidad</a:t>
            </a:r>
            <a:r>
              <a:rPr lang="en-US" sz="3467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467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en</a:t>
            </a:r>
            <a:r>
              <a:rPr lang="en-US" sz="3467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IA</a:t>
            </a:r>
            <a:endParaRPr lang="en-US" sz="3467" dirty="0"/>
          </a:p>
        </p:txBody>
      </p:sp>
      <p:sp>
        <p:nvSpPr>
          <p:cNvPr id="200" name="Subtitle"/>
          <p:cNvSpPr/>
          <p:nvPr/>
        </p:nvSpPr>
        <p:spPr>
          <a:xfrm>
            <a:off x="975360" y="1393408"/>
            <a:ext cx="10241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2000" dirty="0">
                <a:latin typeface="Segoe UI" panose="020B0502040204020203" pitchFamily="34" charset="0"/>
                <a:cs typeface="Segoe UI" panose="020B0502040204020203" pitchFamily="34" charset="0"/>
              </a:rPr>
              <a:t>Capacidad de la IA para procesar y generar múltiples tipos de contenido — texto, imágenes, audio y video — de forma conjunta.</a:t>
            </a:r>
          </a:p>
        </p:txBody>
      </p:sp>
      <p:sp>
        <p:nvSpPr>
          <p:cNvPr id="3" name="Shape 1"/>
          <p:cNvSpPr/>
          <p:nvPr/>
        </p:nvSpPr>
        <p:spPr>
          <a:xfrm>
            <a:off x="975360" y="2178208"/>
            <a:ext cx="3169920" cy="3688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4" name="Shape 2"/>
          <p:cNvSpPr/>
          <p:nvPr/>
        </p:nvSpPr>
        <p:spPr>
          <a:xfrm>
            <a:off x="975360" y="2178208"/>
            <a:ext cx="316992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5" name="Image 0" descr="Imagen ilustrativa relacionada con Multimodalidad en 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60492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1120" y="3275488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Texto</a:t>
            </a:r>
            <a:endParaRPr lang="en-US" sz="2133" dirty="0"/>
          </a:p>
        </p:txBody>
      </p:sp>
      <p:sp>
        <p:nvSpPr>
          <p:cNvPr id="7" name="Text 4"/>
          <p:cNvSpPr/>
          <p:nvPr/>
        </p:nvSpPr>
        <p:spPr>
          <a:xfrm>
            <a:off x="1341120" y="3570321"/>
            <a:ext cx="24384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Artículos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emails,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guiones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traducciones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adaptaciones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tono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automáticas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IA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generativa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11040" y="2178208"/>
            <a:ext cx="3169920" cy="3688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9" name="Shape 6"/>
          <p:cNvSpPr/>
          <p:nvPr/>
        </p:nvSpPr>
        <p:spPr>
          <a:xfrm>
            <a:off x="4511040" y="2178208"/>
            <a:ext cx="316992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10" name="Image 1" descr="Imagen ilustrativa relacionada con Multimodalidad en 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60492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76800" y="3275488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Imágenes</a:t>
            </a:r>
            <a:r>
              <a:rPr lang="en-US" sz="2133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y video</a:t>
            </a:r>
            <a:endParaRPr lang="en-US" sz="2133" dirty="0"/>
          </a:p>
        </p:txBody>
      </p:sp>
      <p:sp>
        <p:nvSpPr>
          <p:cNvPr id="12" name="Text 8"/>
          <p:cNvSpPr/>
          <p:nvPr/>
        </p:nvSpPr>
        <p:spPr>
          <a:xfrm>
            <a:off x="4876800" y="3570321"/>
            <a:ext cx="24384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imágenes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Microsoft Designer y Create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Copilot Chat.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Edición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variaciones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automáticas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46720" y="2178208"/>
            <a:ext cx="3169920" cy="3688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4" name="Shape 10"/>
          <p:cNvSpPr/>
          <p:nvPr/>
        </p:nvSpPr>
        <p:spPr>
          <a:xfrm>
            <a:off x="8046720" y="2178208"/>
            <a:ext cx="31699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15" name="Image 2" descr="Imagen ilustrativa relacionada con Multimodalidad en 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60492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275488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Voz y audio</a:t>
            </a:r>
            <a:endParaRPr lang="en-US" sz="2133" dirty="0"/>
          </a:p>
        </p:txBody>
      </p:sp>
      <p:sp>
        <p:nvSpPr>
          <p:cNvPr id="17" name="Text 12"/>
          <p:cNvSpPr/>
          <p:nvPr/>
        </p:nvSpPr>
        <p:spPr>
          <a:xfrm>
            <a:off x="8412480" y="3570321"/>
            <a:ext cx="24384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Transcripción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60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reuniones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audio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sintético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traducción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simultánea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asistentes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6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voz</a:t>
            </a: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pic>
        <p:nvPicPr>
          <p:cNvPr id="18" name="Image 0" descr="Imagen ilustrativa relacionada con Multimodalidad en IA">
            <a:extLst>
              <a:ext uri="{FF2B5EF4-FFF2-40B4-BE49-F238E27FC236}">
                <a16:creationId xmlns:a16="http://schemas.microsoft.com/office/drawing/2014/main" id="{F8B61EA2-7F67-464A-6944-BD18E2628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467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Create en Copilot Chat</a:t>
            </a:r>
            <a:endParaRPr lang="es-ES" sz="3467"/>
          </a:p>
        </p:txBody>
      </p:sp>
      <p:sp>
        <p:nvSpPr>
          <p:cNvPr id="200" name="Subtitle"/>
          <p:cNvSpPr/>
          <p:nvPr/>
        </p:nvSpPr>
        <p:spPr>
          <a:xfrm>
            <a:off x="975360" y="1393408"/>
            <a:ext cx="10241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2000">
                <a:latin typeface="Segoe UI" panose="020B0502040204020203" pitchFamily="34" charset="0"/>
                <a:cs typeface="Segoe UI" panose="020B0502040204020203" pitchFamily="34" charset="0"/>
              </a:rPr>
              <a:t>De la idea al contenido: genera documentos, presentaciones, imágenes y más directamente desde el chat.</a:t>
            </a:r>
          </a:p>
        </p:txBody>
      </p:sp>
      <p:pic>
        <p:nvPicPr>
          <p:cNvPr id="18" name="Top Bar" descr="Imagen relacionada con Create en Copilot C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3" name="Tip Bar BG">
            <a:extLst>
              <a:ext uri="{FF2B5EF4-FFF2-40B4-BE49-F238E27FC236}">
                <a16:creationId xmlns:a16="http://schemas.microsoft.com/office/drawing/2014/main" id="{5819C8F6-E0E4-13E4-A916-D57626A705E8}"/>
              </a:ext>
            </a:extLst>
          </p:cNvPr>
          <p:cNvSpPr/>
          <p:nvPr/>
        </p:nvSpPr>
        <p:spPr>
          <a:xfrm>
            <a:off x="975360" y="6100000"/>
            <a:ext cx="10241280" cy="480000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5B21B6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4" name="Tip Icon">
            <a:extLst>
              <a:ext uri="{FF2B5EF4-FFF2-40B4-BE49-F238E27FC236}">
                <a16:creationId xmlns:a16="http://schemas.microsoft.com/office/drawing/2014/main" id="{DC7F1546-D72B-208C-6D4A-A9DE8611C254}"/>
              </a:ext>
            </a:extLst>
          </p:cNvPr>
          <p:cNvSpPr/>
          <p:nvPr/>
        </p:nvSpPr>
        <p:spPr>
          <a:xfrm>
            <a:off x="1135360" y="6170000"/>
            <a:ext cx="340000" cy="3400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itchFamily="34" charset="0"/>
              </a:rPr>
              <a:t>i</a:t>
            </a:r>
          </a:p>
        </p:txBody>
      </p:sp>
      <p:sp>
        <p:nvSpPr>
          <p:cNvPr id="5" name="Tip Text">
            <a:extLst>
              <a:ext uri="{FF2B5EF4-FFF2-40B4-BE49-F238E27FC236}">
                <a16:creationId xmlns:a16="http://schemas.microsoft.com/office/drawing/2014/main" id="{B8FA3EF2-FC17-D5C8-F61A-6F6E0ADE208A}"/>
              </a:ext>
            </a:extLst>
          </p:cNvPr>
          <p:cNvSpPr/>
          <p:nvPr/>
        </p:nvSpPr>
        <p:spPr>
          <a:xfrm>
            <a:off x="1620000" y="6100000"/>
            <a:ext cx="93966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b="1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Consejo</a:t>
            </a:r>
            <a:r>
              <a:rPr lang="es-ES" sz="1200">
                <a:solidFill>
                  <a:srgbClr val="E8D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—  Sé detallado en tus descripciones: incluye estilo, colores, composición y contexto. Itera generando varias versiones para refinar el resultado.</a:t>
            </a:r>
            <a:endParaRPr lang="es-ES" sz="1200"/>
          </a:p>
        </p:txBody>
      </p:sp>
      <p:pic>
        <p:nvPicPr>
          <p:cNvPr id="7" name="Picture 6" descr="Imagen ilustrativa relacionada con Create en Copilot Chat">
            <a:extLst>
              <a:ext uri="{FF2B5EF4-FFF2-40B4-BE49-F238E27FC236}">
                <a16:creationId xmlns:a16="http://schemas.microsoft.com/office/drawing/2014/main" id="{319A04F1-8C27-43CF-E199-43C54ABA7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168" y="1977488"/>
            <a:ext cx="7894572" cy="37553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opStripe" descr="Franja decorativa superi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762000" y="418934"/>
            <a:ext cx="1066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Cuadernos de </a:t>
            </a:r>
            <a:r>
              <a:rPr lang="es-E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Copilot</a:t>
            </a:r>
            <a:endParaRPr lang="es-ES" sz="3200" b="0" dirty="0">
              <a:solidFill>
                <a:srgbClr val="64748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5" name="DefinitionBand"/>
          <p:cNvSpPr/>
          <p:nvPr/>
        </p:nvSpPr>
        <p:spPr>
          <a:xfrm>
            <a:off x="609600" y="1240000"/>
            <a:ext cx="10972800" cy="9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0" tIns="0" rIns="0" bIns="0"/>
          <a:lstStyle/>
          <a:p>
            <a:endParaRPr lang="es-ES" sz="133"/>
          </a:p>
        </p:txBody>
      </p:sp>
      <p:sp>
        <p:nvSpPr>
          <p:cNvPr id="6" name="DefIcon"/>
          <p:cNvSpPr/>
          <p:nvPr/>
        </p:nvSpPr>
        <p:spPr>
          <a:xfrm>
            <a:off x="853440" y="1462000"/>
            <a:ext cx="456000" cy="456000"/>
          </a:xfrm>
          <a:prstGeom prst="ellipse">
            <a:avLst/>
          </a:prstGeom>
          <a:solidFill>
            <a:srgbClr val="4F46E5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2000">
                <a:latin typeface="Segoe UI Emoji" pitchFamily="34" charset="0"/>
                <a:cs typeface="Segoe UI Emoji" pitchFamily="34" charset="0"/>
              </a:rPr>
              <a:t>📓</a:t>
            </a:r>
          </a:p>
        </p:txBody>
      </p:sp>
      <p:sp>
        <p:nvSpPr>
          <p:cNvPr id="7" name="DefText"/>
          <p:cNvSpPr/>
          <p:nvPr/>
        </p:nvSpPr>
        <p:spPr>
          <a:xfrm>
            <a:off x="1531440" y="1300000"/>
            <a:ext cx="9869760" cy="7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1400" b="1">
                <a:solidFill>
                  <a:srgbClr val="312E81"/>
                </a:solidFill>
                <a:latin typeface="Segoe UI Semibold" pitchFamily="34" charset="0"/>
                <a:cs typeface="Segoe UI Semibold" pitchFamily="34" charset="0"/>
              </a:rPr>
              <a:t>¿Qué son? </a:t>
            </a:r>
            <a:r>
              <a:rPr lang="es-ES" sz="1400">
                <a:solidFill>
                  <a:srgbClr val="334155"/>
                </a:solidFill>
                <a:latin typeface="Segoe UI" pitchFamily="34" charset="0"/>
                <a:cs typeface="Segoe UI" pitchFamily="34" charset="0"/>
              </a:rPr>
              <a:t>Espacios de trabajo con IA donde reúnes los archivos, páginas y fuentes de un proyecto para que Copilot razone solo con ese contenido y te dé respuestas más precisas y contextualizadas.</a:t>
            </a:r>
          </a:p>
        </p:txBody>
      </p:sp>
      <p:sp>
        <p:nvSpPr>
          <p:cNvPr id="10" name="Card1BG"/>
          <p:cNvSpPr/>
          <p:nvPr/>
        </p:nvSpPr>
        <p:spPr>
          <a:xfrm>
            <a:off x="609600" y="2340000"/>
            <a:ext cx="2503200" cy="30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40000" dist="20000" dir="5400000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/>
          <a:lstStyle/>
          <a:p>
            <a:endParaRPr lang="es-ES" sz="133"/>
          </a:p>
        </p:txBody>
      </p:sp>
      <p:sp>
        <p:nvSpPr>
          <p:cNvPr id="11" name="Card1Icon"/>
          <p:cNvSpPr/>
          <p:nvPr/>
        </p:nvSpPr>
        <p:spPr>
          <a:xfrm>
            <a:off x="1581000" y="2580000"/>
            <a:ext cx="560400" cy="560400"/>
          </a:xfrm>
          <a:prstGeom prst="ellipse">
            <a:avLst/>
          </a:prstGeom>
          <a:solidFill>
            <a:srgbClr val="2B579A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2200">
                <a:latin typeface="Segoe UI Emoji" pitchFamily="34" charset="0"/>
                <a:cs typeface="Segoe UI Emoji" pitchFamily="34" charset="0"/>
              </a:rPr>
              <a:t>📁</a:t>
            </a:r>
          </a:p>
        </p:txBody>
      </p:sp>
      <p:sp>
        <p:nvSpPr>
          <p:cNvPr id="12" name="Card1Title"/>
          <p:cNvSpPr/>
          <p:nvPr/>
        </p:nvSpPr>
        <p:spPr>
          <a:xfrm>
            <a:off x="731520" y="3320000"/>
            <a:ext cx="2259360" cy="4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1600" b="1">
                <a:solidFill>
                  <a:srgbClr val="1E293B"/>
                </a:solidFill>
                <a:latin typeface="Segoe UI Semibold" panose="020B0702040204020203" pitchFamily="34" charset="0"/>
              </a:rPr>
              <a:t>Reúne tus fuentes</a:t>
            </a:r>
          </a:p>
        </p:txBody>
      </p:sp>
      <p:sp>
        <p:nvSpPr>
          <p:cNvPr id="13" name="Card1Text"/>
          <p:cNvSpPr/>
          <p:nvPr/>
        </p:nvSpPr>
        <p:spPr>
          <a:xfrm>
            <a:off x="731520" y="3820000"/>
            <a:ext cx="2259360" cy="1440000"/>
          </a:xfrm>
          <a:prstGeom prst="rect">
            <a:avLst/>
          </a:prstGeom>
          <a:noFill/>
          <a:ln/>
        </p:spPr>
        <p:txBody>
          <a:bodyPr wrap="square" lIns="60960" tIns="0" rIns="60960" bIns="0" anchor="t"/>
          <a:lstStyle/>
          <a:p>
            <a:pPr algn="ctr">
              <a:buNone/>
            </a:pPr>
            <a:r>
              <a:rPr lang="es-ES" sz="1333">
                <a:solidFill>
                  <a:srgbClr val="334155"/>
                </a:solidFill>
                <a:latin typeface="Segoe UI" pitchFamily="34" charset="0"/>
              </a:rPr>
              <a:t>Agrupa documentos de Word, Excel y PowerPoint, páginas de Copilot, notas de reuniones y enlaces en un único espacio.</a:t>
            </a:r>
          </a:p>
        </p:txBody>
      </p:sp>
      <p:sp>
        <p:nvSpPr>
          <p:cNvPr id="20" name="Card2BG"/>
          <p:cNvSpPr/>
          <p:nvPr/>
        </p:nvSpPr>
        <p:spPr>
          <a:xfrm>
            <a:off x="3432800" y="2340000"/>
            <a:ext cx="2503200" cy="30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40000" dist="20000" dir="5400000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/>
          <a:lstStyle/>
          <a:p>
            <a:endParaRPr lang="es-ES" sz="133"/>
          </a:p>
        </p:txBody>
      </p:sp>
      <p:sp>
        <p:nvSpPr>
          <p:cNvPr id="21" name="Card2Icon"/>
          <p:cNvSpPr/>
          <p:nvPr/>
        </p:nvSpPr>
        <p:spPr>
          <a:xfrm>
            <a:off x="4404200" y="2580000"/>
            <a:ext cx="560400" cy="560400"/>
          </a:xfrm>
          <a:prstGeom prst="ellipse">
            <a:avLst/>
          </a:prstGeom>
          <a:solidFill>
            <a:srgbClr val="6264A7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2200">
                <a:latin typeface="Segoe UI Emoji" pitchFamily="34" charset="0"/>
                <a:cs typeface="Segoe UI Emoji" pitchFamily="34" charset="0"/>
              </a:rPr>
              <a:t>💬</a:t>
            </a:r>
          </a:p>
        </p:txBody>
      </p:sp>
      <p:sp>
        <p:nvSpPr>
          <p:cNvPr id="22" name="Card2Title"/>
          <p:cNvSpPr/>
          <p:nvPr/>
        </p:nvSpPr>
        <p:spPr>
          <a:xfrm>
            <a:off x="3554720" y="3320000"/>
            <a:ext cx="2259360" cy="4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1600" b="1">
                <a:solidFill>
                  <a:srgbClr val="1E293B"/>
                </a:solidFill>
                <a:latin typeface="Segoe UI Semibold" panose="020B0702040204020203" pitchFamily="34" charset="0"/>
              </a:rPr>
              <a:t>Respuestas con contexto</a:t>
            </a:r>
          </a:p>
        </p:txBody>
      </p:sp>
      <p:sp>
        <p:nvSpPr>
          <p:cNvPr id="23" name="Card2Text"/>
          <p:cNvSpPr/>
          <p:nvPr/>
        </p:nvSpPr>
        <p:spPr>
          <a:xfrm>
            <a:off x="3554720" y="3820000"/>
            <a:ext cx="2259360" cy="1440000"/>
          </a:xfrm>
          <a:prstGeom prst="rect">
            <a:avLst/>
          </a:prstGeom>
          <a:noFill/>
          <a:ln/>
        </p:spPr>
        <p:txBody>
          <a:bodyPr wrap="square" lIns="60960" tIns="0" rIns="60960" bIns="0" anchor="t"/>
          <a:lstStyle/>
          <a:p>
            <a:pPr algn="ctr">
              <a:buNone/>
            </a:pPr>
            <a:r>
              <a:rPr lang="es-ES" sz="1333">
                <a:solidFill>
                  <a:srgbClr val="334155"/>
                </a:solidFill>
                <a:latin typeface="Segoe UI" pitchFamily="34" charset="0"/>
              </a:rPr>
              <a:t>Copilot razona solo con las referencias del cuaderno y las mantiene al día en tiempo real conforme evoluciona el proyecto.</a:t>
            </a:r>
          </a:p>
        </p:txBody>
      </p:sp>
      <p:sp>
        <p:nvSpPr>
          <p:cNvPr id="30" name="Card3BG"/>
          <p:cNvSpPr/>
          <p:nvPr/>
        </p:nvSpPr>
        <p:spPr>
          <a:xfrm>
            <a:off x="6256000" y="2340000"/>
            <a:ext cx="2503200" cy="30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40000" dist="20000" dir="5400000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/>
          <a:lstStyle/>
          <a:p>
            <a:endParaRPr lang="es-ES" sz="133"/>
          </a:p>
        </p:txBody>
      </p:sp>
      <p:sp>
        <p:nvSpPr>
          <p:cNvPr id="31" name="Card3Icon"/>
          <p:cNvSpPr/>
          <p:nvPr/>
        </p:nvSpPr>
        <p:spPr>
          <a:xfrm>
            <a:off x="7227400" y="2580000"/>
            <a:ext cx="560400" cy="560400"/>
          </a:xfrm>
          <a:prstGeom prst="ellipse">
            <a:avLst/>
          </a:prstGeom>
          <a:solidFill>
            <a:srgbClr val="21734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2200">
                <a:latin typeface="Segoe UI Emoji" pitchFamily="34" charset="0"/>
                <a:cs typeface="Segoe UI Emoji" pitchFamily="34" charset="0"/>
              </a:rPr>
              <a:t>🎧</a:t>
            </a:r>
          </a:p>
        </p:txBody>
      </p:sp>
      <p:sp>
        <p:nvSpPr>
          <p:cNvPr id="32" name="Card3Title"/>
          <p:cNvSpPr/>
          <p:nvPr/>
        </p:nvSpPr>
        <p:spPr>
          <a:xfrm>
            <a:off x="6377920" y="3320000"/>
            <a:ext cx="2259360" cy="4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1600" b="1">
                <a:solidFill>
                  <a:srgbClr val="1E293B"/>
                </a:solidFill>
                <a:latin typeface="Segoe UI Semibold" panose="020B0702040204020203" pitchFamily="34" charset="0"/>
              </a:rPr>
              <a:t>Resumen en audio</a:t>
            </a:r>
          </a:p>
        </p:txBody>
      </p:sp>
      <p:sp>
        <p:nvSpPr>
          <p:cNvPr id="33" name="Card3Text"/>
          <p:cNvSpPr/>
          <p:nvPr/>
        </p:nvSpPr>
        <p:spPr>
          <a:xfrm>
            <a:off x="6377920" y="3820000"/>
            <a:ext cx="2259360" cy="1440000"/>
          </a:xfrm>
          <a:prstGeom prst="rect">
            <a:avLst/>
          </a:prstGeom>
          <a:noFill/>
          <a:ln/>
        </p:spPr>
        <p:txBody>
          <a:bodyPr wrap="square" lIns="60960" tIns="0" rIns="60960" bIns="0" anchor="t"/>
          <a:lstStyle/>
          <a:p>
            <a:pPr algn="ctr">
              <a:buNone/>
            </a:pPr>
            <a:r>
              <a:rPr lang="es-ES" sz="1333">
                <a:solidFill>
                  <a:srgbClr val="334155"/>
                </a:solidFill>
                <a:latin typeface="Segoe UI" pitchFamily="34" charset="0"/>
              </a:rPr>
              <a:t>Convierte el contenido del cuaderno en un resumen tipo pódcast para repasar el material allá donde estés.</a:t>
            </a:r>
          </a:p>
        </p:txBody>
      </p:sp>
      <p:sp>
        <p:nvSpPr>
          <p:cNvPr id="40" name="Card4BG"/>
          <p:cNvSpPr/>
          <p:nvPr/>
        </p:nvSpPr>
        <p:spPr>
          <a:xfrm>
            <a:off x="9079200" y="2340000"/>
            <a:ext cx="2503200" cy="30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40000" dist="20000" dir="5400000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/>
          <a:lstStyle/>
          <a:p>
            <a:endParaRPr lang="es-ES" sz="133"/>
          </a:p>
        </p:txBody>
      </p:sp>
      <p:sp>
        <p:nvSpPr>
          <p:cNvPr id="41" name="Card4Icon"/>
          <p:cNvSpPr/>
          <p:nvPr/>
        </p:nvSpPr>
        <p:spPr>
          <a:xfrm>
            <a:off x="10050600" y="2580000"/>
            <a:ext cx="560400" cy="560400"/>
          </a:xfrm>
          <a:prstGeom prst="ellipse">
            <a:avLst/>
          </a:prstGeom>
          <a:solidFill>
            <a:srgbClr val="D2472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2200" dirty="0">
                <a:latin typeface="Segoe UI Emoji" pitchFamily="34" charset="0"/>
                <a:cs typeface="Segoe UI Emoji" pitchFamily="34" charset="0"/>
              </a:rPr>
              <a:t>👥</a:t>
            </a:r>
          </a:p>
        </p:txBody>
      </p:sp>
      <p:sp>
        <p:nvSpPr>
          <p:cNvPr id="42" name="Card4Title"/>
          <p:cNvSpPr/>
          <p:nvPr/>
        </p:nvSpPr>
        <p:spPr>
          <a:xfrm>
            <a:off x="9201120" y="3320000"/>
            <a:ext cx="2259360" cy="4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1600" b="1">
                <a:solidFill>
                  <a:srgbClr val="1E293B"/>
                </a:solidFill>
                <a:latin typeface="Segoe UI Semibold" panose="020B0702040204020203" pitchFamily="34" charset="0"/>
              </a:rPr>
              <a:t>Colabora en equipo</a:t>
            </a:r>
          </a:p>
        </p:txBody>
      </p:sp>
      <p:sp>
        <p:nvSpPr>
          <p:cNvPr id="43" name="Card4Text"/>
          <p:cNvSpPr/>
          <p:nvPr/>
        </p:nvSpPr>
        <p:spPr>
          <a:xfrm>
            <a:off x="9201120" y="3820000"/>
            <a:ext cx="2259360" cy="1440000"/>
          </a:xfrm>
          <a:prstGeom prst="rect">
            <a:avLst/>
          </a:prstGeom>
          <a:noFill/>
          <a:ln/>
        </p:spPr>
        <p:txBody>
          <a:bodyPr wrap="square" lIns="60960" tIns="0" rIns="60960" bIns="0" anchor="t"/>
          <a:lstStyle/>
          <a:p>
            <a:pPr algn="ctr">
              <a:buNone/>
            </a:pPr>
            <a:r>
              <a:rPr lang="es-ES" sz="1333">
                <a:solidFill>
                  <a:srgbClr val="334155"/>
                </a:solidFill>
                <a:latin typeface="Segoe UI" pitchFamily="34" charset="0"/>
              </a:rPr>
              <a:t>Comparte el cuaderno con tu equipo para trabajar juntos, intercambiar conocimiento y crear con Copilot en tiempo real.</a:t>
            </a:r>
          </a:p>
        </p:txBody>
      </p:sp>
      <p:sp>
        <p:nvSpPr>
          <p:cNvPr id="4" name="SecurityNote"/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Segoe UI Semibold"/>
                <a:cs typeface="Segoe UI Semibold"/>
              </a:rPr>
              <a:t>💡 Recuerda: 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algunas funciones avanzadas requieren licencia Microsoft 365 </a:t>
            </a:r>
            <a:r>
              <a:rPr lang="es-ES" sz="1400" dirty="0" err="1">
                <a:solidFill>
                  <a:srgbClr val="92400E"/>
                </a:solidFill>
                <a:latin typeface="Segoe UI"/>
                <a:cs typeface="Segoe UI"/>
              </a:rPr>
              <a:t>Copilot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 y respetan los permisos existentes de cada usuario en Microsoft Graph.</a:t>
            </a:r>
          </a:p>
        </p:txBody>
      </p:sp>
    </p:spTree>
    <p:extLst>
      <p:ext uri="{BB962C8B-B14F-4D97-AF65-F5344CB8AC3E}">
        <p14:creationId xmlns:p14="http://schemas.microsoft.com/office/powerpoint/2010/main" val="426861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467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Configura tus kits de marca en Create</a:t>
            </a:r>
            <a:endParaRPr lang="es-ES" sz="3467"/>
          </a:p>
        </p:txBody>
      </p:sp>
      <p:sp>
        <p:nvSpPr>
          <p:cNvPr id="200" name="Subtitle"/>
          <p:cNvSpPr/>
          <p:nvPr/>
        </p:nvSpPr>
        <p:spPr>
          <a:xfrm>
            <a:off x="975360" y="1393408"/>
            <a:ext cx="10241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2000">
                <a:latin typeface="Segoe UI" panose="020B0502040204020203" pitchFamily="34" charset="0"/>
                <a:cs typeface="Segoe UI" panose="020B0502040204020203" pitchFamily="34" charset="0"/>
              </a:rPr>
              <a:t>Aplica colores, tipografías y logotipos de tu marca a todo lo que generes en Copilot Chat en seis pasos.</a:t>
            </a:r>
          </a:p>
        </p:txBody>
      </p:sp>
      <p:pic>
        <p:nvPicPr>
          <p:cNvPr id="18" name="Top Bar" descr="Imagen relacionada con Configura tus kits de marca en Cre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6" name="SecurityNote">
            <a:extLst>
              <a:ext uri="{FF2B5EF4-FFF2-40B4-BE49-F238E27FC236}">
                <a16:creationId xmlns:a16="http://schemas.microsoft.com/office/drawing/2014/main" id="{A19C4CD7-7DA4-88F6-5311-2E4CCFC96A74}"/>
              </a:ext>
            </a:extLst>
          </p:cNvPr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Segoe UI Semibold"/>
                <a:cs typeface="Segoe UI Semibold"/>
              </a:rPr>
              <a:t>💡 Recuerda: 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esta capacidad requiere licencia Microsoft 365 </a:t>
            </a:r>
            <a:r>
              <a:rPr lang="es-ES" sz="1400" dirty="0" err="1">
                <a:solidFill>
                  <a:srgbClr val="92400E"/>
                </a:solidFill>
                <a:latin typeface="Segoe UI"/>
                <a:cs typeface="Segoe UI"/>
              </a:rPr>
              <a:t>Copilot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 y respeta los permisos existentes de cada usuario en Microsoft Graph.</a:t>
            </a:r>
          </a:p>
        </p:txBody>
      </p:sp>
      <p:pic>
        <p:nvPicPr>
          <p:cNvPr id="4" name="Picture 3" descr="Imagen ilustrativa relacionada con Configura tus kits de marca en Create">
            <a:extLst>
              <a:ext uri="{FF2B5EF4-FFF2-40B4-BE49-F238E27FC236}">
                <a16:creationId xmlns:a16="http://schemas.microsoft.com/office/drawing/2014/main" id="{48E80BAE-F14D-0319-80D4-A6871C91C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180" y="1962220"/>
            <a:ext cx="3916513" cy="30820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Imagen ilustrativa relacionada con Configura tus kits de marca en Create">
            <a:extLst>
              <a:ext uri="{FF2B5EF4-FFF2-40B4-BE49-F238E27FC236}">
                <a16:creationId xmlns:a16="http://schemas.microsoft.com/office/drawing/2014/main" id="{E5BDBF0A-38DE-D801-72C1-9C2EE45A5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364" y="3227208"/>
            <a:ext cx="3526068" cy="2410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1" name="BenefitsList"/>
          <p:cNvSpPr/>
          <p:nvPr/>
        </p:nvSpPr>
        <p:spPr>
          <a:xfrm>
            <a:off x="859613" y="2185847"/>
            <a:ext cx="5500000" cy="35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spcBef>
                <a:spcPts val="0"/>
              </a:spcBef>
              <a:spcAft>
                <a:spcPts val="300"/>
              </a:spcAft>
              <a:buClr>
                <a:srgbClr val="6E2EBF"/>
              </a:buClr>
              <a:buFont typeface="Segoe UI Symbol"/>
              <a:buChar char="✓"/>
            </a:pPr>
            <a:r>
              <a:rPr lang="es-ES" sz="1400" b="1" dirty="0">
                <a:solidFill>
                  <a:srgbClr val="1E293B"/>
                </a:solidFill>
                <a:latin typeface="Segoe UI Semibold"/>
                <a:cs typeface="Segoe UI Semibold"/>
              </a:rPr>
              <a:t>Consistencia de marca garantizada. </a:t>
            </a:r>
            <a:r>
              <a:rPr lang="es-ES" sz="1400" dirty="0">
                <a:solidFill>
                  <a:srgbClr val="334155"/>
                </a:solidFill>
                <a:latin typeface="Segoe UI"/>
                <a:cs typeface="Segoe UI"/>
              </a:rPr>
              <a:t>Colores, tipografías y logotipos se aplican automáticamente a cada documento, imagen o presentación.</a:t>
            </a:r>
          </a:p>
          <a:p>
            <a:pPr marL="285750" indent="-285750">
              <a:spcBef>
                <a:spcPts val="200"/>
              </a:spcBef>
              <a:spcAft>
                <a:spcPts val="300"/>
              </a:spcAft>
              <a:buClr>
                <a:srgbClr val="6E2EBF"/>
              </a:buClr>
              <a:buFont typeface="Segoe UI Symbol"/>
              <a:buChar char="✓"/>
            </a:pPr>
            <a:r>
              <a:rPr lang="es-ES" sz="1400" b="1" dirty="0">
                <a:solidFill>
                  <a:srgbClr val="1E293B"/>
                </a:solidFill>
                <a:latin typeface="Segoe UI Semibold"/>
                <a:cs typeface="Segoe UI Semibold"/>
              </a:rPr>
              <a:t>Ahorro de tiempo y costes de diseño. </a:t>
            </a:r>
            <a:r>
              <a:rPr lang="es-ES" sz="1400" dirty="0">
                <a:solidFill>
                  <a:srgbClr val="334155"/>
                </a:solidFill>
                <a:latin typeface="Segoe UI"/>
                <a:cs typeface="Segoe UI"/>
              </a:rPr>
              <a:t>Reduce ciclos de revisión y acelera la salida al mercado de campañas y materiales internos.</a:t>
            </a:r>
          </a:p>
          <a:p>
            <a:pPr marL="285750" indent="-285750">
              <a:spcBef>
                <a:spcPts val="200"/>
              </a:spcBef>
              <a:spcAft>
                <a:spcPts val="300"/>
              </a:spcAft>
              <a:buClr>
                <a:srgbClr val="6E2EBF"/>
              </a:buClr>
              <a:buFont typeface="Segoe UI Symbol"/>
              <a:buChar char="✓"/>
            </a:pPr>
            <a:r>
              <a:rPr lang="es-ES" sz="1400" b="1" dirty="0">
                <a:solidFill>
                  <a:srgbClr val="1E293B"/>
                </a:solidFill>
                <a:latin typeface="Segoe UI Semibold"/>
                <a:cs typeface="Segoe UI Semibold"/>
              </a:rPr>
              <a:t>Escala a toda la organización. </a:t>
            </a:r>
            <a:r>
              <a:rPr lang="es-ES" sz="1400" dirty="0">
                <a:solidFill>
                  <a:srgbClr val="334155"/>
                </a:solidFill>
                <a:latin typeface="Segoe UI"/>
                <a:cs typeface="Segoe UI"/>
              </a:rPr>
              <a:t>Cada empleado produce contenido alineado a la marca sin depender del equipo creativo.</a:t>
            </a:r>
          </a:p>
          <a:p>
            <a:pPr marL="285750" indent="-285750">
              <a:spcBef>
                <a:spcPts val="200"/>
              </a:spcBef>
              <a:spcAft>
                <a:spcPts val="300"/>
              </a:spcAft>
              <a:buClr>
                <a:srgbClr val="6E2EBF"/>
              </a:buClr>
              <a:buFont typeface="Segoe UI Symbol"/>
              <a:buChar char="✓"/>
            </a:pPr>
            <a:r>
              <a:rPr lang="es-ES" sz="1400" b="1" dirty="0">
                <a:solidFill>
                  <a:srgbClr val="1E293B"/>
                </a:solidFill>
                <a:latin typeface="Segoe UI Semibold"/>
                <a:cs typeface="Segoe UI Semibold"/>
              </a:rPr>
              <a:t>Gobierno centralizado de la identidad visual. </a:t>
            </a:r>
            <a:r>
              <a:rPr lang="es-ES" sz="1400" dirty="0">
                <a:solidFill>
                  <a:srgbClr val="334155"/>
                </a:solidFill>
                <a:latin typeface="Segoe UI"/>
                <a:cs typeface="Segoe UI"/>
              </a:rPr>
              <a:t>Define y actualiza los activos de marca una sola vez para que se reflejen en toda la empresa.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Clr>
                <a:srgbClr val="6E2EBF"/>
              </a:buClr>
              <a:buFont typeface="Segoe UI Symbol"/>
              <a:buChar char="✓"/>
            </a:pPr>
            <a:r>
              <a:rPr lang="es-ES" sz="1400" b="1" dirty="0">
                <a:solidFill>
                  <a:srgbClr val="1E293B"/>
                </a:solidFill>
                <a:latin typeface="Segoe UI Semibold"/>
                <a:cs typeface="Segoe UI Semibold"/>
              </a:rPr>
              <a:t>Comunicación más profesional y confiable. </a:t>
            </a:r>
            <a:r>
              <a:rPr lang="es-ES" sz="1400" dirty="0">
                <a:solidFill>
                  <a:srgbClr val="334155"/>
                </a:solidFill>
                <a:latin typeface="Segoe UI"/>
                <a:cs typeface="Segoe UI"/>
              </a:rPr>
              <a:t>Refuerza la percepción de marca con materiales internos y externos siempre coherentes.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4EE8B-BF6A-E34C-80A4-200B1062E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ilustrativa relacionada con Laboratorio: Crea contenido multimedia con “Create” en Microsoft 365 Copilot Chat">
            <a:extLst>
              <a:ext uri="{FF2B5EF4-FFF2-40B4-BE49-F238E27FC236}">
                <a16:creationId xmlns:a16="http://schemas.microsoft.com/office/drawing/2014/main" id="{3B439AE0-A2A1-6F13-075D-E35DEF9F1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670560"/>
            <a:ext cx="548640" cy="5486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6B8BD6C-FB27-1190-B9B6-E2E8D8D1739D}"/>
              </a:ext>
            </a:extLst>
          </p:cNvPr>
          <p:cNvSpPr/>
          <p:nvPr/>
        </p:nvSpPr>
        <p:spPr>
          <a:xfrm>
            <a:off x="1767840" y="6096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Laboratorio: Crea contenido multimedia con “Create” en Microsoft 365 Copilot Chat  </a:t>
            </a:r>
            <a:endParaRPr lang="es-ES" sz="3200" b="0" i="0" strike="noStrike" cap="none" baseline="0" dirty="0">
              <a:solidFill>
                <a:srgbClr val="1E293B"/>
              </a:solidFill>
              <a:effectLst/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999" name="Content Card"/>
          <p:cNvSpPr/>
          <p:nvPr/>
        </p:nvSpPr>
        <p:spPr>
          <a:xfrm>
            <a:off x="915360" y="1524960"/>
            <a:ext cx="10361280" cy="475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63500" dist="12700" dir="5400000" algn="t" rotWithShape="0">
              <a:srgbClr val="1E293B">
                <a:alpha val="6000"/>
              </a:srgbClr>
            </a:outerShdw>
          </a:effectLst>
        </p:spPr>
        <p:txBody>
          <a:bodyPr wrap="square" rtlCol="0" anchor="ctr"/>
          <a:lstStyle/>
          <a:p>
            <a:endParaRPr lang="es-E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26408FF-F650-498F-D055-B2EA87E478E8}"/>
              </a:ext>
            </a:extLst>
          </p:cNvPr>
          <p:cNvSpPr/>
          <p:nvPr/>
        </p:nvSpPr>
        <p:spPr>
          <a:xfrm>
            <a:off x="975360" y="1584960"/>
            <a:ext cx="10241280" cy="4632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A22EAFA-B696-D460-1BCD-F444A3E9B41E}"/>
              </a:ext>
            </a:extLst>
          </p:cNvPr>
          <p:cNvSpPr/>
          <p:nvPr/>
        </p:nvSpPr>
        <p:spPr>
          <a:xfrm>
            <a:off x="1463040" y="1950720"/>
            <a:ext cx="97536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2000" dirty="0"/>
              <a:t>Imagina que trabajas en una consultora tecnológica y necesitas generar rápidamente contenido visual y narrativo para campañas internas y clientes. Usarás </a:t>
            </a:r>
            <a:r>
              <a:rPr lang="es-ES" sz="2000" b="1" dirty="0" err="1"/>
              <a:t>Create</a:t>
            </a:r>
            <a:r>
              <a:rPr lang="es-ES" sz="2000" dirty="0"/>
              <a:t> para diseñar imágenes, vídeos, historias y materiales visuales listos para usar.</a:t>
            </a:r>
          </a:p>
          <a:p>
            <a:pPr defTabSz="914367">
              <a:spcBef>
                <a:spcPct val="0"/>
              </a:spcBef>
              <a:buSzTx/>
              <a:defRPr/>
            </a:pPr>
            <a:endParaRPr lang="en-US" sz="2000" dirty="0"/>
          </a:p>
          <a:p>
            <a:pPr defTabSz="914367">
              <a:spcBef>
                <a:spcPct val="0"/>
              </a:spcBef>
              <a:defRPr/>
            </a:pPr>
            <a:r>
              <a:rPr lang="es-ES" sz="2000" b="1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Tiempo estimado</a:t>
            </a: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: 30 minutos</a:t>
            </a:r>
          </a:p>
          <a:p>
            <a:pPr defTabSz="914367">
              <a:spcBef>
                <a:spcPct val="0"/>
              </a:spcBef>
              <a:defRPr/>
            </a:pPr>
            <a:endParaRPr lang="es-ES" sz="2000" dirty="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Sigue el ejercicio en:</a:t>
            </a:r>
          </a:p>
          <a:p>
            <a:pPr lvl="0">
              <a:defRPr/>
            </a:pPr>
            <a:r>
              <a:rPr lang="it-IT" sz="2000" dirty="0">
                <a:solidFill>
                  <a:srgbClr val="1E293B"/>
                </a:solidFill>
                <a:latin typeface="Segoe UI"/>
                <a:ea typeface="Segoe UI"/>
                <a:cs typeface="Segoe UI"/>
                <a:hlinkClick r:id="rId5"/>
              </a:rPr>
              <a:t>Crea contenido multimedia con “Create” en Microsoft 365 Copilot Chat</a:t>
            </a:r>
            <a:r>
              <a:rPr lang="es-ES" sz="2000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</a:t>
            </a:r>
            <a:endParaRPr lang="en-US" sz="2000" dirty="0">
              <a:solidFill>
                <a:srgbClr val="1E293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893751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762000" y="418934"/>
            <a:ext cx="9631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Copilot</a:t>
            </a:r>
            <a:r>
              <a:rPr lang="es-E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en aplicaciones de Microsoft 365</a:t>
            </a:r>
          </a:p>
        </p:txBody>
      </p:sp>
      <p:sp>
        <p:nvSpPr>
          <p:cNvPr id="101" name="G1Header"/>
          <p:cNvSpPr/>
          <p:nvPr/>
        </p:nvSpPr>
        <p:spPr>
          <a:xfrm>
            <a:off x="609600" y="1300000"/>
            <a:ext cx="3497600" cy="600000"/>
          </a:xfrm>
          <a:prstGeom prst="roundRect">
            <a:avLst>
              <a:gd name="adj" fmla="val 22000"/>
            </a:avLst>
          </a:prstGeom>
          <a:solidFill>
            <a:srgbClr val="0F6CBD"/>
          </a:solidFill>
          <a:ln>
            <a:noFill/>
          </a:ln>
          <a:effectLst>
            <a:outerShdw blurRad="40000" dist="20000" dir="5400000" rotWithShape="0">
              <a:srgbClr val="000000">
                <a:alpha val="15000"/>
              </a:srgbClr>
            </a:outerShdw>
          </a:effectLst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Asistente lite</a:t>
            </a:r>
          </a:p>
        </p:txBody>
      </p:sp>
      <p:sp>
        <p:nvSpPr>
          <p:cNvPr id="102" name="G1Panel"/>
          <p:cNvSpPr/>
          <p:nvPr/>
        </p:nvSpPr>
        <p:spPr>
          <a:xfrm>
            <a:off x="609600" y="1990000"/>
            <a:ext cx="3497600" cy="37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40000" dist="20000" dir="5400000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/>
          <a:lstStyle/>
          <a:p>
            <a:endParaRPr lang="es-ES" sz="300"/>
          </a:p>
        </p:txBody>
      </p:sp>
      <p:sp>
        <p:nvSpPr>
          <p:cNvPr id="103" name="G1A1Icon"/>
          <p:cNvSpPr/>
          <p:nvPr/>
        </p:nvSpPr>
        <p:spPr>
          <a:xfrm>
            <a:off x="809600" y="2627500"/>
            <a:ext cx="620000" cy="620000"/>
          </a:xfrm>
          <a:prstGeom prst="roundRect">
            <a:avLst>
              <a:gd name="adj" fmla="val 28000"/>
            </a:avLst>
          </a:prstGeom>
          <a:solidFill>
            <a:srgbClr val="0364B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2400" b="1" dirty="0">
                <a:solidFill>
                  <a:srgbClr val="FFFFFF"/>
                </a:solidFill>
                <a:latin typeface="Segoe UI Symbol" pitchFamily="34" charset="0"/>
                <a:cs typeface="Segoe UI Symbol" pitchFamily="34" charset="0"/>
              </a:rPr>
              <a:t>O</a:t>
            </a:r>
          </a:p>
        </p:txBody>
      </p:sp>
      <p:sp>
        <p:nvSpPr>
          <p:cNvPr id="104" name="G1A1Name"/>
          <p:cNvSpPr/>
          <p:nvPr/>
        </p:nvSpPr>
        <p:spPr>
          <a:xfrm>
            <a:off x="1609600" y="2617500"/>
            <a:ext cx="22976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b="1" dirty="0">
                <a:solidFill>
                  <a:srgbClr val="1E293B"/>
                </a:solidFill>
                <a:latin typeface="Segoe UI Semibold" panose="020B0702040204020203" pitchFamily="34" charset="0"/>
              </a:rPr>
              <a:t>OneDrive</a:t>
            </a:r>
          </a:p>
        </p:txBody>
      </p:sp>
      <p:sp>
        <p:nvSpPr>
          <p:cNvPr id="105" name="G1A1Desc"/>
          <p:cNvSpPr/>
          <p:nvPr/>
        </p:nvSpPr>
        <p:spPr>
          <a:xfrm>
            <a:off x="1609600" y="2937500"/>
            <a:ext cx="229760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s-ES" sz="1400">
                <a:solidFill>
                  <a:srgbClr val="475569"/>
                </a:solidFill>
                <a:latin typeface="Segoe UI" pitchFamily="34" charset="0"/>
              </a:rPr>
              <a:t>Pregunta y resume tus archivos sin abrirlos.</a:t>
            </a:r>
          </a:p>
        </p:txBody>
      </p:sp>
      <p:sp>
        <p:nvSpPr>
          <p:cNvPr id="106" name="G1A2Icon"/>
          <p:cNvSpPr/>
          <p:nvPr/>
        </p:nvSpPr>
        <p:spPr>
          <a:xfrm>
            <a:off x="809600" y="4522500"/>
            <a:ext cx="620000" cy="620000"/>
          </a:xfrm>
          <a:prstGeom prst="roundRect">
            <a:avLst>
              <a:gd name="adj" fmla="val 28000"/>
            </a:avLst>
          </a:prstGeom>
          <a:solidFill>
            <a:srgbClr val="03838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28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S</a:t>
            </a:r>
          </a:p>
        </p:txBody>
      </p:sp>
      <p:sp>
        <p:nvSpPr>
          <p:cNvPr id="107" name="G1A2Name"/>
          <p:cNvSpPr/>
          <p:nvPr/>
        </p:nvSpPr>
        <p:spPr>
          <a:xfrm>
            <a:off x="1609600" y="4512500"/>
            <a:ext cx="22976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b="1">
                <a:solidFill>
                  <a:srgbClr val="1E293B"/>
                </a:solidFill>
                <a:latin typeface="Segoe UI Semibold" panose="020B0702040204020203" pitchFamily="34" charset="0"/>
              </a:rPr>
              <a:t>SharePoint</a:t>
            </a:r>
          </a:p>
        </p:txBody>
      </p:sp>
      <p:sp>
        <p:nvSpPr>
          <p:cNvPr id="108" name="G1A2Desc"/>
          <p:cNvSpPr/>
          <p:nvPr/>
        </p:nvSpPr>
        <p:spPr>
          <a:xfrm>
            <a:off x="1609600" y="4832500"/>
            <a:ext cx="229760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s-ES" sz="1400">
                <a:solidFill>
                  <a:srgbClr val="475569"/>
                </a:solidFill>
                <a:latin typeface="Segoe UI" pitchFamily="34" charset="0"/>
              </a:rPr>
              <a:t>Encuentra y resume contenido de tus sitios.</a:t>
            </a:r>
          </a:p>
        </p:txBody>
      </p:sp>
      <p:sp>
        <p:nvSpPr>
          <p:cNvPr id="109" name="G2Header"/>
          <p:cNvSpPr/>
          <p:nvPr/>
        </p:nvSpPr>
        <p:spPr>
          <a:xfrm>
            <a:off x="4347200" y="1300000"/>
            <a:ext cx="3497600" cy="600000"/>
          </a:xfrm>
          <a:prstGeom prst="roundRect">
            <a:avLst>
              <a:gd name="adj" fmla="val 22000"/>
            </a:avLst>
          </a:prstGeom>
          <a:solidFill>
            <a:srgbClr val="7A4FBF"/>
          </a:solidFill>
          <a:ln>
            <a:noFill/>
          </a:ln>
          <a:effectLst>
            <a:outerShdw blurRad="40000" dist="20000" dir="5400000" rotWithShape="0">
              <a:srgbClr val="000000">
                <a:alpha val="15000"/>
              </a:srgbClr>
            </a:outerShdw>
          </a:effectLst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Creación de contenido</a:t>
            </a:r>
          </a:p>
        </p:txBody>
      </p:sp>
      <p:sp>
        <p:nvSpPr>
          <p:cNvPr id="110" name="G2Panel"/>
          <p:cNvSpPr/>
          <p:nvPr/>
        </p:nvSpPr>
        <p:spPr>
          <a:xfrm>
            <a:off x="4347200" y="1990000"/>
            <a:ext cx="3497600" cy="37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40000" dist="20000" dir="5400000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/>
          <a:lstStyle/>
          <a:p>
            <a:endParaRPr lang="es-ES" sz="300"/>
          </a:p>
        </p:txBody>
      </p:sp>
      <p:sp>
        <p:nvSpPr>
          <p:cNvPr id="111" name="G2A1Icon"/>
          <p:cNvSpPr/>
          <p:nvPr/>
        </p:nvSpPr>
        <p:spPr>
          <a:xfrm>
            <a:off x="4547200" y="2311666"/>
            <a:ext cx="620000" cy="620000"/>
          </a:xfrm>
          <a:prstGeom prst="roundRect">
            <a:avLst>
              <a:gd name="adj" fmla="val 28000"/>
            </a:avLst>
          </a:prstGeom>
          <a:solidFill>
            <a:srgbClr val="2B579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2800" b="1">
                <a:solidFill>
                  <a:srgbClr val="FFFFFF"/>
                </a:solidFill>
                <a:latin typeface="Segoe UI Semibold" panose="020B0702040204020203" pitchFamily="34" charset="0"/>
              </a:rPr>
              <a:t>W</a:t>
            </a:r>
          </a:p>
        </p:txBody>
      </p:sp>
      <p:sp>
        <p:nvSpPr>
          <p:cNvPr id="112" name="G2A1Name"/>
          <p:cNvSpPr/>
          <p:nvPr/>
        </p:nvSpPr>
        <p:spPr>
          <a:xfrm>
            <a:off x="5347200" y="2301666"/>
            <a:ext cx="22976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b="1">
                <a:solidFill>
                  <a:srgbClr val="1E293B"/>
                </a:solidFill>
                <a:latin typeface="Segoe UI Semibold" panose="020B0702040204020203" pitchFamily="34" charset="0"/>
              </a:rPr>
              <a:t>Word</a:t>
            </a:r>
          </a:p>
        </p:txBody>
      </p:sp>
      <p:sp>
        <p:nvSpPr>
          <p:cNvPr id="113" name="G2A1Desc"/>
          <p:cNvSpPr/>
          <p:nvPr/>
        </p:nvSpPr>
        <p:spPr>
          <a:xfrm>
            <a:off x="5347200" y="2621666"/>
            <a:ext cx="229760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s-ES" sz="1400">
                <a:solidFill>
                  <a:srgbClr val="475569"/>
                </a:solidFill>
                <a:latin typeface="Segoe UI" pitchFamily="34" charset="0"/>
              </a:rPr>
              <a:t>Redacta, resume y reescribe documentos.</a:t>
            </a:r>
          </a:p>
        </p:txBody>
      </p:sp>
      <p:sp>
        <p:nvSpPr>
          <p:cNvPr id="114" name="G2A2Icon"/>
          <p:cNvSpPr/>
          <p:nvPr/>
        </p:nvSpPr>
        <p:spPr>
          <a:xfrm>
            <a:off x="4547200" y="3574999"/>
            <a:ext cx="620000" cy="620000"/>
          </a:xfrm>
          <a:prstGeom prst="roundRect">
            <a:avLst>
              <a:gd name="adj" fmla="val 28000"/>
            </a:avLst>
          </a:prstGeom>
          <a:solidFill>
            <a:srgbClr val="21734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2800" b="1">
                <a:solidFill>
                  <a:srgbClr val="FFFFFF"/>
                </a:solidFill>
                <a:latin typeface="Segoe UI Semibold" panose="020B0702040204020203" pitchFamily="34" charset="0"/>
              </a:rPr>
              <a:t>X</a:t>
            </a:r>
          </a:p>
        </p:txBody>
      </p:sp>
      <p:sp>
        <p:nvSpPr>
          <p:cNvPr id="115" name="G2A2Name"/>
          <p:cNvSpPr/>
          <p:nvPr/>
        </p:nvSpPr>
        <p:spPr>
          <a:xfrm>
            <a:off x="5347200" y="3564999"/>
            <a:ext cx="22976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b="1">
                <a:solidFill>
                  <a:srgbClr val="1E293B"/>
                </a:solidFill>
                <a:latin typeface="Segoe UI Semibold" panose="020B0702040204020203" pitchFamily="34" charset="0"/>
              </a:rPr>
              <a:t>Excel</a:t>
            </a:r>
          </a:p>
        </p:txBody>
      </p:sp>
      <p:sp>
        <p:nvSpPr>
          <p:cNvPr id="116" name="G2A2Desc"/>
          <p:cNvSpPr/>
          <p:nvPr/>
        </p:nvSpPr>
        <p:spPr>
          <a:xfrm>
            <a:off x="5347200" y="3884999"/>
            <a:ext cx="229760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s-ES" sz="1400">
                <a:solidFill>
                  <a:srgbClr val="475569"/>
                </a:solidFill>
                <a:latin typeface="Segoe UI" pitchFamily="34" charset="0"/>
              </a:rPr>
              <a:t>Analiza datos y crea fórmulas y gráficos.</a:t>
            </a:r>
          </a:p>
        </p:txBody>
      </p:sp>
      <p:sp>
        <p:nvSpPr>
          <p:cNvPr id="117" name="G2A3Icon"/>
          <p:cNvSpPr/>
          <p:nvPr/>
        </p:nvSpPr>
        <p:spPr>
          <a:xfrm>
            <a:off x="4547200" y="4838332"/>
            <a:ext cx="620000" cy="620000"/>
          </a:xfrm>
          <a:prstGeom prst="roundRect">
            <a:avLst>
              <a:gd name="adj" fmla="val 28000"/>
            </a:avLst>
          </a:prstGeom>
          <a:solidFill>
            <a:srgbClr val="D2472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2800" b="1">
                <a:solidFill>
                  <a:srgbClr val="FFFFFF"/>
                </a:solidFill>
                <a:latin typeface="Segoe UI Semibold" panose="020B0702040204020203" pitchFamily="34" charset="0"/>
              </a:rPr>
              <a:t>P</a:t>
            </a:r>
          </a:p>
        </p:txBody>
      </p:sp>
      <p:sp>
        <p:nvSpPr>
          <p:cNvPr id="118" name="G2A3Name"/>
          <p:cNvSpPr/>
          <p:nvPr/>
        </p:nvSpPr>
        <p:spPr>
          <a:xfrm>
            <a:off x="5347200" y="4828332"/>
            <a:ext cx="22976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b="1">
                <a:solidFill>
                  <a:srgbClr val="1E293B"/>
                </a:solidFill>
                <a:latin typeface="Segoe UI Semibold" panose="020B0702040204020203" pitchFamily="34" charset="0"/>
              </a:rPr>
              <a:t>PowerPoint</a:t>
            </a:r>
          </a:p>
        </p:txBody>
      </p:sp>
      <p:sp>
        <p:nvSpPr>
          <p:cNvPr id="119" name="G2A3Desc"/>
          <p:cNvSpPr/>
          <p:nvPr/>
        </p:nvSpPr>
        <p:spPr>
          <a:xfrm>
            <a:off x="5347200" y="5148332"/>
            <a:ext cx="229760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s-ES" sz="1400">
                <a:solidFill>
                  <a:srgbClr val="475569"/>
                </a:solidFill>
                <a:latin typeface="Segoe UI" pitchFamily="34" charset="0"/>
              </a:rPr>
              <a:t>Genera presentaciones desde un documento.</a:t>
            </a:r>
          </a:p>
        </p:txBody>
      </p:sp>
      <p:sp>
        <p:nvSpPr>
          <p:cNvPr id="120" name="G3Header"/>
          <p:cNvSpPr/>
          <p:nvPr/>
        </p:nvSpPr>
        <p:spPr>
          <a:xfrm>
            <a:off x="8084800" y="1300000"/>
            <a:ext cx="3497600" cy="600000"/>
          </a:xfrm>
          <a:prstGeom prst="roundRect">
            <a:avLst>
              <a:gd name="adj" fmla="val 22000"/>
            </a:avLst>
          </a:prstGeom>
          <a:solidFill>
            <a:srgbClr val="0E7490"/>
          </a:solidFill>
          <a:ln>
            <a:noFill/>
          </a:ln>
          <a:effectLst>
            <a:outerShdw blurRad="40000" dist="20000" dir="5400000" rotWithShape="0">
              <a:srgbClr val="000000">
                <a:alpha val="15000"/>
              </a:srgbClr>
            </a:outerShdw>
          </a:effectLst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Comunicación</a:t>
            </a:r>
            <a:endParaRPr lang="es-ES" sz="1500" b="1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21" name="G3Panel"/>
          <p:cNvSpPr/>
          <p:nvPr/>
        </p:nvSpPr>
        <p:spPr>
          <a:xfrm>
            <a:off x="8084800" y="1990000"/>
            <a:ext cx="3497600" cy="37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40000" dist="20000" dir="5400000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/>
          <a:lstStyle/>
          <a:p>
            <a:endParaRPr lang="es-ES" sz="300"/>
          </a:p>
        </p:txBody>
      </p:sp>
      <p:sp>
        <p:nvSpPr>
          <p:cNvPr id="122" name="G3A1Icon"/>
          <p:cNvSpPr/>
          <p:nvPr/>
        </p:nvSpPr>
        <p:spPr>
          <a:xfrm>
            <a:off x="8284800" y="2627500"/>
            <a:ext cx="620000" cy="620000"/>
          </a:xfrm>
          <a:prstGeom prst="roundRect">
            <a:avLst>
              <a:gd name="adj" fmla="val 28000"/>
            </a:avLst>
          </a:prstGeom>
          <a:solidFill>
            <a:srgbClr val="0078D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2800" b="1">
                <a:solidFill>
                  <a:srgbClr val="FFFFFF"/>
                </a:solidFill>
                <a:latin typeface="Segoe UI Semibold" panose="020B0702040204020203" pitchFamily="34" charset="0"/>
              </a:rPr>
              <a:t>O</a:t>
            </a:r>
          </a:p>
        </p:txBody>
      </p:sp>
      <p:sp>
        <p:nvSpPr>
          <p:cNvPr id="123" name="G3A1Name"/>
          <p:cNvSpPr/>
          <p:nvPr/>
        </p:nvSpPr>
        <p:spPr>
          <a:xfrm>
            <a:off x="9084800" y="2617500"/>
            <a:ext cx="22976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b="1">
                <a:solidFill>
                  <a:srgbClr val="1E293B"/>
                </a:solidFill>
                <a:latin typeface="Segoe UI Semibold" panose="020B0702040204020203" pitchFamily="34" charset="0"/>
              </a:rPr>
              <a:t>Outlook</a:t>
            </a:r>
          </a:p>
        </p:txBody>
      </p:sp>
      <p:sp>
        <p:nvSpPr>
          <p:cNvPr id="124" name="G3A1Desc"/>
          <p:cNvSpPr/>
          <p:nvPr/>
        </p:nvSpPr>
        <p:spPr>
          <a:xfrm>
            <a:off x="9084800" y="2937500"/>
            <a:ext cx="229760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s-ES" sz="1400">
                <a:solidFill>
                  <a:srgbClr val="475569"/>
                </a:solidFill>
                <a:latin typeface="Segoe UI" pitchFamily="34" charset="0"/>
              </a:rPr>
              <a:t>Resume correos y redacta respuestas.</a:t>
            </a:r>
          </a:p>
        </p:txBody>
      </p:sp>
      <p:sp>
        <p:nvSpPr>
          <p:cNvPr id="125" name="G3A2Icon"/>
          <p:cNvSpPr/>
          <p:nvPr/>
        </p:nvSpPr>
        <p:spPr>
          <a:xfrm>
            <a:off x="8284800" y="4522500"/>
            <a:ext cx="620000" cy="620000"/>
          </a:xfrm>
          <a:prstGeom prst="roundRect">
            <a:avLst>
              <a:gd name="adj" fmla="val 28000"/>
            </a:avLst>
          </a:prstGeom>
          <a:solidFill>
            <a:srgbClr val="6264A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ES" sz="2800" b="1">
                <a:solidFill>
                  <a:srgbClr val="FFFFFF"/>
                </a:solidFill>
                <a:latin typeface="Segoe UI Semibold" panose="020B0702040204020203" pitchFamily="34" charset="0"/>
              </a:rPr>
              <a:t>T</a:t>
            </a:r>
          </a:p>
        </p:txBody>
      </p:sp>
      <p:sp>
        <p:nvSpPr>
          <p:cNvPr id="126" name="G3A2Name"/>
          <p:cNvSpPr/>
          <p:nvPr/>
        </p:nvSpPr>
        <p:spPr>
          <a:xfrm>
            <a:off x="9084800" y="4512500"/>
            <a:ext cx="22976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b="1">
                <a:solidFill>
                  <a:srgbClr val="1E293B"/>
                </a:solidFill>
                <a:latin typeface="Segoe UI Semibold" panose="020B0702040204020203" pitchFamily="34" charset="0"/>
              </a:rPr>
              <a:t>Teams</a:t>
            </a:r>
          </a:p>
        </p:txBody>
      </p:sp>
      <p:sp>
        <p:nvSpPr>
          <p:cNvPr id="127" name="G3A2Desc"/>
          <p:cNvSpPr/>
          <p:nvPr/>
        </p:nvSpPr>
        <p:spPr>
          <a:xfrm>
            <a:off x="9084800" y="4832500"/>
            <a:ext cx="229760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s-ES" sz="1400">
                <a:solidFill>
                  <a:srgbClr val="475569"/>
                </a:solidFill>
                <a:latin typeface="Segoe UI" pitchFamily="34" charset="0"/>
              </a:rPr>
              <a:t>Resume reuniones y genera actas.</a:t>
            </a:r>
          </a:p>
        </p:txBody>
      </p:sp>
      <p:pic>
        <p:nvPicPr>
          <p:cNvPr id="2" name="Image 0" descr="Imagen ilustrativa relacionada con Copilot en aplicaciones de Microsoft 365">
            <a:extLst>
              <a:ext uri="{FF2B5EF4-FFF2-40B4-BE49-F238E27FC236}">
                <a16:creationId xmlns:a16="http://schemas.microsoft.com/office/drawing/2014/main" id="{50872302-D9F3-6A8E-1C80-4C4FA146E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4" name="SecurityNote">
            <a:extLst>
              <a:ext uri="{FF2B5EF4-FFF2-40B4-BE49-F238E27FC236}">
                <a16:creationId xmlns:a16="http://schemas.microsoft.com/office/drawing/2014/main" id="{6D6F5C8E-0B42-C8E0-512B-E16ABAFB1D63}"/>
              </a:ext>
            </a:extLst>
          </p:cNvPr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Segoe UI Semibold"/>
                <a:cs typeface="Segoe UI Semibold"/>
              </a:rPr>
              <a:t>💡 Recuerda: 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todas estas capacidades requieren licencia Microsoft 365 </a:t>
            </a:r>
            <a:r>
              <a:rPr lang="es-ES" sz="1400" dirty="0" err="1">
                <a:solidFill>
                  <a:srgbClr val="92400E"/>
                </a:solidFill>
                <a:latin typeface="Segoe UI"/>
                <a:cs typeface="Segoe UI"/>
              </a:rPr>
              <a:t>Copilot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 y respetan los permisos existentes de cada usuario en Microsoft Graph.</a:t>
            </a:r>
          </a:p>
        </p:txBody>
      </p:sp>
    </p:spTree>
    <p:extLst>
      <p:ext uri="{BB962C8B-B14F-4D97-AF65-F5344CB8AC3E}">
        <p14:creationId xmlns:p14="http://schemas.microsoft.com/office/powerpoint/2010/main" val="426861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FA5B4C3-8727-EBB1-41CC-661AAF12040F}"/>
              </a:ext>
            </a:extLst>
          </p:cNvPr>
          <p:cNvSpPr txBox="1">
            <a:spLocks/>
          </p:cNvSpPr>
          <p:nvPr/>
        </p:nvSpPr>
        <p:spPr>
          <a:xfrm>
            <a:off x="588263" y="585216"/>
            <a:ext cx="1043025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32742">
              <a:lnSpc>
                <a:spcPct val="100000"/>
              </a:lnSpc>
              <a:spcAft>
                <a:spcPts val="600"/>
              </a:spcAft>
              <a:defRPr/>
            </a:pPr>
            <a:r>
              <a:rPr lang="es-ES" sz="360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Copilot Voice</a:t>
            </a:r>
            <a:endParaRPr lang="es-ES" sz="3600" dirty="0">
              <a:solidFill>
                <a:srgbClr val="1E293B"/>
              </a:solidFill>
              <a:latin typeface="Segoe UI Semibold"/>
              <a:ea typeface="Segoe UI Semibold"/>
              <a:cs typeface="Segoe UI Semibold"/>
            </a:endParaRPr>
          </a:p>
        </p:txBody>
      </p:sp>
      <p:pic>
        <p:nvPicPr>
          <p:cNvPr id="3" name="Image 0" descr="Imagen ilustrativa relacionada con Copilot Voice">
            <a:extLst>
              <a:ext uri="{FF2B5EF4-FFF2-40B4-BE49-F238E27FC236}">
                <a16:creationId xmlns:a16="http://schemas.microsoft.com/office/drawing/2014/main" id="{8DED099D-938E-084C-1188-EEE6E4EA7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pic>
        <p:nvPicPr>
          <p:cNvPr id="4" name="Online Media 18" descr="Imagen relacionada con Copilot Voice" title="Voice in Microsoft 365 Copilot: A more productive way to work on the go">
            <a:hlinkClick r:id="" action="ppaction://media"/>
            <a:extLst>
              <a:ext uri="{FF2B5EF4-FFF2-40B4-BE49-F238E27FC236}">
                <a16:creationId xmlns:a16="http://schemas.microsoft.com/office/drawing/2014/main" id="{CFFF8E7A-9633-505C-3FEB-38F8EB8987F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106621" y="1290277"/>
            <a:ext cx="7978758" cy="4508010"/>
          </a:xfrm>
          <a:prstGeom prst="rect">
            <a:avLst/>
          </a:prstGeom>
        </p:spPr>
      </p:pic>
      <p:sp>
        <p:nvSpPr>
          <p:cNvPr id="5" name="SecurityNote">
            <a:extLst>
              <a:ext uri="{FF2B5EF4-FFF2-40B4-BE49-F238E27FC236}">
                <a16:creationId xmlns:a16="http://schemas.microsoft.com/office/drawing/2014/main" id="{E5F2CE83-21CD-2BAA-7562-744ECE50EFDD}"/>
              </a:ext>
            </a:extLst>
          </p:cNvPr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Segoe UI Semibold"/>
                <a:cs typeface="Segoe UI Semibold"/>
              </a:rPr>
              <a:t>💡 Recuerda: 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todas estas capacidades requieren licencia Microsoft 365 </a:t>
            </a:r>
            <a:r>
              <a:rPr lang="es-ES" sz="1400" dirty="0" err="1">
                <a:solidFill>
                  <a:srgbClr val="92400E"/>
                </a:solidFill>
                <a:latin typeface="Segoe UI"/>
                <a:cs typeface="Segoe UI"/>
              </a:rPr>
              <a:t>Copilot</a:t>
            </a:r>
            <a:r>
              <a:rPr lang="es-ES" sz="1400" dirty="0">
                <a:solidFill>
                  <a:srgbClr val="92400E"/>
                </a:solidFill>
                <a:latin typeface="Segoe UI"/>
                <a:cs typeface="Segoe UI"/>
              </a:rPr>
              <a:t> y respetan los permisos existentes de cada usuario en Microsoft Graph.</a:t>
            </a:r>
          </a:p>
        </p:txBody>
      </p:sp>
    </p:spTree>
    <p:extLst>
      <p:ext uri="{BB962C8B-B14F-4D97-AF65-F5344CB8AC3E}">
        <p14:creationId xmlns:p14="http://schemas.microsoft.com/office/powerpoint/2010/main" val="189752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— Multimodalidad en Copilot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La multimodalidad expande las posibilidades creativas: texto, imágenes, voz y audio convergen en Copilot para generar contenido coherente con tu marca y acelerar la producción.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Multimodalidad en IA: texto, imágenes, voz y audio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Multimodalidad en M365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y casos de uso reales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 err="1">
                <a:solidFill>
                  <a:srgbClr val="334155"/>
                </a:solidFill>
                <a:latin typeface="Segoe UI"/>
              </a:rPr>
              <a:t>Create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en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Chat para contenido visual y narrativo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Kits de marca con colores, tipografías y logotipos propios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Voice y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en aplicaciones de Microsoft 365</a:t>
            </a: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Designer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—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Create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con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designer.microsoft.com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Learn —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multimodal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learn.microsoft.com/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/microsoft-365/multimodal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Brand Center — Kits de marca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brandcentral.microsoft.com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D89CD-66F9-A698-85B7-0D58EA9FB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80494CC-38D8-D873-3891-3B55A8EB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7B7A525-96D5-5CD3-E7E6-EDD93531C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4AB0244-D500-4384-3B2F-AD68E45D7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6339685-65F0-AB54-B7AF-6591A56DF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12A5B-CB36-8E90-606E-3ACE8F333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22A1CBC-E153-D09B-4607-C6653DB03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F13F70-5370-D95B-A596-AB898A680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EECE3B2-786B-F232-FEDE-064540A6A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00CFE2F-2649-25AA-1B8D-EBC7C90BD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B0F1424-574A-CA94-B23C-E3B5556AF7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C5862504-9742-95F6-BA5A-27462780B168}"/>
              </a:ext>
            </a:extLst>
          </p:cNvPr>
          <p:cNvSpPr txBox="1">
            <a:spLocks/>
          </p:cNvSpPr>
          <p:nvPr/>
        </p:nvSpPr>
        <p:spPr>
          <a:xfrm>
            <a:off x="3102552" y="224178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Ética en el uso de la IA</a:t>
            </a:r>
            <a:endParaRPr kumimoji="0" lang="en-US" sz="5200" b="0" i="0" u="none" strike="noStrike" kern="1200" cap="none" spc="30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6406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Top Bar" descr="Imagen relacionada con Por qué importa usar la IA generativa con criter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2" name="Title"/>
          <p:cNvSpPr/>
          <p:nvPr/>
        </p:nvSpPr>
        <p:spPr>
          <a:xfrm>
            <a:off x="975360" y="470000"/>
            <a:ext cx="102412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2600" b="1">
                <a:solidFill>
                  <a:srgbClr val="1E293B"/>
                </a:solidFill>
                <a:latin typeface="Segoe UI Semibold"/>
                <a:cs typeface="Segoe UI Semibold"/>
              </a:rPr>
              <a:t>Por qué importa usar la IA generativa con criterio</a:t>
            </a:r>
          </a:p>
        </p:txBody>
      </p:sp>
      <p:sp>
        <p:nvSpPr>
          <p:cNvPr id="4" name="Subtitle"/>
          <p:cNvSpPr/>
          <p:nvPr/>
        </p:nvSpPr>
        <p:spPr>
          <a:xfrm>
            <a:off x="975360" y="1120000"/>
            <a:ext cx="10241280" cy="4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400">
                <a:solidFill>
                  <a:srgbClr val="64748B"/>
                </a:solidFill>
                <a:latin typeface="Segoe UI"/>
                <a:cs typeface="Segoe UI"/>
              </a:rPr>
              <a:t>Lo que hoy parece un atajo puede convertirse mañana en una decisión con consecuencias reales para las personas, los datos y la propia organización.</a:t>
            </a:r>
          </a:p>
        </p:txBody>
      </p:sp>
      <p:sp>
        <p:nvSpPr>
          <p:cNvPr id="40" name="Card0BG"/>
          <p:cNvSpPr/>
          <p:nvPr/>
        </p:nvSpPr>
        <p:spPr>
          <a:xfrm>
            <a:off x="975360" y="1760000"/>
            <a:ext cx="2410320" cy="2700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Card0Band"/>
          <p:cNvSpPr/>
          <p:nvPr/>
        </p:nvSpPr>
        <p:spPr>
          <a:xfrm>
            <a:off x="975360" y="1760000"/>
            <a:ext cx="2410320" cy="60960"/>
          </a:xfrm>
          <a:prstGeom prst="rect">
            <a:avLst/>
          </a:prstGeom>
          <a:solidFill>
            <a:srgbClr val="6E2EB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Card0Icon"/>
          <p:cNvSpPr/>
          <p:nvPr/>
        </p:nvSpPr>
        <p:spPr>
          <a:xfrm>
            <a:off x="1175360" y="1960000"/>
            <a:ext cx="420000" cy="420000"/>
          </a:xfrm>
          <a:prstGeom prst="ellipse">
            <a:avLst/>
          </a:prstGeom>
          <a:solidFill>
            <a:srgbClr val="6E2EB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ymbol"/>
                <a:cs typeface="Segoe UI Symbol"/>
              </a:rPr>
              <a:t>☺</a:t>
            </a:r>
          </a:p>
        </p:txBody>
      </p:sp>
      <p:sp>
        <p:nvSpPr>
          <p:cNvPr id="43" name="Card0Title"/>
          <p:cNvSpPr/>
          <p:nvPr/>
        </p:nvSpPr>
        <p:spPr>
          <a:xfrm>
            <a:off x="1175360" y="2480000"/>
            <a:ext cx="2010000" cy="5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  <a:cs typeface="Segoe UI Semibold"/>
              </a:rPr>
              <a:t>Afecta a personas reales</a:t>
            </a:r>
          </a:p>
        </p:txBody>
      </p:sp>
      <p:sp>
        <p:nvSpPr>
          <p:cNvPr id="44" name="Card0Desc"/>
          <p:cNvSpPr/>
          <p:nvPr/>
        </p:nvSpPr>
        <p:spPr>
          <a:xfrm>
            <a:off x="1175360" y="3200000"/>
            <a:ext cx="2010000" cy="13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000">
                <a:solidFill>
                  <a:srgbClr val="334155"/>
                </a:solidFill>
                <a:latin typeface="Segoe UI"/>
                <a:cs typeface="Segoe UI"/>
              </a:rPr>
              <a:t>Detrás de cada respuesta hay clientes, compañeros y comunidades que pueden ser beneficiados — o perjudicados — por lo que generamos.</a:t>
            </a:r>
          </a:p>
        </p:txBody>
      </p:sp>
      <p:sp>
        <p:nvSpPr>
          <p:cNvPr id="45" name="Card1BG"/>
          <p:cNvSpPr/>
          <p:nvPr/>
        </p:nvSpPr>
        <p:spPr>
          <a:xfrm>
            <a:off x="3585680" y="1760000"/>
            <a:ext cx="2410320" cy="2700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Card1Band"/>
          <p:cNvSpPr/>
          <p:nvPr/>
        </p:nvSpPr>
        <p:spPr>
          <a:xfrm>
            <a:off x="3585680" y="1760000"/>
            <a:ext cx="2410320" cy="609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Card1Icon"/>
          <p:cNvSpPr/>
          <p:nvPr/>
        </p:nvSpPr>
        <p:spPr>
          <a:xfrm>
            <a:off x="3785680" y="1960000"/>
            <a:ext cx="420000" cy="4200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ymbol"/>
                <a:cs typeface="Segoe UI Symbol"/>
              </a:rPr>
              <a:t>✧</a:t>
            </a:r>
          </a:p>
        </p:txBody>
      </p:sp>
      <p:sp>
        <p:nvSpPr>
          <p:cNvPr id="48" name="Card1Title"/>
          <p:cNvSpPr/>
          <p:nvPr/>
        </p:nvSpPr>
        <p:spPr>
          <a:xfrm>
            <a:off x="3785680" y="2480000"/>
            <a:ext cx="2010000" cy="5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  <a:cs typeface="Segoe UI Semibold"/>
              </a:rPr>
              <a:t>Construye o destruye confianza</a:t>
            </a:r>
          </a:p>
        </p:txBody>
      </p:sp>
      <p:sp>
        <p:nvSpPr>
          <p:cNvPr id="49" name="Card1Desc"/>
          <p:cNvSpPr/>
          <p:nvPr/>
        </p:nvSpPr>
        <p:spPr>
          <a:xfrm>
            <a:off x="3785680" y="3200000"/>
            <a:ext cx="2010000" cy="13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000">
                <a:solidFill>
                  <a:srgbClr val="334155"/>
                </a:solidFill>
                <a:latin typeface="Segoe UI"/>
                <a:cs typeface="Segoe UI"/>
              </a:rPr>
              <a:t>La credibilidad de nuestro trabajo, nuestra marca y nuestra organización depende de cómo usemos estas herramientas hoy.</a:t>
            </a:r>
          </a:p>
        </p:txBody>
      </p:sp>
      <p:sp>
        <p:nvSpPr>
          <p:cNvPr id="50" name="Card2BG"/>
          <p:cNvSpPr/>
          <p:nvPr/>
        </p:nvSpPr>
        <p:spPr>
          <a:xfrm>
            <a:off x="6196000" y="1760000"/>
            <a:ext cx="2410320" cy="2700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Card2Band"/>
          <p:cNvSpPr/>
          <p:nvPr/>
        </p:nvSpPr>
        <p:spPr>
          <a:xfrm>
            <a:off x="6196000" y="1760000"/>
            <a:ext cx="2410320" cy="609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Card2Icon"/>
          <p:cNvSpPr/>
          <p:nvPr/>
        </p:nvSpPr>
        <p:spPr>
          <a:xfrm>
            <a:off x="6396000" y="1960000"/>
            <a:ext cx="420000" cy="42000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ymbol"/>
                <a:cs typeface="Segoe UI Symbol"/>
              </a:rPr>
              <a:t>➜</a:t>
            </a:r>
          </a:p>
        </p:txBody>
      </p:sp>
      <p:sp>
        <p:nvSpPr>
          <p:cNvPr id="53" name="Card2Title"/>
          <p:cNvSpPr/>
          <p:nvPr/>
        </p:nvSpPr>
        <p:spPr>
          <a:xfrm>
            <a:off x="6396000" y="2480000"/>
            <a:ext cx="2010000" cy="5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  <a:cs typeface="Segoe UI Semibold"/>
              </a:rPr>
              <a:t>Define la cultura del mañana</a:t>
            </a:r>
          </a:p>
        </p:txBody>
      </p:sp>
      <p:sp>
        <p:nvSpPr>
          <p:cNvPr id="54" name="Card2Desc"/>
          <p:cNvSpPr/>
          <p:nvPr/>
        </p:nvSpPr>
        <p:spPr>
          <a:xfrm>
            <a:off x="6396000" y="3200000"/>
            <a:ext cx="2010000" cy="13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000">
                <a:solidFill>
                  <a:srgbClr val="334155"/>
                </a:solidFill>
                <a:latin typeface="Segoe UI"/>
                <a:cs typeface="Segoe UI"/>
              </a:rPr>
              <a:t>Cada hábito que adoptamos ahora marca cómo la IA se integrará en nuestros equipos, procesos y decisiones durante los próximos años.</a:t>
            </a:r>
          </a:p>
        </p:txBody>
      </p:sp>
      <p:sp>
        <p:nvSpPr>
          <p:cNvPr id="55" name="Card3BG"/>
          <p:cNvSpPr/>
          <p:nvPr/>
        </p:nvSpPr>
        <p:spPr>
          <a:xfrm>
            <a:off x="8806320" y="1760000"/>
            <a:ext cx="2410320" cy="2700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6" name="Card3Band"/>
          <p:cNvSpPr/>
          <p:nvPr/>
        </p:nvSpPr>
        <p:spPr>
          <a:xfrm>
            <a:off x="8806320" y="1760000"/>
            <a:ext cx="2410320" cy="60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Card3Icon"/>
          <p:cNvSpPr/>
          <p:nvPr/>
        </p:nvSpPr>
        <p:spPr>
          <a:xfrm>
            <a:off x="9006320" y="1960000"/>
            <a:ext cx="420000" cy="420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ymbol"/>
                <a:cs typeface="Segoe UI Symbol"/>
              </a:rPr>
              <a:t>⚖</a:t>
            </a:r>
          </a:p>
        </p:txBody>
      </p:sp>
      <p:sp>
        <p:nvSpPr>
          <p:cNvPr id="58" name="Card3Title"/>
          <p:cNvSpPr/>
          <p:nvPr/>
        </p:nvSpPr>
        <p:spPr>
          <a:xfrm>
            <a:off x="9006320" y="2480000"/>
            <a:ext cx="2010000" cy="5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  <a:cs typeface="Segoe UI Semibold"/>
              </a:rPr>
              <a:t>Cumplir la legislación vigente</a:t>
            </a:r>
          </a:p>
        </p:txBody>
      </p:sp>
      <p:sp>
        <p:nvSpPr>
          <p:cNvPr id="59" name="Card3Desc"/>
          <p:cNvSpPr/>
          <p:nvPr/>
        </p:nvSpPr>
        <p:spPr>
          <a:xfrm>
            <a:off x="9006320" y="3200000"/>
            <a:ext cx="2010000" cy="13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000">
                <a:solidFill>
                  <a:srgbClr val="334155"/>
                </a:solidFill>
                <a:latin typeface="Segoe UI"/>
                <a:cs typeface="Segoe UI"/>
              </a:rPr>
              <a:t>Respeta el marco legal: el </a:t>
            </a:r>
            <a:r>
              <a:rPr lang="es-ES" sz="1000" b="1">
                <a:solidFill>
                  <a:srgbClr val="1E293B"/>
                </a:solidFill>
                <a:latin typeface="Segoe UI Semibold"/>
                <a:cs typeface="Segoe UI Semibold"/>
              </a:rPr>
              <a:t>RGPD</a:t>
            </a:r>
            <a:r>
              <a:rPr lang="es-ES" sz="1000">
                <a:solidFill>
                  <a:srgbClr val="334155"/>
                </a:solidFill>
                <a:latin typeface="Segoe UI"/>
                <a:cs typeface="Segoe UI"/>
              </a:rPr>
              <a:t>, el </a:t>
            </a:r>
            <a:r>
              <a:rPr lang="es-ES" sz="1000" b="1">
                <a:solidFill>
                  <a:srgbClr val="1E293B"/>
                </a:solidFill>
                <a:latin typeface="Segoe UI Semibold"/>
                <a:cs typeface="Segoe UI Semibold"/>
              </a:rPr>
              <a:t>Reglamento de IA de la UE (AI Act)</a:t>
            </a:r>
            <a:r>
              <a:rPr lang="es-ES" sz="1000">
                <a:solidFill>
                  <a:srgbClr val="334155"/>
                </a:solidFill>
                <a:latin typeface="Segoe UI"/>
                <a:cs typeface="Segoe UI"/>
              </a:rPr>
              <a:t> y marcos como el </a:t>
            </a:r>
            <a:r>
              <a:rPr lang="es-ES" sz="1000" b="1">
                <a:solidFill>
                  <a:srgbClr val="1E293B"/>
                </a:solidFill>
                <a:latin typeface="Segoe UI Semibold"/>
                <a:cs typeface="Segoe UI Semibold"/>
              </a:rPr>
              <a:t>NIST AI RMF</a:t>
            </a:r>
            <a:r>
              <a:rPr lang="es-ES" sz="1000">
                <a:solidFill>
                  <a:srgbClr val="334155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60" name="LegalBG"/>
          <p:cNvSpPr/>
          <p:nvPr/>
        </p:nvSpPr>
        <p:spPr>
          <a:xfrm>
            <a:off x="975360" y="4640000"/>
            <a:ext cx="10241280" cy="1500000"/>
          </a:xfrm>
          <a:prstGeom prst="roundRect">
            <a:avLst>
              <a:gd name="adj" fmla="val 5405"/>
            </a:avLst>
          </a:prstGeom>
          <a:solidFill>
            <a:srgbClr val="FFF7ED"/>
          </a:solidFill>
          <a:ln>
            <a:noFill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1" name="LegalAccent"/>
          <p:cNvSpPr/>
          <p:nvPr/>
        </p:nvSpPr>
        <p:spPr>
          <a:xfrm>
            <a:off x="975360" y="4640000"/>
            <a:ext cx="100000" cy="150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LegalIcon"/>
          <p:cNvSpPr/>
          <p:nvPr/>
        </p:nvSpPr>
        <p:spPr>
          <a:xfrm>
            <a:off x="1295360" y="4920000"/>
            <a:ext cx="560000" cy="560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2400" b="1">
                <a:solidFill>
                  <a:srgbClr val="FFFFFF"/>
                </a:solidFill>
                <a:latin typeface="Segoe UI Symbol"/>
                <a:cs typeface="Segoe UI Symbol"/>
              </a:rPr>
              <a:t>⚠</a:t>
            </a:r>
          </a:p>
        </p:txBody>
      </p:sp>
      <p:sp>
        <p:nvSpPr>
          <p:cNvPr id="63" name="LegalTitle"/>
          <p:cNvSpPr/>
          <p:nvPr/>
        </p:nvSpPr>
        <p:spPr>
          <a:xfrm>
            <a:off x="2055360" y="4860000"/>
            <a:ext cx="9000000" cy="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500" b="1">
                <a:solidFill>
                  <a:srgbClr val="EA580C"/>
                </a:solidFill>
                <a:latin typeface="Segoe UI Semibold"/>
                <a:cs typeface="Segoe UI Semibold"/>
              </a:rPr>
              <a:t>Evita la dependencia excesiva de los asistentes de IA</a:t>
            </a:r>
          </a:p>
        </p:txBody>
      </p:sp>
      <p:sp>
        <p:nvSpPr>
          <p:cNvPr id="64" name="LegalDesc"/>
          <p:cNvSpPr/>
          <p:nvPr/>
        </p:nvSpPr>
        <p:spPr>
          <a:xfrm>
            <a:off x="2055360" y="5280000"/>
            <a:ext cx="9000000" cy="7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200">
                <a:solidFill>
                  <a:srgbClr val="334155"/>
                </a:solidFill>
                <a:latin typeface="Segoe UI"/>
                <a:cs typeface="Segoe UI"/>
              </a:rPr>
              <a:t>El asistente acelera el trabajo, pero no puede sustituir el juicio propio. </a:t>
            </a:r>
            <a:r>
              <a:rPr lang="es-ES" sz="1200" b="1">
                <a:solidFill>
                  <a:srgbClr val="1E293B"/>
                </a:solidFill>
                <a:latin typeface="Segoe UI Semibold"/>
                <a:cs typeface="Segoe UI Semibold"/>
              </a:rPr>
              <a:t>Revisa, cuestiona y valida</a:t>
            </a:r>
            <a:r>
              <a:rPr lang="es-ES" sz="1200">
                <a:solidFill>
                  <a:srgbClr val="334155"/>
                </a:solidFill>
                <a:latin typeface="Segoe UI"/>
                <a:cs typeface="Segoe UI"/>
              </a:rPr>
              <a:t> siempre lo que genera la IA: contrasta los datos, detecta errores o sesgos y conserva tu criterio profesional. La </a:t>
            </a:r>
            <a:r>
              <a:rPr lang="es-ES" sz="1200" b="1">
                <a:solidFill>
                  <a:srgbClr val="1E293B"/>
                </a:solidFill>
                <a:latin typeface="Segoe UI Semibold"/>
                <a:cs typeface="Segoe UI Semibold"/>
              </a:rPr>
              <a:t>decisión final siempre es humana</a:t>
            </a:r>
            <a:r>
              <a:rPr lang="es-ES" sz="1200">
                <a:solidFill>
                  <a:srgbClr val="334155"/>
                </a:solidFill>
                <a:latin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FE51-0093-542A-4FAC-E051EFED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6EB2E8-1E91-8337-DFC3-2FE283474052}"/>
              </a:ext>
            </a:extLst>
          </p:cNvPr>
          <p:cNvSpPr/>
          <p:nvPr/>
        </p:nvSpPr>
        <p:spPr>
          <a:xfrm>
            <a:off x="975360" y="548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Escenarios</a:t>
            </a:r>
            <a:r>
              <a:rPr lang="en-US" sz="3467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reales</a:t>
            </a:r>
            <a:endParaRPr lang="en-US" sz="3467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39B2CA-D95C-A493-4B92-E64D90D91AC2}"/>
              </a:ext>
            </a:extLst>
          </p:cNvPr>
          <p:cNvSpPr/>
          <p:nvPr/>
        </p:nvSpPr>
        <p:spPr>
          <a:xfrm>
            <a:off x="975360" y="1584960"/>
            <a:ext cx="3169920" cy="42672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AA82F5-5A7A-7BC9-9A7F-B020793AEAA8}"/>
              </a:ext>
            </a:extLst>
          </p:cNvPr>
          <p:cNvSpPr/>
          <p:nvPr/>
        </p:nvSpPr>
        <p:spPr>
          <a:xfrm>
            <a:off x="975360" y="1584960"/>
            <a:ext cx="316992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5" name="Image 0" descr="Imagen ilustrativa relacionada con Escenarios reales">
            <a:extLst>
              <a:ext uri="{FF2B5EF4-FFF2-40B4-BE49-F238E27FC236}">
                <a16:creationId xmlns:a16="http://schemas.microsoft.com/office/drawing/2014/main" id="{0B5367EB-FCDB-422C-6173-66FA3C2A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011680"/>
            <a:ext cx="548640" cy="5486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9065F0C-B035-1273-EBD7-1B44838CA88E}"/>
              </a:ext>
            </a:extLst>
          </p:cNvPr>
          <p:cNvSpPr/>
          <p:nvPr/>
        </p:nvSpPr>
        <p:spPr>
          <a:xfrm>
            <a:off x="1341120" y="268224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Mata v. Avianca</a:t>
            </a:r>
            <a:endParaRPr lang="en-US" sz="2133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DCABFC1-0E3A-4A50-1C91-AEAD8ACD56FE}"/>
              </a:ext>
            </a:extLst>
          </p:cNvPr>
          <p:cNvSpPr/>
          <p:nvPr/>
        </p:nvSpPr>
        <p:spPr>
          <a:xfrm>
            <a:off x="1341120" y="3291840"/>
            <a:ext cx="2611204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abogado de Nueva York usó </a:t>
            </a:r>
            <a:r>
              <a:rPr lang="es-E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r>
              <a:rPr lang="es-E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redactar un escrito legal con citas de casos judiciales completamente inventados. El juez lo sancionó con una multa de 5 000 $ por presentar jurisprudencia falsa.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F79B570-EF6B-3741-F9C7-16B7F166FAAE}"/>
              </a:ext>
            </a:extLst>
          </p:cNvPr>
          <p:cNvSpPr/>
          <p:nvPr/>
        </p:nvSpPr>
        <p:spPr>
          <a:xfrm>
            <a:off x="4511040" y="1584960"/>
            <a:ext cx="3169920" cy="42672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B22531D-2369-E988-585A-39A1A45B0F6B}"/>
              </a:ext>
            </a:extLst>
          </p:cNvPr>
          <p:cNvSpPr/>
          <p:nvPr/>
        </p:nvSpPr>
        <p:spPr>
          <a:xfrm>
            <a:off x="4511040" y="1584960"/>
            <a:ext cx="316992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10" name="Image 1" descr="Imagen ilustrativa relacionada con Escenarios reales">
            <a:extLst>
              <a:ext uri="{FF2B5EF4-FFF2-40B4-BE49-F238E27FC236}">
                <a16:creationId xmlns:a16="http://schemas.microsoft.com/office/drawing/2014/main" id="{CA8F6750-DF05-7382-E1B1-404D974DC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011680"/>
            <a:ext cx="548640" cy="54864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5158818-3EF9-5DB6-A74C-8EF6353DE4CB}"/>
              </a:ext>
            </a:extLst>
          </p:cNvPr>
          <p:cNvSpPr/>
          <p:nvPr/>
        </p:nvSpPr>
        <p:spPr>
          <a:xfrm>
            <a:off x="4876800" y="268224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Samsung Data Leak</a:t>
            </a:r>
            <a:endParaRPr lang="en-US" sz="2133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BC71E90-1EC0-522D-4F3D-688F5CBD9F3B}"/>
              </a:ext>
            </a:extLst>
          </p:cNvPr>
          <p:cNvSpPr/>
          <p:nvPr/>
        </p:nvSpPr>
        <p:spPr>
          <a:xfrm>
            <a:off x="4876800" y="3717552"/>
            <a:ext cx="2718011" cy="1419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Empleados de Samsung pegaron código fuente confidencial y actas de reuniones internas en </a:t>
            </a:r>
            <a:r>
              <a:rPr lang="es-E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r>
              <a:rPr lang="es-E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depurar y resumir. Los datos quedaron expuestos como datos de entrenamiento. Samsung prohibió el uso interno de IA generativa.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4161CBE-0ABE-176D-1E35-66F456BFEDB5}"/>
              </a:ext>
            </a:extLst>
          </p:cNvPr>
          <p:cNvSpPr/>
          <p:nvPr/>
        </p:nvSpPr>
        <p:spPr>
          <a:xfrm>
            <a:off x="8046720" y="1584960"/>
            <a:ext cx="3169920" cy="42672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4EC6A7F-AA7D-6DE6-B9C7-8095292E12B0}"/>
              </a:ext>
            </a:extLst>
          </p:cNvPr>
          <p:cNvSpPr/>
          <p:nvPr/>
        </p:nvSpPr>
        <p:spPr>
          <a:xfrm>
            <a:off x="8046720" y="1584960"/>
            <a:ext cx="31699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15" name="Image 2" descr="Imagen ilustrativa relacionada con Escenarios reales">
            <a:extLst>
              <a:ext uri="{FF2B5EF4-FFF2-40B4-BE49-F238E27FC236}">
                <a16:creationId xmlns:a16="http://schemas.microsoft.com/office/drawing/2014/main" id="{A76F3D7F-29E9-32D8-5EEF-098C2BE27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11680"/>
            <a:ext cx="548640" cy="54864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F26096D8-E9DF-6A3E-26CA-A3A2591D4268}"/>
              </a:ext>
            </a:extLst>
          </p:cNvPr>
          <p:cNvSpPr/>
          <p:nvPr/>
        </p:nvSpPr>
        <p:spPr>
          <a:xfrm>
            <a:off x="8412480" y="268224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CNET Artículos IA</a:t>
            </a:r>
            <a:endParaRPr lang="en-US" sz="2133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9208001-6C51-0348-2BD3-DA3D35ECF83C}"/>
              </a:ext>
            </a:extLst>
          </p:cNvPr>
          <p:cNvSpPr/>
          <p:nvPr/>
        </p:nvSpPr>
        <p:spPr>
          <a:xfrm>
            <a:off x="8412480" y="3413760"/>
            <a:ext cx="254508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CNET publicó decenas de artículos financieros generados con IA sin revelar su autoría. Los textos contenían errores factuales graves. Al descubrirse, la credibilidad del medio se desplomó y tuvieron que corregir y etiquetar retroactivamente todos los artículos.</a:t>
            </a:r>
          </a:p>
        </p:txBody>
      </p:sp>
      <p:pic>
        <p:nvPicPr>
          <p:cNvPr id="18" name="Image 0" descr="Imagen ilustrativa relacionada con Escenarios reales">
            <a:extLst>
              <a:ext uri="{FF2B5EF4-FFF2-40B4-BE49-F238E27FC236}">
                <a16:creationId xmlns:a16="http://schemas.microsoft.com/office/drawing/2014/main" id="{DA34D2E2-02A6-8F70-D8D5-47E9F2531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8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548640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Principios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de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uso</a:t>
            </a:r>
            <a:r>
              <a:rPr lang="en-US" sz="3200" b="1" dirty="0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responsable</a:t>
            </a:r>
            <a:endParaRPr lang="en-US" sz="3200" dirty="0"/>
          </a:p>
        </p:txBody>
      </p:sp>
      <p:sp>
        <p:nvSpPr>
          <p:cNvPr id="600" name="Subtitle"/>
          <p:cNvSpPr/>
          <p:nvPr/>
        </p:nvSpPr>
        <p:spPr>
          <a:xfrm>
            <a:off x="975360" y="1100000"/>
            <a:ext cx="102412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responsabilidad es la base que sostiene los demás principios al usar cualquier asistente de IA generativa</a:t>
            </a:r>
            <a:endParaRPr lang="es-ES" sz="1400" dirty="0"/>
          </a:p>
        </p:txBody>
      </p:sp>
      <p:sp>
        <p:nvSpPr>
          <p:cNvPr id="100" name="Card0 BG"/>
          <p:cNvSpPr/>
          <p:nvPr/>
        </p:nvSpPr>
        <p:spPr>
          <a:xfrm>
            <a:off x="975360" y="1699999"/>
            <a:ext cx="1900000" cy="313704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1" name="Card0 Band"/>
          <p:cNvSpPr/>
          <p:nvPr/>
        </p:nvSpPr>
        <p:spPr>
          <a:xfrm>
            <a:off x="975360" y="1700000"/>
            <a:ext cx="1900000" cy="60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Card0 IconBg"/>
          <p:cNvSpPr/>
          <p:nvPr/>
        </p:nvSpPr>
        <p:spPr>
          <a:xfrm>
            <a:off x="1175360" y="1900000"/>
            <a:ext cx="426720" cy="42672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 pitchFamily="34" charset="0"/>
                <a:cs typeface="Segoe UI" pitchFamily="34" charset="0"/>
              </a:rPr>
              <a:t>1</a:t>
            </a:r>
            <a:endParaRPr lang="en-US" sz="1800"/>
          </a:p>
        </p:txBody>
      </p:sp>
      <p:sp>
        <p:nvSpPr>
          <p:cNvPr id="103" name="Card0 Title"/>
          <p:cNvSpPr/>
          <p:nvPr/>
        </p:nvSpPr>
        <p:spPr>
          <a:xfrm>
            <a:off x="1175360" y="2347101"/>
            <a:ext cx="1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Equidad</a:t>
            </a:r>
            <a:endParaRPr lang="es-ES" sz="1500"/>
          </a:p>
        </p:txBody>
      </p:sp>
      <p:sp>
        <p:nvSpPr>
          <p:cNvPr id="104" name="Card0 Desc"/>
          <p:cNvSpPr/>
          <p:nvPr/>
        </p:nvSpPr>
        <p:spPr>
          <a:xfrm>
            <a:off x="1175360" y="3097101"/>
            <a:ext cx="16853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uses un asistente de IA, revisa que sus respuestas no contengan sesgos de género, raza, cultura o ideología. Contrasta con fuentes diversas antes de actuar sobre ellas.</a:t>
            </a:r>
            <a:endParaRPr lang="es-ES" sz="1050" dirty="0"/>
          </a:p>
        </p:txBody>
      </p:sp>
      <p:sp>
        <p:nvSpPr>
          <p:cNvPr id="105" name="Card1 BG"/>
          <p:cNvSpPr/>
          <p:nvPr/>
        </p:nvSpPr>
        <p:spPr>
          <a:xfrm>
            <a:off x="3060680" y="1699999"/>
            <a:ext cx="1900000" cy="313704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6" name="Card1 Band"/>
          <p:cNvSpPr/>
          <p:nvPr/>
        </p:nvSpPr>
        <p:spPr>
          <a:xfrm>
            <a:off x="3060680" y="1700000"/>
            <a:ext cx="1900000" cy="60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Card1 IconBg"/>
          <p:cNvSpPr/>
          <p:nvPr/>
        </p:nvSpPr>
        <p:spPr>
          <a:xfrm>
            <a:off x="3260680" y="1900000"/>
            <a:ext cx="426720" cy="42672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 pitchFamily="34" charset="0"/>
                <a:cs typeface="Segoe UI" pitchFamily="34" charset="0"/>
              </a:rPr>
              <a:t>2</a:t>
            </a:r>
            <a:endParaRPr lang="en-US" sz="1800"/>
          </a:p>
        </p:txBody>
      </p:sp>
      <p:sp>
        <p:nvSpPr>
          <p:cNvPr id="108" name="Card1 Title"/>
          <p:cNvSpPr/>
          <p:nvPr/>
        </p:nvSpPr>
        <p:spPr>
          <a:xfrm>
            <a:off x="3260680" y="2347101"/>
            <a:ext cx="1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Fiabilidad y seguridad</a:t>
            </a:r>
            <a:endParaRPr lang="es-ES" sz="1500"/>
          </a:p>
        </p:txBody>
      </p:sp>
      <p:sp>
        <p:nvSpPr>
          <p:cNvPr id="109" name="Card1 Desc"/>
          <p:cNvSpPr/>
          <p:nvPr/>
        </p:nvSpPr>
        <p:spPr>
          <a:xfrm>
            <a:off x="3260680" y="3097101"/>
            <a:ext cx="15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Trata las respuestas del asistente como un primer borrador, no como verdad: pueden contener errores o invenciones. Valida los datos críticos antes de usarlos.</a:t>
            </a:r>
            <a:endParaRPr lang="es-ES" sz="1050" dirty="0"/>
          </a:p>
        </p:txBody>
      </p:sp>
      <p:sp>
        <p:nvSpPr>
          <p:cNvPr id="110" name="Card2 BG"/>
          <p:cNvSpPr/>
          <p:nvPr/>
        </p:nvSpPr>
        <p:spPr>
          <a:xfrm>
            <a:off x="5146000" y="1699999"/>
            <a:ext cx="1900000" cy="313704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1" name="Card2 Band"/>
          <p:cNvSpPr/>
          <p:nvPr/>
        </p:nvSpPr>
        <p:spPr>
          <a:xfrm>
            <a:off x="5146000" y="1700000"/>
            <a:ext cx="1900000" cy="6096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2" name="Card2 IconBg"/>
          <p:cNvSpPr/>
          <p:nvPr/>
        </p:nvSpPr>
        <p:spPr>
          <a:xfrm>
            <a:off x="5346000" y="1900000"/>
            <a:ext cx="426720" cy="426720"/>
          </a:xfrm>
          <a:prstGeom prst="ellipse">
            <a:avLst/>
          </a:prstGeom>
          <a:solidFill>
            <a:srgbClr val="5B21B6"/>
          </a:solidFill>
          <a:ln/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 pitchFamily="34" charset="0"/>
                <a:cs typeface="Segoe UI" pitchFamily="34" charset="0"/>
              </a:rPr>
              <a:t>3</a:t>
            </a:r>
            <a:endParaRPr lang="en-US" sz="1800"/>
          </a:p>
        </p:txBody>
      </p:sp>
      <p:sp>
        <p:nvSpPr>
          <p:cNvPr id="113" name="Card2 Title"/>
          <p:cNvSpPr/>
          <p:nvPr/>
        </p:nvSpPr>
        <p:spPr>
          <a:xfrm>
            <a:off x="5346000" y="2347101"/>
            <a:ext cx="1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Privacidad y seguridad</a:t>
            </a:r>
            <a:endParaRPr lang="es-ES" sz="1500"/>
          </a:p>
        </p:txBody>
      </p:sp>
      <p:sp>
        <p:nvSpPr>
          <p:cNvPr id="114" name="Card2 Desc"/>
          <p:cNvSpPr/>
          <p:nvPr/>
        </p:nvSpPr>
        <p:spPr>
          <a:xfrm>
            <a:off x="5346000" y="3097101"/>
            <a:ext cx="15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copies datos personales, confidenciales o de clientes en tus </a:t>
            </a:r>
            <a:r>
              <a:rPr lang="es-ES" sz="10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</a:t>
            </a:r>
            <a:r>
              <a:rPr lang="es-E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Sigue siempre la política de uso de IA y de datos de tu organización antes de pegar información sensible.</a:t>
            </a:r>
            <a:endParaRPr lang="es-ES" sz="1050" dirty="0"/>
          </a:p>
        </p:txBody>
      </p:sp>
      <p:sp>
        <p:nvSpPr>
          <p:cNvPr id="115" name="Card3 BG"/>
          <p:cNvSpPr/>
          <p:nvPr/>
        </p:nvSpPr>
        <p:spPr>
          <a:xfrm>
            <a:off x="7231320" y="1699999"/>
            <a:ext cx="1900000" cy="313704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6" name="Card3 Band"/>
          <p:cNvSpPr/>
          <p:nvPr/>
        </p:nvSpPr>
        <p:spPr>
          <a:xfrm>
            <a:off x="7231320" y="1700000"/>
            <a:ext cx="1900000" cy="60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7" name="Card3 IconBg"/>
          <p:cNvSpPr/>
          <p:nvPr/>
        </p:nvSpPr>
        <p:spPr>
          <a:xfrm>
            <a:off x="7431320" y="1900000"/>
            <a:ext cx="426720" cy="42672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 pitchFamily="34" charset="0"/>
                <a:cs typeface="Segoe UI" pitchFamily="34" charset="0"/>
              </a:rPr>
              <a:t>4</a:t>
            </a:r>
            <a:endParaRPr lang="en-US" sz="1800"/>
          </a:p>
        </p:txBody>
      </p:sp>
      <p:sp>
        <p:nvSpPr>
          <p:cNvPr id="118" name="Card3 Title"/>
          <p:cNvSpPr/>
          <p:nvPr/>
        </p:nvSpPr>
        <p:spPr>
          <a:xfrm>
            <a:off x="7431320" y="2347101"/>
            <a:ext cx="1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Inclusión</a:t>
            </a:r>
            <a:endParaRPr lang="es-ES" sz="1500"/>
          </a:p>
        </p:txBody>
      </p:sp>
      <p:sp>
        <p:nvSpPr>
          <p:cNvPr id="119" name="Card3 Desc"/>
          <p:cNvSpPr/>
          <p:nvPr/>
        </p:nvSpPr>
        <p:spPr>
          <a:xfrm>
            <a:off x="7431320" y="3097101"/>
            <a:ext cx="15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Diseña y utiliza la IA pensando en personas de todas las capacidades, orígenes y contextos, y asegúrate de que las soluciones sean accesibles para todos.</a:t>
            </a:r>
            <a:endParaRPr lang="es-ES" sz="1050" dirty="0"/>
          </a:p>
        </p:txBody>
      </p:sp>
      <p:sp>
        <p:nvSpPr>
          <p:cNvPr id="120" name="Card4 BG"/>
          <p:cNvSpPr/>
          <p:nvPr/>
        </p:nvSpPr>
        <p:spPr>
          <a:xfrm>
            <a:off x="9316640" y="1699999"/>
            <a:ext cx="1900000" cy="313704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1" name="Card4 Band"/>
          <p:cNvSpPr/>
          <p:nvPr/>
        </p:nvSpPr>
        <p:spPr>
          <a:xfrm>
            <a:off x="9316640" y="1700000"/>
            <a:ext cx="1900000" cy="60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2" name="Card4 IconBg"/>
          <p:cNvSpPr/>
          <p:nvPr/>
        </p:nvSpPr>
        <p:spPr>
          <a:xfrm>
            <a:off x="9516640" y="1900000"/>
            <a:ext cx="426720" cy="42672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 pitchFamily="34" charset="0"/>
                <a:cs typeface="Segoe UI" pitchFamily="34" charset="0"/>
              </a:rPr>
              <a:t>5</a:t>
            </a:r>
            <a:endParaRPr lang="en-US" sz="1800"/>
          </a:p>
        </p:txBody>
      </p:sp>
      <p:sp>
        <p:nvSpPr>
          <p:cNvPr id="123" name="Card4 Title"/>
          <p:cNvSpPr/>
          <p:nvPr/>
        </p:nvSpPr>
        <p:spPr>
          <a:xfrm>
            <a:off x="9516640" y="2347101"/>
            <a:ext cx="1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Transparencia</a:t>
            </a:r>
            <a:endParaRPr lang="es-ES" sz="1500"/>
          </a:p>
        </p:txBody>
      </p:sp>
      <p:sp>
        <p:nvSpPr>
          <p:cNvPr id="124" name="Card4 Desc"/>
          <p:cNvSpPr/>
          <p:nvPr/>
        </p:nvSpPr>
        <p:spPr>
          <a:xfrm>
            <a:off x="9516640" y="3097101"/>
            <a:ext cx="15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 cuándo un texto, imagen o análisis ha sido generado o asistido por IA. Sé honesto con tu equipo, clientes y audiencia sobre cómo lo has elaborado.</a:t>
            </a:r>
            <a:endParaRPr lang="es-ES" sz="1050" dirty="0"/>
          </a:p>
        </p:txBody>
      </p:sp>
      <p:sp>
        <p:nvSpPr>
          <p:cNvPr id="125" name="Card5 BG"/>
          <p:cNvSpPr/>
          <p:nvPr/>
        </p:nvSpPr>
        <p:spPr>
          <a:xfrm>
            <a:off x="975360" y="5036081"/>
            <a:ext cx="10241280" cy="139397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6" name="Card5 Band"/>
          <p:cNvSpPr/>
          <p:nvPr/>
        </p:nvSpPr>
        <p:spPr>
          <a:xfrm>
            <a:off x="975360" y="5036081"/>
            <a:ext cx="10241280" cy="609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7" name="Card5 IconBg"/>
          <p:cNvSpPr/>
          <p:nvPr/>
        </p:nvSpPr>
        <p:spPr>
          <a:xfrm>
            <a:off x="1175360" y="5256081"/>
            <a:ext cx="426720" cy="426720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 pitchFamily="34" charset="0"/>
                <a:cs typeface="Segoe UI" pitchFamily="34" charset="0"/>
              </a:rPr>
              <a:t>★</a:t>
            </a:r>
            <a:endParaRPr lang="en-US" sz="1800"/>
          </a:p>
        </p:txBody>
      </p:sp>
      <p:sp>
        <p:nvSpPr>
          <p:cNvPr id="128" name="Card5 Title"/>
          <p:cNvSpPr/>
          <p:nvPr/>
        </p:nvSpPr>
        <p:spPr>
          <a:xfrm>
            <a:off x="1702080" y="5296081"/>
            <a:ext cx="931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7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Responsabilidad — la base de todos los principios</a:t>
            </a:r>
            <a:endParaRPr lang="es-ES" sz="1700"/>
          </a:p>
        </p:txBody>
      </p:sp>
      <p:sp>
        <p:nvSpPr>
          <p:cNvPr id="129" name="Card5 Desc"/>
          <p:cNvSpPr/>
          <p:nvPr/>
        </p:nvSpPr>
        <p:spPr>
          <a:xfrm>
            <a:off x="1175360" y="5886081"/>
            <a:ext cx="9841280" cy="54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 firmas el resultado final, no el asistente. Verifica, edita y valida cada respuesta antes de compartirla o tomar decisiones basadas en ella.</a:t>
            </a:r>
            <a:endParaRPr lang="es-ES" sz="1400" dirty="0"/>
          </a:p>
        </p:txBody>
      </p:sp>
      <p:pic>
        <p:nvPicPr>
          <p:cNvPr id="3" name="Image 0" descr="Imagen ilustrativa relacionada con Principios de uso responsable">
            <a:extLst>
              <a:ext uri="{FF2B5EF4-FFF2-40B4-BE49-F238E27FC236}">
                <a16:creationId xmlns:a16="http://schemas.microsoft.com/office/drawing/2014/main" id="{3B76BCD6-9067-44C4-B8D2-AB9B7A3F1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0000" y="350000"/>
            <a:ext cx="11000000" cy="6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2800" b="1">
                <a:solidFill>
                  <a:srgbClr val="1E293B"/>
                </a:solidFill>
                <a:latin typeface="Segoe UI Semibold"/>
              </a:rPr>
              <a:t>Human-in-the-Loop (HITL)</a:t>
            </a:r>
          </a:p>
        </p:txBody>
      </p:sp>
      <p:sp>
        <p:nvSpPr>
          <p:cNvPr id="3" name="Subtitle"/>
          <p:cNvSpPr/>
          <p:nvPr/>
        </p:nvSpPr>
        <p:spPr>
          <a:xfrm>
            <a:off x="600000" y="980000"/>
            <a:ext cx="11000000" cy="3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400">
                <a:solidFill>
                  <a:srgbClr val="64748B"/>
                </a:solidFill>
                <a:latin typeface="Segoe UI"/>
              </a:rPr>
              <a:t>Enfoque que integra la supervisión y el juicio humano en el ciclo de vida de la IA</a:t>
            </a:r>
          </a:p>
        </p:txBody>
      </p:sp>
      <p:sp>
        <p:nvSpPr>
          <p:cNvPr id="10" name="DiagramHeader"/>
          <p:cNvSpPr/>
          <p:nvPr/>
        </p:nvSpPr>
        <p:spPr>
          <a:xfrm>
            <a:off x="600000" y="1500000"/>
            <a:ext cx="5500000" cy="35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1500" b="1">
                <a:solidFill>
                  <a:srgbClr val="1E293B"/>
                </a:solidFill>
                <a:latin typeface="Segoe UI Semibold"/>
              </a:rPr>
              <a:t>Ciclo Humano-Modelo</a:t>
            </a:r>
          </a:p>
        </p:txBody>
      </p:sp>
      <p:sp>
        <p:nvSpPr>
          <p:cNvPr id="11" name="DiagramBG"/>
          <p:cNvSpPr/>
          <p:nvPr/>
        </p:nvSpPr>
        <p:spPr>
          <a:xfrm>
            <a:off x="600000" y="1920000"/>
            <a:ext cx="5500000" cy="4600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NodeA"/>
          <p:cNvSpPr/>
          <p:nvPr/>
        </p:nvSpPr>
        <p:spPr>
          <a:xfrm>
            <a:off x="900000" y="2200000"/>
            <a:ext cx="1800000" cy="8000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 wrap="square" lIns="50000" tIns="50000" rIns="50000" bIns="5000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</a:rPr>
              <a:t>Datos / Entrada</a:t>
            </a:r>
          </a:p>
        </p:txBody>
      </p:sp>
      <p:sp>
        <p:nvSpPr>
          <p:cNvPr id="21" name="NodeB"/>
          <p:cNvSpPr/>
          <p:nvPr/>
        </p:nvSpPr>
        <p:spPr>
          <a:xfrm>
            <a:off x="4000000" y="2200000"/>
            <a:ext cx="1800000" cy="8000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 wrap="square" lIns="50000" tIns="50000" rIns="50000" bIns="5000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</a:rPr>
              <a:t>Modelo de IA</a:t>
            </a:r>
          </a:p>
        </p:txBody>
      </p:sp>
      <p:sp>
        <p:nvSpPr>
          <p:cNvPr id="22" name="NodeC"/>
          <p:cNvSpPr/>
          <p:nvPr/>
        </p:nvSpPr>
        <p:spPr>
          <a:xfrm>
            <a:off x="4000000" y="5350000"/>
            <a:ext cx="1800000" cy="800000"/>
          </a:xfrm>
          <a:prstGeom prst="roundRect">
            <a:avLst>
              <a:gd name="adj" fmla="val 20000"/>
            </a:avLst>
          </a:prstGeom>
          <a:solidFill>
            <a:srgbClr val="5B21B6"/>
          </a:solidFill>
          <a:ln/>
        </p:spPr>
        <p:txBody>
          <a:bodyPr wrap="square" lIns="50000" tIns="50000" rIns="50000" bIns="5000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</a:rPr>
              <a:t>Predicción</a:t>
            </a:r>
          </a:p>
        </p:txBody>
      </p:sp>
      <p:sp>
        <p:nvSpPr>
          <p:cNvPr id="23" name="NodeD"/>
          <p:cNvSpPr/>
          <p:nvPr/>
        </p:nvSpPr>
        <p:spPr>
          <a:xfrm>
            <a:off x="900000" y="5350000"/>
            <a:ext cx="1800000" cy="8000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lIns="50000" tIns="50000" rIns="50000" bIns="5000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</a:rPr>
              <a:t>Revisión humana</a:t>
            </a:r>
          </a:p>
        </p:txBody>
      </p:sp>
      <p:cxnSp>
        <p:nvCxnSpPr>
          <p:cNvPr id="30" name="ArrowAB"/>
          <p:cNvCxnSpPr/>
          <p:nvPr/>
        </p:nvCxnSpPr>
        <p:spPr>
          <a:xfrm>
            <a:off x="2700000" y="2580000"/>
            <a:ext cx="13000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/>
          </a:ln>
        </p:spPr>
      </p:cxnSp>
      <p:cxnSp>
        <p:nvCxnSpPr>
          <p:cNvPr id="31" name="ArrowBC"/>
          <p:cNvCxnSpPr/>
          <p:nvPr/>
        </p:nvCxnSpPr>
        <p:spPr>
          <a:xfrm>
            <a:off x="4900000" y="3000000"/>
            <a:ext cx="0" cy="2350000"/>
          </a:xfrm>
          <a:prstGeom prst="straightConnector1">
            <a:avLst/>
          </a:prstGeom>
          <a:ln w="22225">
            <a:solidFill>
              <a:srgbClr val="64748B"/>
            </a:solidFill>
            <a:tailEnd type="triangle"/>
          </a:ln>
        </p:spPr>
      </p:cxnSp>
      <p:cxnSp>
        <p:nvCxnSpPr>
          <p:cNvPr id="32" name="ArrowCD"/>
          <p:cNvCxnSpPr/>
          <p:nvPr/>
        </p:nvCxnSpPr>
        <p:spPr>
          <a:xfrm flipH="1">
            <a:off x="2700000" y="5730000"/>
            <a:ext cx="13000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/>
          </a:ln>
        </p:spPr>
      </p:cxnSp>
      <p:cxnSp>
        <p:nvCxnSpPr>
          <p:cNvPr id="33" name="ArrowDA"/>
          <p:cNvCxnSpPr/>
          <p:nvPr/>
        </p:nvCxnSpPr>
        <p:spPr>
          <a:xfrm flipV="1">
            <a:off x="1800000" y="3000000"/>
            <a:ext cx="0" cy="2350000"/>
          </a:xfrm>
          <a:prstGeom prst="straightConnector1">
            <a:avLst/>
          </a:prstGeom>
          <a:ln w="22225">
            <a:solidFill>
              <a:srgbClr val="64748B"/>
            </a:solidFill>
            <a:tailEnd type="triangle"/>
          </a:ln>
        </p:spPr>
      </p:cxnSp>
      <p:sp>
        <p:nvSpPr>
          <p:cNvPr id="40" name="CenterLabel"/>
          <p:cNvSpPr/>
          <p:nvPr/>
        </p:nvSpPr>
        <p:spPr>
          <a:xfrm>
            <a:off x="2550000" y="3850000"/>
            <a:ext cx="1600000" cy="8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wrap="square" lIns="40000" tIns="40000" rIns="40000" bIns="40000" anchor="ctr"/>
          <a:lstStyle/>
          <a:p>
            <a:pPr algn="ctr"/>
            <a:r>
              <a:rPr lang="es-ES" sz="1100" b="1">
                <a:solidFill>
                  <a:srgbClr val="EC4899"/>
                </a:solidFill>
                <a:latin typeface="Segoe UI Semibold"/>
              </a:rPr>
              <a:t>Feedback continuo</a:t>
            </a:r>
          </a:p>
        </p:txBody>
      </p:sp>
      <p:sp>
        <p:nvSpPr>
          <p:cNvPr id="41" name="LblTop"/>
          <p:cNvSpPr/>
          <p:nvPr/>
        </p:nvSpPr>
        <p:spPr>
          <a:xfrm>
            <a:off x="2700000" y="2380000"/>
            <a:ext cx="1300000" cy="2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900" i="1">
                <a:solidFill>
                  <a:srgbClr val="64748B"/>
                </a:solidFill>
                <a:latin typeface="Segoe UI"/>
              </a:rPr>
              <a:t>entrenamiento</a:t>
            </a:r>
          </a:p>
        </p:txBody>
      </p:sp>
      <p:sp>
        <p:nvSpPr>
          <p:cNvPr id="42" name="LblRight"/>
          <p:cNvSpPr/>
          <p:nvPr/>
        </p:nvSpPr>
        <p:spPr>
          <a:xfrm>
            <a:off x="4960000" y="4050000"/>
            <a:ext cx="900000" cy="2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/>
            <a:r>
              <a:rPr lang="es-ES" sz="900" i="1">
                <a:solidFill>
                  <a:srgbClr val="64748B"/>
                </a:solidFill>
                <a:latin typeface="Segoe UI"/>
              </a:rPr>
              <a:t>resultado</a:t>
            </a:r>
          </a:p>
        </p:txBody>
      </p:sp>
      <p:sp>
        <p:nvSpPr>
          <p:cNvPr id="43" name="LblBottom"/>
          <p:cNvSpPr/>
          <p:nvPr/>
        </p:nvSpPr>
        <p:spPr>
          <a:xfrm>
            <a:off x="2700000" y="5780000"/>
            <a:ext cx="1300000" cy="2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900" i="1">
                <a:solidFill>
                  <a:srgbClr val="64748B"/>
                </a:solidFill>
                <a:latin typeface="Segoe UI"/>
              </a:rPr>
              <a:t>validación</a:t>
            </a:r>
          </a:p>
        </p:txBody>
      </p:sp>
      <p:sp>
        <p:nvSpPr>
          <p:cNvPr id="44" name="LblLeft"/>
          <p:cNvSpPr/>
          <p:nvPr/>
        </p:nvSpPr>
        <p:spPr>
          <a:xfrm>
            <a:off x="850000" y="4050000"/>
            <a:ext cx="900000" cy="2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r"/>
            <a:r>
              <a:rPr lang="es-ES" sz="900" i="1">
                <a:solidFill>
                  <a:srgbClr val="64748B"/>
                </a:solidFill>
                <a:latin typeface="Segoe UI"/>
              </a:rPr>
              <a:t>correcciones</a:t>
            </a:r>
          </a:p>
        </p:txBody>
      </p:sp>
      <p:sp>
        <p:nvSpPr>
          <p:cNvPr id="50" name="CardsHeader"/>
          <p:cNvSpPr/>
          <p:nvPr/>
        </p:nvSpPr>
        <p:spPr>
          <a:xfrm>
            <a:off x="6300000" y="1500000"/>
            <a:ext cx="5300000" cy="35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1500" b="1">
                <a:solidFill>
                  <a:srgbClr val="1E293B"/>
                </a:solidFill>
                <a:latin typeface="Segoe UI Semibold"/>
              </a:rPr>
              <a:t>Conceptos clave</a:t>
            </a:r>
          </a:p>
        </p:txBody>
      </p:sp>
      <p:sp>
        <p:nvSpPr>
          <p:cNvPr id="60" name="Card1BG"/>
          <p:cNvSpPr/>
          <p:nvPr/>
        </p:nvSpPr>
        <p:spPr>
          <a:xfrm>
            <a:off x="6300000" y="1920000"/>
            <a:ext cx="5300000" cy="7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1" name="Card1Band"/>
          <p:cNvSpPr/>
          <p:nvPr/>
        </p:nvSpPr>
        <p:spPr>
          <a:xfrm>
            <a:off x="6300000" y="1920000"/>
            <a:ext cx="100000" cy="780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Card1Text"/>
          <p:cNvSpPr/>
          <p:nvPr/>
        </p:nvSpPr>
        <p:spPr>
          <a:xfrm>
            <a:off x="6520000" y="1990000"/>
            <a:ext cx="4980000" cy="6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</a:rPr>
              <a:t>Supervisión humana</a:t>
            </a:r>
          </a:p>
          <a:p>
            <a:r>
              <a:rPr lang="es-ES" sz="1100">
                <a:solidFill>
                  <a:srgbClr val="475569"/>
                </a:solidFill>
                <a:latin typeface="Segoe UI"/>
              </a:rPr>
              <a:t>Personas que revisan, aprueban o modifican las decisiones del modelo.</a:t>
            </a:r>
          </a:p>
        </p:txBody>
      </p:sp>
      <p:sp>
        <p:nvSpPr>
          <p:cNvPr id="70" name="Card2BG"/>
          <p:cNvSpPr/>
          <p:nvPr/>
        </p:nvSpPr>
        <p:spPr>
          <a:xfrm>
            <a:off x="6300000" y="2800000"/>
            <a:ext cx="5300000" cy="7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Card2Band"/>
          <p:cNvSpPr/>
          <p:nvPr/>
        </p:nvSpPr>
        <p:spPr>
          <a:xfrm>
            <a:off x="6300000" y="2800000"/>
            <a:ext cx="100000" cy="78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Card2Text"/>
          <p:cNvSpPr/>
          <p:nvPr/>
        </p:nvSpPr>
        <p:spPr>
          <a:xfrm>
            <a:off x="6520000" y="2870000"/>
            <a:ext cx="4980000" cy="6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</a:rPr>
              <a:t>Validación y corrección</a:t>
            </a:r>
          </a:p>
          <a:p>
            <a:r>
              <a:rPr lang="es-ES" sz="1100">
                <a:solidFill>
                  <a:srgbClr val="475569"/>
                </a:solidFill>
                <a:latin typeface="Segoe UI"/>
              </a:rPr>
              <a:t>Expertos verifican predicciones y corrigen errores como referencia.</a:t>
            </a:r>
          </a:p>
        </p:txBody>
      </p:sp>
      <p:sp>
        <p:nvSpPr>
          <p:cNvPr id="80" name="Card3BG"/>
          <p:cNvSpPr/>
          <p:nvPr/>
        </p:nvSpPr>
        <p:spPr>
          <a:xfrm>
            <a:off x="6300000" y="3680000"/>
            <a:ext cx="5300000" cy="7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1" name="Card3Band"/>
          <p:cNvSpPr/>
          <p:nvPr/>
        </p:nvSpPr>
        <p:spPr>
          <a:xfrm>
            <a:off x="6300000" y="3680000"/>
            <a:ext cx="100000" cy="78000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Card3Text"/>
          <p:cNvSpPr/>
          <p:nvPr/>
        </p:nvSpPr>
        <p:spPr>
          <a:xfrm>
            <a:off x="6520000" y="3750000"/>
            <a:ext cx="4980000" cy="6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</a:rPr>
              <a:t>Retroalimentación continua (RLHF)</a:t>
            </a:r>
          </a:p>
          <a:p>
            <a:r>
              <a:rPr lang="es-ES" sz="1100">
                <a:solidFill>
                  <a:srgbClr val="475569"/>
                </a:solidFill>
                <a:latin typeface="Segoe UI"/>
              </a:rPr>
              <a:t>El feedback humano reentrena el modelo de forma iterativa.</a:t>
            </a:r>
          </a:p>
        </p:txBody>
      </p:sp>
      <p:sp>
        <p:nvSpPr>
          <p:cNvPr id="90" name="Card4BG"/>
          <p:cNvSpPr/>
          <p:nvPr/>
        </p:nvSpPr>
        <p:spPr>
          <a:xfrm>
            <a:off x="6300000" y="4560000"/>
            <a:ext cx="5300000" cy="7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1" name="Card4Band"/>
          <p:cNvSpPr/>
          <p:nvPr/>
        </p:nvSpPr>
        <p:spPr>
          <a:xfrm>
            <a:off x="6300000" y="4560000"/>
            <a:ext cx="100000" cy="780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2" name="Card4Text"/>
          <p:cNvSpPr/>
          <p:nvPr/>
        </p:nvSpPr>
        <p:spPr>
          <a:xfrm>
            <a:off x="6520000" y="4630000"/>
            <a:ext cx="4980000" cy="6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s-ES" sz="1400" b="1">
                <a:solidFill>
                  <a:srgbClr val="1E293B"/>
                </a:solidFill>
                <a:latin typeface="Segoe UI Semibold"/>
              </a:rPr>
              <a:t>Decisiones críticas</a:t>
            </a:r>
          </a:p>
          <a:p>
            <a:r>
              <a:rPr lang="es-ES" sz="1100">
                <a:solidFill>
                  <a:srgbClr val="475569"/>
                </a:solidFill>
                <a:latin typeface="Segoe UI"/>
              </a:rPr>
              <a:t>El humano decide en salud, finanzas o legal; la IA es copiloto.</a:t>
            </a:r>
          </a:p>
        </p:txBody>
      </p:sp>
      <p:sp>
        <p:nvSpPr>
          <p:cNvPr id="100" name="ExampleBG"/>
          <p:cNvSpPr/>
          <p:nvPr/>
        </p:nvSpPr>
        <p:spPr>
          <a:xfrm>
            <a:off x="6300000" y="5470000"/>
            <a:ext cx="5300000" cy="1050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1" name="ExampleText"/>
          <p:cNvSpPr/>
          <p:nvPr/>
        </p:nvSpPr>
        <p:spPr>
          <a:xfrm>
            <a:off x="6500000" y="5550000"/>
            <a:ext cx="49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r>
              <a:rPr lang="es-ES" sz="1300" b="1">
                <a:solidFill>
                  <a:srgbClr val="92400E"/>
                </a:solidFill>
                <a:latin typeface="Segoe UI Semibold"/>
              </a:rPr>
              <a:t>Ejemplo práctico: Moderación de contenido</a:t>
            </a:r>
          </a:p>
          <a:p>
            <a:r>
              <a:rPr lang="es-ES" sz="1100">
                <a:solidFill>
                  <a:srgbClr val="78350F"/>
                </a:solidFill>
                <a:latin typeface="Segoe UI"/>
              </a:rPr>
              <a:t>Un modelo de IA filtra publicaciones automáticamente. Los moderadores humanos revisan los casos ambiguos y sus correcciones se utilizan para reentrenar el modelo, mejorando progresivamente su precisión y reduciendo falsos positivos.</a:t>
            </a:r>
          </a:p>
        </p:txBody>
      </p:sp>
      <p:pic>
        <p:nvPicPr>
          <p:cNvPr id="200" name="Image 0" descr="Imagen ilustrativa relacionada con Human-in-the-Loop (HIT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326D7-9EE4-993D-553F-C48BA1972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ilustrativa relacionada con Laboratorio: Ética en la IA">
            <a:extLst>
              <a:ext uri="{FF2B5EF4-FFF2-40B4-BE49-F238E27FC236}">
                <a16:creationId xmlns:a16="http://schemas.microsoft.com/office/drawing/2014/main" id="{FE6501CE-0D09-FEFD-9DD9-E0DE1EF1E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670560"/>
            <a:ext cx="548640" cy="5486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5D4DF46-179C-3C9A-EDA0-73366E461FD1}"/>
              </a:ext>
            </a:extLst>
          </p:cNvPr>
          <p:cNvSpPr/>
          <p:nvPr/>
        </p:nvSpPr>
        <p:spPr>
          <a:xfrm>
            <a:off x="1767840" y="6096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Laboratorio: </a:t>
            </a:r>
            <a:r>
              <a:rPr lang="en-US" sz="3200" b="1" dirty="0" err="1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Ética</a:t>
            </a:r>
            <a:r>
              <a:rPr lang="en-U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</a:t>
            </a:r>
            <a:r>
              <a:rPr lang="en-US" sz="3200" b="1" dirty="0" err="1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en</a:t>
            </a:r>
            <a:r>
              <a:rPr lang="en-US" sz="3200" b="1" dirty="0">
                <a:solidFill>
                  <a:srgbClr val="7C3AED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la IA</a:t>
            </a:r>
            <a:endParaRPr lang="en-U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DEFBA9A-F5A8-91EC-B16F-691B5B3E56A8}"/>
              </a:ext>
            </a:extLst>
          </p:cNvPr>
          <p:cNvSpPr/>
          <p:nvPr/>
        </p:nvSpPr>
        <p:spPr>
          <a:xfrm>
            <a:off x="975360" y="1584960"/>
            <a:ext cx="10241280" cy="4632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D2BF139-DCA4-C44A-722F-80C2E70D4AEE}"/>
              </a:ext>
            </a:extLst>
          </p:cNvPr>
          <p:cNvSpPr/>
          <p:nvPr/>
        </p:nvSpPr>
        <p:spPr>
          <a:xfrm>
            <a:off x="1463040" y="1950720"/>
            <a:ext cx="926592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La inteligencia artificial generativa puede redactar informes, analizar datos y automatizar flujos de trabajo en segundos. Sin embargo, esa velocidad solo es útil si los resultados son justos, seguros y verificables. Comprender los principios de IA responsable y saber cuando un ser humano debe intervenir es tan importante como saber escribir un buen </a:t>
            </a:r>
            <a:r>
              <a:rPr lang="es-ES" sz="2000" dirty="0" err="1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prompt</a:t>
            </a: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</a:rPr>
              <a:t>Tiempo estimado: </a:t>
            </a: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40 minutos</a:t>
            </a:r>
          </a:p>
          <a:p>
            <a:pPr>
              <a:spcAft>
                <a:spcPts val="1600"/>
              </a:spcAft>
            </a:pPr>
            <a:endParaRPr lang="es-ES" sz="2000" dirty="0">
              <a:solidFill>
                <a:srgbClr val="334155"/>
              </a:solidFill>
              <a:latin typeface="Segoe UI" panose="020B0502040204020203" pitchFamily="34" charset="0"/>
              <a:ea typeface="Segoe UI" pitchFamily="34" charset="-122"/>
              <a:cs typeface="Segoe UI" panose="020B0502040204020203" pitchFamily="34" charset="0"/>
            </a:endParaRP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Sigue el ejercicio en:</a:t>
            </a:r>
          </a:p>
          <a:p>
            <a:pPr>
              <a:spcAft>
                <a:spcPts val="1600"/>
              </a:spcAft>
            </a:pP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  <a:hlinkClick r:id="rId5"/>
              </a:rPr>
              <a:t>Ética en la IA</a:t>
            </a:r>
            <a:r>
              <a:rPr lang="es-ES" sz="2000" dirty="0">
                <a:solidFill>
                  <a:srgbClr val="334155"/>
                </a:solidFill>
                <a:latin typeface="Segoe UI Semibold" panose="020B0702040204020203" pitchFamily="34" charset="0"/>
                <a:ea typeface="Segoe UI" pitchFamily="34" charset="-122"/>
                <a:cs typeface="Segoe UI Semibold" panose="020B0702040204020203" pitchFamily="34" charset="0"/>
              </a:rPr>
              <a:t> </a:t>
            </a:r>
            <a:endParaRPr lang="es-ES" sz="2000" dirty="0">
              <a:solidFill>
                <a:srgbClr val="334155"/>
              </a:solidFill>
              <a:latin typeface="Segoe UI" panose="020B0502040204020203" pitchFamily="34" charset="0"/>
              <a:ea typeface="Segoe UI" pitchFamily="34" charset="-122"/>
              <a:cs typeface="Segoe UI" panose="020B0502040204020203" pitchFamily="34" charset="0"/>
            </a:endParaRPr>
          </a:p>
        </p:txBody>
      </p:sp>
      <p:pic>
        <p:nvPicPr>
          <p:cNvPr id="7" name="Image 0" descr="Imagen ilustrativa relacionada con Laboratorio: Ética en la IA">
            <a:extLst>
              <a:ext uri="{FF2B5EF4-FFF2-40B4-BE49-F238E27FC236}">
                <a16:creationId xmlns:a16="http://schemas.microsoft.com/office/drawing/2014/main" id="{94999772-A858-7CC1-C60E-1AB14BFBA1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246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— Ética en el uso de la IA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La responsabilidad final recae siempre en la persona: aplicar Human-in-the-Loop y los principios de uso responsable es innegociable para evitar errores reputacionales y legales.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Por qué importa usar la IA generativa con criterio profesional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Escenarios reales: Mata v. Avianca, Samsung Data Leak y CNET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Seis principios de uso responsable: equidad, fiabilidad, privacidad…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Human-in-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the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-Loop (HITL): supervisión y validación humana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Laboratorio práctico de ética y reflexión final</a:t>
            </a: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—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Responsible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AI Standard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microsoft.com/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ai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responsible-ai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AI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Act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de la Unión Europea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artificialintelligenceact.eu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NIST AI Risk Management Framework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nist.gov/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itl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ai-risk-management-framework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D89CD-66F9-A698-85B7-0D58EA9FB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80494CC-38D8-D873-3891-3B55A8EB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7B7A525-96D5-5CD3-E7E6-EDD93531C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4AB0244-D500-4384-3B2F-AD68E45D7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6339685-65F0-AB54-B7AF-6591A56DF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12A5B-CB36-8E90-606E-3ACE8F333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22A1CBC-E153-D09B-4607-C6653DB03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F13F70-5370-D95B-A596-AB898A680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EECE3B2-786B-F232-FEDE-064540A6A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00CFE2F-2649-25AA-1B8D-EBC7C90BD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B0F1424-574A-CA94-B23C-E3B5556AF7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C5862504-9742-95F6-BA5A-27462780B168}"/>
              </a:ext>
            </a:extLst>
          </p:cNvPr>
          <p:cNvSpPr txBox="1">
            <a:spLocks/>
          </p:cNvSpPr>
          <p:nvPr/>
        </p:nvSpPr>
        <p:spPr>
          <a:xfrm>
            <a:off x="3102552" y="224178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3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Agentes de IA</a:t>
            </a:r>
            <a:endParaRPr kumimoji="0" lang="en-US" sz="5200" b="0" i="0" u="none" strike="noStrike" kern="1200" cap="none" spc="30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64062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FF67-0E86-68C6-DB2C-D9CAA4F9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LMBar"/>
          <p:cNvSpPr/>
          <p:nvPr/>
        </p:nvSpPr>
        <p:spPr>
          <a:xfrm>
            <a:off x="962400" y="1488031"/>
            <a:ext cx="10267200" cy="619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endParaRPr lang="es-ES"/>
          </a:p>
        </p:txBody>
      </p:sp>
      <p:pic>
        <p:nvPicPr>
          <p:cNvPr id="2" name="TopBar" descr="Imagen relacionada con ¿Qué es un agente de IA?">
            <a:extLst>
              <a:ext uri="{FF2B5EF4-FFF2-40B4-BE49-F238E27FC236}">
                <a16:creationId xmlns:a16="http://schemas.microsoft.com/office/drawing/2014/main" id="{3F68237D-A50B-355F-E1EE-18F6E6A7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467301CA-B03A-A378-6A19-48F3F22C7652}"/>
              </a:ext>
            </a:extLst>
          </p:cNvPr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3200" b="1">
                <a:latin typeface="Segoe UI Semibold"/>
                <a:ea typeface="Segoe UI Semibold"/>
                <a:cs typeface="Segoe UI Semibold"/>
              </a:rPr>
              <a:t>¿Qué es un </a:t>
            </a:r>
            <a:r>
              <a:rPr lang="es-ES" sz="3200">
                <a:gradFill>
                  <a:gsLst>
                    <a:gs pos="0">
                      <a:srgbClr val="0D9488"/>
                    </a:gs>
                    <a:gs pos="50000">
                      <a:srgbClr val="3B82F6"/>
                    </a:gs>
                    <a:gs pos="100000">
                      <a:srgbClr val="7C3AED"/>
                    </a:gs>
                  </a:gsLst>
                  <a:lin ang="0" scaled="1"/>
                </a:gradFill>
                <a:latin typeface="Segoe UI Semibold"/>
                <a:ea typeface="Segoe UI Semibold"/>
                <a:cs typeface="Segoe UI Semibold"/>
              </a:rPr>
              <a:t>agente de IA</a:t>
            </a:r>
            <a:r>
              <a:rPr lang="es-ES" sz="3200" b="1">
                <a:latin typeface="Segoe UI Semibold"/>
                <a:ea typeface="Segoe UI Semibold"/>
                <a:cs typeface="Segoe UI Semibold"/>
              </a:rPr>
              <a:t>?</a:t>
            </a:r>
          </a:p>
        </p:txBody>
      </p:sp>
      <p:sp>
        <p:nvSpPr>
          <p:cNvPr id="500" name="LLMStepDesc"/>
          <p:cNvSpPr/>
          <p:nvPr/>
        </p:nvSpPr>
        <p:spPr>
          <a:xfrm>
            <a:off x="1452790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Definen el propósito, el comportamiento y el tono del agente, y las reglas que debe seguir al responder.</a:t>
            </a:r>
          </a:p>
        </p:txBody>
      </p:sp>
      <p:sp>
        <p:nvSpPr>
          <p:cNvPr id="5" name="SummaryText">
            <a:extLst>
              <a:ext uri="{FF2B5EF4-FFF2-40B4-BE49-F238E27FC236}">
                <a16:creationId xmlns:a16="http://schemas.microsoft.com/office/drawing/2014/main" id="{512CA3B5-C808-898C-5F73-DE99B7BA4541}"/>
              </a:ext>
            </a:extLst>
          </p:cNvPr>
          <p:cNvSpPr/>
          <p:nvPr/>
        </p:nvSpPr>
        <p:spPr>
          <a:xfrm>
            <a:off x="962400" y="1494390"/>
            <a:ext cx="10267200" cy="619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2000" b="1">
                <a:solidFill>
                  <a:srgbClr val="FFFFFF"/>
                </a:solidFill>
                <a:latin typeface="Segoe UI Semibold"/>
                <a:cs typeface="Segoe UI Semibold"/>
              </a:rPr>
              <a:t>Asistente especializado</a:t>
            </a:r>
            <a:endParaRPr lang="es-ES" sz="1600" b="1">
              <a:solidFill>
                <a:srgbClr val="D6F4F0"/>
              </a:solidFill>
              <a:latin typeface="Segoe UI"/>
              <a:cs typeface="Segoe UI"/>
            </a:endParaRPr>
          </a:p>
          <a:p>
            <a:pPr algn="ctr"/>
            <a:r>
              <a:rPr lang="es-ES" sz="1600">
                <a:solidFill>
                  <a:schemeClr val="bg1">
                    <a:lumMod val="95000"/>
                  </a:schemeClr>
                </a:solidFill>
                <a:latin typeface="Segoe UI"/>
                <a:cs typeface="Segoe UI"/>
              </a:rPr>
              <a:t>Combina el LLM de Copilot con instrucciones, conocimiento y acciones.</a:t>
            </a:r>
          </a:p>
        </p:txBody>
      </p:sp>
      <p:sp>
        <p:nvSpPr>
          <p:cNvPr id="25" name="Desc3">
            <a:extLst>
              <a:ext uri="{FF2B5EF4-FFF2-40B4-BE49-F238E27FC236}">
                <a16:creationId xmlns:a16="http://schemas.microsoft.com/office/drawing/2014/main" id="{C1ECC5B9-CF5D-0195-24F6-75CB29DC508F}"/>
              </a:ext>
            </a:extLst>
          </p:cNvPr>
          <p:cNvSpPr/>
          <p:nvPr/>
        </p:nvSpPr>
        <p:spPr>
          <a:xfrm>
            <a:off x="5424082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Datos y fuentes que el agente consulta: archivos de SharePoint, Microsoft Graph, sitios web o bases internas.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6090BC-0859-DC11-CAE0-AC703F56E730}"/>
              </a:ext>
            </a:extLst>
          </p:cNvPr>
          <p:cNvGrpSpPr/>
          <p:nvPr/>
        </p:nvGrpSpPr>
        <p:grpSpPr>
          <a:xfrm>
            <a:off x="1518196" y="2776062"/>
            <a:ext cx="8717280" cy="1724240"/>
            <a:chOff x="2385124" y="2767431"/>
            <a:chExt cx="8717280" cy="1724240"/>
          </a:xfrm>
        </p:grpSpPr>
        <p:sp>
          <p:nvSpPr>
            <p:cNvPr id="101" name="Conn2">
              <a:extLst>
                <a:ext uri="{FF2B5EF4-FFF2-40B4-BE49-F238E27FC236}">
                  <a16:creationId xmlns:a16="http://schemas.microsoft.com/office/drawing/2014/main" id="{E297F6B4-1355-8498-5CB0-86B28F6EA5D6}"/>
                </a:ext>
              </a:extLst>
            </p:cNvPr>
            <p:cNvSpPr/>
            <p:nvPr/>
          </p:nvSpPr>
          <p:spPr>
            <a:xfrm>
              <a:off x="4043364" y="3241712"/>
              <a:ext cx="2974720" cy="4571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2" name="Conn3">
              <a:extLst>
                <a:ext uri="{FF2B5EF4-FFF2-40B4-BE49-F238E27FC236}">
                  <a16:creationId xmlns:a16="http://schemas.microsoft.com/office/drawing/2014/main" id="{930D69FB-86DC-3C94-ACF9-FA29BF3406D7}"/>
                </a:ext>
              </a:extLst>
            </p:cNvPr>
            <p:cNvSpPr/>
            <p:nvPr/>
          </p:nvSpPr>
          <p:spPr>
            <a:xfrm>
              <a:off x="7749604" y="3247431"/>
              <a:ext cx="1828800" cy="400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1" name="LLMStepCircle"/>
            <p:cNvSpPr/>
            <p:nvPr/>
          </p:nvSpPr>
          <p:spPr>
            <a:xfrm>
              <a:off x="3043364" y="2767431"/>
              <a:ext cx="1000000" cy="1000000"/>
            </a:xfrm>
            <a:prstGeom prst="ellipse">
              <a:avLst/>
            </a:prstGeom>
            <a:gradFill>
              <a:gsLst>
                <a:gs pos="0">
                  <a:srgbClr val="3B82F6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  <a:effectLst>
              <a:outerShdw blurRad="80000" dist="20000" dir="5400000" algn="bl" rotWithShape="0">
                <a:srgbClr val="000000">
                  <a:alpha val="20000"/>
                </a:srgbClr>
              </a:outerShdw>
            </a:effectLst>
          </p:spPr>
          <p:txBody>
            <a:bodyPr wrap="none" lIns="0" tIns="0" rIns="0" bIns="0" anchor="ctr"/>
            <a:lstStyle/>
            <a:p>
              <a:endParaRPr lang="es-ES"/>
            </a:p>
          </p:txBody>
        </p:sp>
        <p:pic>
          <p:nvPicPr>
            <p:cNvPr id="600" name="BrainGearsIcon" descr="Icono ilustrativo en la diapositiva sobre ¿Qué es un agente de IA?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3364" y="2967431"/>
              <a:ext cx="600000" cy="600000"/>
            </a:xfrm>
            <a:prstGeom prst="rect">
              <a:avLst/>
            </a:prstGeom>
          </p:spPr>
        </p:pic>
        <p:sp>
          <p:nvSpPr>
            <p:cNvPr id="12" name="Circle3">
              <a:extLst>
                <a:ext uri="{FF2B5EF4-FFF2-40B4-BE49-F238E27FC236}">
                  <a16:creationId xmlns:a16="http://schemas.microsoft.com/office/drawing/2014/main" id="{FA2052A9-832D-2EFD-5740-85BCB649F69F}"/>
                </a:ext>
              </a:extLst>
            </p:cNvPr>
            <p:cNvSpPr/>
            <p:nvPr/>
          </p:nvSpPr>
          <p:spPr>
            <a:xfrm>
              <a:off x="7018084" y="2901671"/>
              <a:ext cx="731520" cy="731520"/>
            </a:xfrm>
            <a:prstGeom prst="ellipse">
              <a:avLst/>
            </a:prstGeom>
            <a:solidFill>
              <a:srgbClr val="5B5BEC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endParaRPr lang="es-ES"/>
            </a:p>
          </p:txBody>
        </p:sp>
        <p:pic>
          <p:nvPicPr>
            <p:cNvPr id="601" name="ChatIcon" descr="Icono ilustrativo en la diapositiva sobre ¿Qué es un agente de IA?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58844" y="3042431"/>
              <a:ext cx="450000" cy="450000"/>
            </a:xfrm>
            <a:prstGeom prst="rect">
              <a:avLst/>
            </a:prstGeom>
          </p:spPr>
        </p:pic>
        <p:sp>
          <p:nvSpPr>
            <p:cNvPr id="13" name="Circle4">
              <a:extLst>
                <a:ext uri="{FF2B5EF4-FFF2-40B4-BE49-F238E27FC236}">
                  <a16:creationId xmlns:a16="http://schemas.microsoft.com/office/drawing/2014/main" id="{D4BD43D2-B218-B93A-6D2A-7489A5E020DC}"/>
                </a:ext>
              </a:extLst>
            </p:cNvPr>
            <p:cNvSpPr/>
            <p:nvPr/>
          </p:nvSpPr>
          <p:spPr>
            <a:xfrm>
              <a:off x="9578404" y="2901671"/>
              <a:ext cx="731520" cy="73152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endParaRPr lang="es-ES"/>
            </a:p>
          </p:txBody>
        </p:sp>
        <p:pic>
          <p:nvPicPr>
            <p:cNvPr id="602" name="TokenIcon" descr="Icono ilustrativo en la diapositiva sobre ¿Qué es un agente de IA?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19164" y="3042431"/>
              <a:ext cx="450000" cy="450000"/>
            </a:xfrm>
            <a:prstGeom prst="rect">
              <a:avLst/>
            </a:prstGeom>
          </p:spPr>
        </p:pic>
        <p:sp>
          <p:nvSpPr>
            <p:cNvPr id="502" name="LLMStepTitle"/>
            <p:cNvSpPr/>
            <p:nvPr/>
          </p:nvSpPr>
          <p:spPr>
            <a:xfrm>
              <a:off x="238512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Instrucciones</a:t>
              </a:r>
            </a:p>
          </p:txBody>
        </p:sp>
        <p:sp>
          <p:nvSpPr>
            <p:cNvPr id="24" name="Title3">
              <a:extLst>
                <a:ext uri="{FF2B5EF4-FFF2-40B4-BE49-F238E27FC236}">
                  <a16:creationId xmlns:a16="http://schemas.microsoft.com/office/drawing/2014/main" id="{667FCF1F-C2A4-918E-8DB3-347D76D400E6}"/>
                </a:ext>
              </a:extLst>
            </p:cNvPr>
            <p:cNvSpPr/>
            <p:nvPr/>
          </p:nvSpPr>
          <p:spPr>
            <a:xfrm>
              <a:off x="622560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Conocimiento</a:t>
              </a:r>
            </a:p>
          </p:txBody>
        </p:sp>
        <p:sp>
          <p:nvSpPr>
            <p:cNvPr id="26" name="Title4">
              <a:extLst>
                <a:ext uri="{FF2B5EF4-FFF2-40B4-BE49-F238E27FC236}">
                  <a16:creationId xmlns:a16="http://schemas.microsoft.com/office/drawing/2014/main" id="{CCA1BF3F-572C-78A2-E67A-0D2E77E0B758}"/>
                </a:ext>
              </a:extLst>
            </p:cNvPr>
            <p:cNvSpPr/>
            <p:nvPr/>
          </p:nvSpPr>
          <p:spPr>
            <a:xfrm>
              <a:off x="878592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Acciones</a:t>
              </a:r>
            </a:p>
          </p:txBody>
        </p:sp>
      </p:grpSp>
      <p:sp>
        <p:nvSpPr>
          <p:cNvPr id="27" name="Desc4">
            <a:extLst>
              <a:ext uri="{FF2B5EF4-FFF2-40B4-BE49-F238E27FC236}">
                <a16:creationId xmlns:a16="http://schemas.microsoft.com/office/drawing/2014/main" id="{D407BBD3-43C7-430F-203E-8F3899FB79AE}"/>
              </a:ext>
            </a:extLst>
          </p:cNvPr>
          <p:cNvSpPr/>
          <p:nvPr/>
        </p:nvSpPr>
        <p:spPr>
          <a:xfrm>
            <a:off x="7984402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Conectores y APIs que permiten al agente actuar: enviar correos, crear tareas o actualizar registros.</a:t>
            </a:r>
          </a:p>
        </p:txBody>
      </p:sp>
    </p:spTree>
    <p:extLst>
      <p:ext uri="{BB962C8B-B14F-4D97-AF65-F5344CB8AC3E}">
        <p14:creationId xmlns:p14="http://schemas.microsoft.com/office/powerpoint/2010/main" val="13170489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3200" b="1">
                <a:solidFill>
                  <a:srgbClr val="1E293B"/>
                </a:solidFill>
                <a:latin typeface="Segoe UI Semibold"/>
                <a:cs typeface="Segoe UI Semibold"/>
              </a:rPr>
              <a:t>Tipos de agentes en Microsoft 365 Copilot</a:t>
            </a:r>
          </a:p>
        </p:txBody>
      </p:sp>
      <p:sp>
        <p:nvSpPr>
          <p:cNvPr id="4" name="Description"/>
          <p:cNvSpPr/>
          <p:nvPr/>
        </p:nvSpPr>
        <p:spPr>
          <a:xfrm>
            <a:off x="1500000" y="1130844"/>
            <a:ext cx="9192000" cy="9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600">
                <a:solidFill>
                  <a:srgbClr val="475569"/>
                </a:solidFill>
                <a:latin typeface="Segoe UI"/>
                <a:cs typeface="Segoe UI"/>
              </a:rPr>
              <a:t>Dos enfoques para construir agentes según el grado de control y personalización que necesites.</a:t>
            </a:r>
          </a:p>
        </p:txBody>
      </p:sp>
      <p:sp>
        <p:nvSpPr>
          <p:cNvPr id="10" name="BasicCard"/>
          <p:cNvSpPr/>
          <p:nvPr/>
        </p:nvSpPr>
        <p:spPr>
          <a:xfrm>
            <a:off x="975360" y="2350000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BasicBadge"/>
          <p:cNvSpPr/>
          <p:nvPr/>
        </p:nvSpPr>
        <p:spPr>
          <a:xfrm>
            <a:off x="1175360" y="2470000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0D9488"/>
              </a:gs>
              <a:gs pos="100000">
                <a:srgbClr val="14A8BC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emibold"/>
                <a:cs typeface="Segoe UI Semibold"/>
              </a:rPr>
              <a:t>Agentes declarativos</a:t>
            </a:r>
          </a:p>
        </p:txBody>
      </p:sp>
      <p:sp>
        <p:nvSpPr>
          <p:cNvPr id="12" name="BasicList"/>
          <p:cNvSpPr/>
          <p:nvPr/>
        </p:nvSpPr>
        <p:spPr>
          <a:xfrm>
            <a:off x="1275360" y="3100000"/>
            <a:ext cx="4370000" cy="24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Mismo orquestador y modelos que Copilot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Tú aportas instrucciones, conocimiento y acciones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Se crean sin código en Copilot Studio</a:t>
            </a:r>
            <a:endParaRPr lang="es-ES" sz="1600">
              <a:solidFill>
                <a:srgbClr val="1E293B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Adaptan Copilot a un dominio concreto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Rápidos de publicar y mantener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Heredan la seguridad de Copilot</a:t>
            </a:r>
          </a:p>
        </p:txBody>
      </p:sp>
      <p:sp>
        <p:nvSpPr>
          <p:cNvPr id="20" name="LicensedCard"/>
          <p:cNvSpPr/>
          <p:nvPr/>
        </p:nvSpPr>
        <p:spPr>
          <a:xfrm>
            <a:off x="6246640" y="2350000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LicensedBadge"/>
          <p:cNvSpPr/>
          <p:nvPr/>
        </p:nvSpPr>
        <p:spPr>
          <a:xfrm>
            <a:off x="6446640" y="2470000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emibold"/>
                <a:cs typeface="Segoe UI Semibold"/>
              </a:rPr>
              <a:t>Agentes con motor propio</a:t>
            </a:r>
          </a:p>
        </p:txBody>
      </p:sp>
      <p:sp>
        <p:nvSpPr>
          <p:cNvPr id="22" name="LicensedList"/>
          <p:cNvSpPr/>
          <p:nvPr/>
        </p:nvSpPr>
        <p:spPr>
          <a:xfrm>
            <a:off x="6546640" y="2992424"/>
            <a:ext cx="4370000" cy="24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b="1" dirty="0">
                <a:solidFill>
                  <a:srgbClr val="7C3AED"/>
                </a:solidFill>
                <a:latin typeface="Segoe UI Semibold"/>
              </a:rPr>
              <a:t>Aportas tus propios modelos y orquestación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Control total del comportamiento y la lógica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Se construyen en </a:t>
            </a:r>
            <a:r>
              <a:rPr lang="es-ES" sz="1600" dirty="0" err="1">
                <a:solidFill>
                  <a:srgbClr val="1E293B"/>
                </a:solidFill>
                <a:latin typeface="Segoe UI"/>
              </a:rPr>
              <a:t>Foundry</a:t>
            </a:r>
            <a:r>
              <a:rPr lang="es-ES" sz="1600" dirty="0">
                <a:solidFill>
                  <a:srgbClr val="1E293B"/>
                </a:solidFill>
                <a:latin typeface="Segoe UI"/>
              </a:rPr>
              <a:t> o con código en Agent Framework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Para escenarios complejos o </a:t>
            </a:r>
            <a:r>
              <a:rPr lang="es-ES" sz="1600" dirty="0" err="1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multiagente</a:t>
            </a:r>
            <a:endParaRPr lang="es-ES" sz="1600" dirty="0">
              <a:solidFill>
                <a:srgbClr val="1E293B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dirty="0">
                <a:solidFill>
                  <a:srgbClr val="1E293B"/>
                </a:solidFill>
                <a:latin typeface="Segoe UI"/>
              </a:rPr>
              <a:t>Se publican y gobiernan desde el Agent Store</a:t>
            </a:r>
          </a:p>
        </p:txBody>
      </p:sp>
      <p:sp>
        <p:nvSpPr>
          <p:cNvPr id="30" name="SecurityNote"/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>
                <a:solidFill>
                  <a:srgbClr val="92400E"/>
                </a:solidFill>
                <a:latin typeface="Segoe UI Semibold"/>
                <a:cs typeface="Segoe UI Semibold"/>
              </a:rPr>
              <a:t>⚠ Recuerda: </a:t>
            </a:r>
            <a:r>
              <a:rPr lang="es-ES" sz="1400">
                <a:solidFill>
                  <a:srgbClr val="92400E"/>
                </a:solidFill>
                <a:latin typeface="Segoe UI"/>
                <a:cs typeface="Segoe UI"/>
              </a:rPr>
              <a:t>ambos tipos respetan los permisos de cada usuario en Microsoft Graph y la protección de datos empresariales.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D25D-7D34-E345-3C2A-A55186DA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88FD4A9A-B888-6202-2437-225F7E4C8AA1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07C6F92-DBFD-970E-C63B-861EBD2EFFBD}"/>
              </a:ext>
            </a:extLst>
          </p:cNvPr>
          <p:cNvSpPr/>
          <p:nvPr/>
        </p:nvSpPr>
        <p:spPr>
          <a:xfrm>
            <a:off x="600000" y="320000"/>
            <a:ext cx="10992000" cy="5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3000" b="1">
                <a:solidFill>
                  <a:srgbClr val="1E293B"/>
                </a:solidFill>
                <a:latin typeface="Segoe UI Semibold"/>
              </a:rPr>
              <a:t>Crea un agente con </a:t>
            </a:r>
            <a:r>
              <a:rPr lang="es-ES" sz="3000" b="1">
                <a:latin typeface="Segoe UI Semibold"/>
              </a:rPr>
              <a:t>Copilot Studio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BB0BB56-446E-3B5E-57F4-A16051E6B048}"/>
              </a:ext>
            </a:extLst>
          </p:cNvPr>
          <p:cNvSpPr/>
          <p:nvPr/>
        </p:nvSpPr>
        <p:spPr>
          <a:xfrm>
            <a:off x="1500000" y="900000"/>
            <a:ext cx="9192000" cy="4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500">
                <a:solidFill>
                  <a:srgbClr val="475569"/>
                </a:solidFill>
                <a:latin typeface="Segoe UI"/>
              </a:rPr>
              <a:t>Una plataforma low-code para diseñar, probar y publicar agentes en pocos pasos.</a:t>
            </a:r>
          </a:p>
        </p:txBody>
      </p:sp>
      <p:sp>
        <p:nvSpPr>
          <p:cNvPr id="5" name="SchemaHeading">
            <a:extLst>
              <a:ext uri="{FF2B5EF4-FFF2-40B4-BE49-F238E27FC236}">
                <a16:creationId xmlns:a16="http://schemas.microsoft.com/office/drawing/2014/main" id="{68FC971E-EB4E-2842-E486-80969A5D6C2C}"/>
              </a:ext>
            </a:extLst>
          </p:cNvPr>
          <p:cNvSpPr/>
          <p:nvPr/>
        </p:nvSpPr>
        <p:spPr>
          <a:xfrm>
            <a:off x="600000" y="1620000"/>
            <a:ext cx="10992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300" b="1">
                <a:solidFill>
                  <a:srgbClr val="334155"/>
                </a:solidFill>
                <a:latin typeface="Segoe UI Semibold"/>
              </a:rPr>
              <a:t>De la idea al agente en producción</a:t>
            </a:r>
          </a:p>
        </p:txBody>
      </p:sp>
      <p:sp>
        <p:nvSpPr>
          <p:cNvPr id="6" name="ConnLine">
            <a:extLst>
              <a:ext uri="{FF2B5EF4-FFF2-40B4-BE49-F238E27FC236}">
                <a16:creationId xmlns:a16="http://schemas.microsoft.com/office/drawing/2014/main" id="{19072A28-CA14-87FE-4D27-4856F2347BEC}"/>
              </a:ext>
            </a:extLst>
          </p:cNvPr>
          <p:cNvSpPr/>
          <p:nvPr/>
        </p:nvSpPr>
        <p:spPr>
          <a:xfrm>
            <a:off x="2346000" y="2542000"/>
            <a:ext cx="7500000" cy="16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Step1Circle">
            <a:extLst>
              <a:ext uri="{FF2B5EF4-FFF2-40B4-BE49-F238E27FC236}">
                <a16:creationId xmlns:a16="http://schemas.microsoft.com/office/drawing/2014/main" id="{1E506255-2111-D3C2-0841-455290019B27}"/>
              </a:ext>
            </a:extLst>
          </p:cNvPr>
          <p:cNvSpPr/>
          <p:nvPr/>
        </p:nvSpPr>
        <p:spPr>
          <a:xfrm>
            <a:off x="1896000" y="2100000"/>
            <a:ext cx="900000" cy="9000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50000" dist="12000" dir="5400000" algn="bl" rotWithShape="0">
              <a:srgbClr val="0D9488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Step2Circle">
            <a:extLst>
              <a:ext uri="{FF2B5EF4-FFF2-40B4-BE49-F238E27FC236}">
                <a16:creationId xmlns:a16="http://schemas.microsoft.com/office/drawing/2014/main" id="{82D80649-7B10-047F-346B-61EB4346F067}"/>
              </a:ext>
            </a:extLst>
          </p:cNvPr>
          <p:cNvSpPr/>
          <p:nvPr/>
        </p:nvSpPr>
        <p:spPr>
          <a:xfrm>
            <a:off x="4396000" y="2100000"/>
            <a:ext cx="900000" cy="9000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50000" dist="12000" dir="5400000" algn="bl" rotWithShape="0">
              <a:srgbClr val="3B82F6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Step3Circle">
            <a:extLst>
              <a:ext uri="{FF2B5EF4-FFF2-40B4-BE49-F238E27FC236}">
                <a16:creationId xmlns:a16="http://schemas.microsoft.com/office/drawing/2014/main" id="{DF4F0F7F-4BC1-CA25-2461-571E96B9596C}"/>
              </a:ext>
            </a:extLst>
          </p:cNvPr>
          <p:cNvSpPr/>
          <p:nvPr/>
        </p:nvSpPr>
        <p:spPr>
          <a:xfrm>
            <a:off x="6896000" y="2100000"/>
            <a:ext cx="900000" cy="900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50000" dist="12000" dir="5400000" algn="bl" rotWithShape="0">
              <a:srgbClr val="7C3AED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3" name="Step4Circle">
            <a:extLst>
              <a:ext uri="{FF2B5EF4-FFF2-40B4-BE49-F238E27FC236}">
                <a16:creationId xmlns:a16="http://schemas.microsoft.com/office/drawing/2014/main" id="{87A43DF8-118E-B592-82CC-6CBE9A2381BE}"/>
              </a:ext>
            </a:extLst>
          </p:cNvPr>
          <p:cNvSpPr/>
          <p:nvPr/>
        </p:nvSpPr>
        <p:spPr>
          <a:xfrm>
            <a:off x="9396000" y="2100000"/>
            <a:ext cx="900000" cy="90000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50000" dist="12000" dir="5400000" algn="bl" rotWithShape="0">
              <a:srgbClr val="EC4899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Step1Label">
            <a:extLst>
              <a:ext uri="{FF2B5EF4-FFF2-40B4-BE49-F238E27FC236}">
                <a16:creationId xmlns:a16="http://schemas.microsoft.com/office/drawing/2014/main" id="{D42DE9A7-03F2-220D-6CDB-2F4441C14BC0}"/>
              </a:ext>
            </a:extLst>
          </p:cNvPr>
          <p:cNvSpPr/>
          <p:nvPr/>
        </p:nvSpPr>
        <p:spPr>
          <a:xfrm>
            <a:off x="12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Describe</a:t>
            </a:r>
          </a:p>
        </p:txBody>
      </p:sp>
      <p:sp>
        <p:nvSpPr>
          <p:cNvPr id="21" name="Step2Label">
            <a:extLst>
              <a:ext uri="{FF2B5EF4-FFF2-40B4-BE49-F238E27FC236}">
                <a16:creationId xmlns:a16="http://schemas.microsoft.com/office/drawing/2014/main" id="{76285ACB-8CC3-5791-CA05-2E550D4C6FB2}"/>
              </a:ext>
            </a:extLst>
          </p:cNvPr>
          <p:cNvSpPr/>
          <p:nvPr/>
        </p:nvSpPr>
        <p:spPr>
          <a:xfrm>
            <a:off x="37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Conecta</a:t>
            </a:r>
          </a:p>
        </p:txBody>
      </p:sp>
      <p:sp>
        <p:nvSpPr>
          <p:cNvPr id="22" name="Step3Label">
            <a:extLst>
              <a:ext uri="{FF2B5EF4-FFF2-40B4-BE49-F238E27FC236}">
                <a16:creationId xmlns:a16="http://schemas.microsoft.com/office/drawing/2014/main" id="{827AAA37-7159-7EA4-A2C4-C338AEC911CE}"/>
              </a:ext>
            </a:extLst>
          </p:cNvPr>
          <p:cNvSpPr/>
          <p:nvPr/>
        </p:nvSpPr>
        <p:spPr>
          <a:xfrm>
            <a:off x="62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Activa</a:t>
            </a:r>
          </a:p>
        </p:txBody>
      </p:sp>
      <p:sp>
        <p:nvSpPr>
          <p:cNvPr id="23" name="Step4Label">
            <a:extLst>
              <a:ext uri="{FF2B5EF4-FFF2-40B4-BE49-F238E27FC236}">
                <a16:creationId xmlns:a16="http://schemas.microsoft.com/office/drawing/2014/main" id="{2E99D487-A932-52F0-E794-F893D849528E}"/>
              </a:ext>
            </a:extLst>
          </p:cNvPr>
          <p:cNvSpPr/>
          <p:nvPr/>
        </p:nvSpPr>
        <p:spPr>
          <a:xfrm>
            <a:off x="87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Publica</a:t>
            </a:r>
          </a:p>
        </p:txBody>
      </p:sp>
      <p:sp>
        <p:nvSpPr>
          <p:cNvPr id="30" name="Step1Desc">
            <a:extLst>
              <a:ext uri="{FF2B5EF4-FFF2-40B4-BE49-F238E27FC236}">
                <a16:creationId xmlns:a16="http://schemas.microsoft.com/office/drawing/2014/main" id="{7E8C5FC9-EB22-46CC-5987-D04A40A23026}"/>
              </a:ext>
            </a:extLst>
          </p:cNvPr>
          <p:cNvSpPr/>
          <p:nvPr/>
        </p:nvSpPr>
        <p:spPr>
          <a:xfrm>
            <a:off x="12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Define el propósito y las instrucciones del agente en lenguaje natural.</a:t>
            </a:r>
          </a:p>
        </p:txBody>
      </p:sp>
      <p:sp>
        <p:nvSpPr>
          <p:cNvPr id="31" name="Step2Desc">
            <a:extLst>
              <a:ext uri="{FF2B5EF4-FFF2-40B4-BE49-F238E27FC236}">
                <a16:creationId xmlns:a16="http://schemas.microsoft.com/office/drawing/2014/main" id="{C75430F5-0B15-31AB-9078-E26ED59558C7}"/>
              </a:ext>
            </a:extLst>
          </p:cNvPr>
          <p:cNvSpPr/>
          <p:nvPr/>
        </p:nvSpPr>
        <p:spPr>
          <a:xfrm>
            <a:off x="37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Añade conocimiento: SharePoint, Microsoft Graph, sitios web o tus datos.</a:t>
            </a:r>
          </a:p>
        </p:txBody>
      </p:sp>
      <p:sp>
        <p:nvSpPr>
          <p:cNvPr id="32" name="Step3Desc">
            <a:extLst>
              <a:ext uri="{FF2B5EF4-FFF2-40B4-BE49-F238E27FC236}">
                <a16:creationId xmlns:a16="http://schemas.microsoft.com/office/drawing/2014/main" id="{0A0EAA05-2851-E2B9-9603-630ED711A6F6}"/>
              </a:ext>
            </a:extLst>
          </p:cNvPr>
          <p:cNvSpPr/>
          <p:nvPr/>
        </p:nvSpPr>
        <p:spPr>
          <a:xfrm>
            <a:off x="62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Conecta acciones y herramientas mediante conectores, APIs y flujos.</a:t>
            </a:r>
          </a:p>
        </p:txBody>
      </p:sp>
      <p:sp>
        <p:nvSpPr>
          <p:cNvPr id="33" name="Step4Desc">
            <a:extLst>
              <a:ext uri="{FF2B5EF4-FFF2-40B4-BE49-F238E27FC236}">
                <a16:creationId xmlns:a16="http://schemas.microsoft.com/office/drawing/2014/main" id="{CA7190B7-F9C3-0D28-246D-9E33EBDE3C3E}"/>
              </a:ext>
            </a:extLst>
          </p:cNvPr>
          <p:cNvSpPr/>
          <p:nvPr/>
        </p:nvSpPr>
        <p:spPr>
          <a:xfrm>
            <a:off x="87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Prueba el agente y publícalo en el Agent Store para tu organización.</a:t>
            </a:r>
          </a:p>
        </p:txBody>
      </p:sp>
      <p:sp>
        <p:nvSpPr>
          <p:cNvPr id="50" name="HowToCard"/>
          <p:cNvSpPr/>
          <p:nvPr/>
        </p:nvSpPr>
        <p:spPr>
          <a:xfrm>
            <a:off x="1500000" y="4788000"/>
            <a:ext cx="9192000" cy="88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HowToBadge"/>
          <p:cNvSpPr/>
          <p:nvPr/>
        </p:nvSpPr>
        <p:spPr>
          <a:xfrm>
            <a:off x="1692000" y="5038000"/>
            <a:ext cx="1800000" cy="3800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0D9488"/>
              </a:gs>
              <a:gs pos="100000">
                <a:srgbClr val="14A8BC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Gobernanza y control</a:t>
            </a:r>
          </a:p>
        </p:txBody>
      </p:sp>
      <p:sp>
        <p:nvSpPr>
          <p:cNvPr id="52" name="HowToCol1"/>
          <p:cNvSpPr/>
          <p:nvPr/>
        </p:nvSpPr>
        <p:spPr>
          <a:xfrm>
            <a:off x="3700000" y="4838000"/>
            <a:ext cx="3400000" cy="8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Autonomía bajo control</a:t>
            </a:r>
          </a:p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334155"/>
                </a:solidFill>
                <a:latin typeface="Segoe UI"/>
                <a:cs typeface="Segoe UI"/>
              </a:rPr>
              <a:t>Permisos acotados y respeto a Microsoft Graph</a:t>
            </a:r>
          </a:p>
        </p:txBody>
      </p:sp>
      <p:sp>
        <p:nvSpPr>
          <p:cNvPr id="53" name="HowToCol2"/>
          <p:cNvSpPr/>
          <p:nvPr/>
        </p:nvSpPr>
        <p:spPr>
          <a:xfrm>
            <a:off x="7200000" y="4838000"/>
            <a:ext cx="3300000" cy="8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Agentes autónomos con disparadores y guardarraíles</a:t>
            </a:r>
          </a:p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Supervisión y ciclo de vida con Agent 365</a:t>
            </a:r>
          </a:p>
        </p:txBody>
      </p:sp>
    </p:spTree>
    <p:extLst>
      <p:ext uri="{BB962C8B-B14F-4D97-AF65-F5344CB8AC3E}">
        <p14:creationId xmlns:p14="http://schemas.microsoft.com/office/powerpoint/2010/main" val="2987356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D7F5BD-AFFD-A8A7-5DA9-21B8BECDD8AC}"/>
              </a:ext>
            </a:extLst>
          </p:cNvPr>
          <p:cNvSpPr/>
          <p:nvPr/>
        </p:nvSpPr>
        <p:spPr>
          <a:xfrm>
            <a:off x="975360" y="487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Agentes de razonamiento: </a:t>
            </a:r>
            <a:r>
              <a:rPr lang="es-ES" sz="32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Researcher y Analyst</a:t>
            </a:r>
            <a:endParaRPr lang="es-ES" sz="3200"/>
          </a:p>
        </p:txBody>
      </p:sp>
      <p:sp>
        <p:nvSpPr>
          <p:cNvPr id="3" name="Intro Text">
            <a:extLst>
              <a:ext uri="{FF2B5EF4-FFF2-40B4-BE49-F238E27FC236}">
                <a16:creationId xmlns:a16="http://schemas.microsoft.com/office/drawing/2014/main" id="{809D020B-E661-F12B-F522-F77CCB4B0176}"/>
              </a:ext>
            </a:extLst>
          </p:cNvPr>
          <p:cNvSpPr/>
          <p:nvPr/>
        </p:nvSpPr>
        <p:spPr>
          <a:xfrm>
            <a:off x="975360" y="12801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Dos agentes de razonamiento incluidos con licencia de Microsoft 365 Copilot que analizan tus datos de trabajo y la web para resolver tareas complejas de varios pasos.</a:t>
            </a:r>
            <a:endParaRPr lang="es-ES" sz="1600"/>
          </a:p>
        </p:txBody>
      </p:sp>
      <p:sp>
        <p:nvSpPr>
          <p:cNvPr id="4" name="Card 1">
            <a:extLst>
              <a:ext uri="{FF2B5EF4-FFF2-40B4-BE49-F238E27FC236}">
                <a16:creationId xmlns:a16="http://schemas.microsoft.com/office/drawing/2014/main" id="{C8DCBEC0-3626-F439-02A7-EF8A6F492C32}"/>
              </a:ext>
            </a:extLst>
          </p:cNvPr>
          <p:cNvSpPr/>
          <p:nvPr/>
        </p:nvSpPr>
        <p:spPr>
          <a:xfrm>
            <a:off x="975360" y="2202873"/>
            <a:ext cx="4920640" cy="39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Circle 1">
            <a:extLst>
              <a:ext uri="{FF2B5EF4-FFF2-40B4-BE49-F238E27FC236}">
                <a16:creationId xmlns:a16="http://schemas.microsoft.com/office/drawing/2014/main" id="{EB0C1E96-4C8D-5B89-D1D8-E29938FC9704}"/>
              </a:ext>
            </a:extLst>
          </p:cNvPr>
          <p:cNvSpPr/>
          <p:nvPr/>
        </p:nvSpPr>
        <p:spPr>
          <a:xfrm>
            <a:off x="3001520" y="2310000"/>
            <a:ext cx="868320" cy="868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Icon 1">
            <a:extLst>
              <a:ext uri="{FF2B5EF4-FFF2-40B4-BE49-F238E27FC236}">
                <a16:creationId xmlns:a16="http://schemas.microsoft.com/office/drawing/2014/main" id="{0F426728-46A1-8D5B-49C7-D5A3289218E6}"/>
              </a:ext>
            </a:extLst>
          </p:cNvPr>
          <p:cNvSpPr/>
          <p:nvPr/>
        </p:nvSpPr>
        <p:spPr>
          <a:xfrm>
            <a:off x="3001520" y="2310000"/>
            <a:ext cx="868320" cy="8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  <a:ea typeface="Segoe UI Semibold" pitchFamily="34" charset="-122"/>
                <a:cs typeface="Segoe UI" panose="020B0502040204020203" pitchFamily="34" charset="0"/>
              </a:rPr>
              <a:t>R</a:t>
            </a:r>
            <a:endParaRPr lang="en-US" sz="2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903BFD-9ECE-74EC-0494-CD5146A1A7CE}"/>
              </a:ext>
            </a:extLst>
          </p:cNvPr>
          <p:cNvSpPr/>
          <p:nvPr/>
        </p:nvSpPr>
        <p:spPr>
          <a:xfrm>
            <a:off x="1280160" y="3300000"/>
            <a:ext cx="431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Researcher</a:t>
            </a:r>
            <a:endParaRPr lang="es-ES" sz="2000"/>
          </a:p>
        </p:txBody>
      </p:sp>
      <p:sp>
        <p:nvSpPr>
          <p:cNvPr id="8" name="Desc 1">
            <a:extLst>
              <a:ext uri="{FF2B5EF4-FFF2-40B4-BE49-F238E27FC236}">
                <a16:creationId xmlns:a16="http://schemas.microsoft.com/office/drawing/2014/main" id="{2557DE1E-965B-DC5E-8B7C-78708F7A0AE5}"/>
              </a:ext>
            </a:extLst>
          </p:cNvPr>
          <p:cNvSpPr/>
          <p:nvPr/>
        </p:nvSpPr>
        <p:spPr>
          <a:xfrm>
            <a:off x="1280160" y="3750000"/>
            <a:ext cx="43110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5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Aborda investigaciones complejas combinando el modelo de deep research de OpenAI con la orquestación y la búsqueda profunda de Copilot.</a:t>
            </a:r>
            <a:endParaRPr lang="es-ES" sz="1500"/>
          </a:p>
        </p:txBody>
      </p:sp>
      <p:sp>
        <p:nvSpPr>
          <p:cNvPr id="9" name="Quote Box 1">
            <a:extLst>
              <a:ext uri="{FF2B5EF4-FFF2-40B4-BE49-F238E27FC236}">
                <a16:creationId xmlns:a16="http://schemas.microsoft.com/office/drawing/2014/main" id="{AA0F69B1-09A3-2C0C-858A-A95E55F3A863}"/>
              </a:ext>
            </a:extLst>
          </p:cNvPr>
          <p:cNvSpPr/>
          <p:nvPr/>
        </p:nvSpPr>
        <p:spPr>
          <a:xfrm>
            <a:off x="1280160" y="4780000"/>
            <a:ext cx="4311040" cy="1280000"/>
          </a:xfrm>
          <a:prstGeom prst="roundRect">
            <a:avLst>
              <a:gd name="adj" fmla="val 8000"/>
            </a:avLst>
          </a:prstGeom>
          <a:solidFill>
            <a:srgbClr val="F5F0FF"/>
          </a:solidFill>
          <a:ln>
            <a:solidFill>
              <a:srgbClr val="7C3AED"/>
            </a:solidFill>
          </a:ln>
        </p:spPr>
        <p:txBody>
          <a:bodyPr wrap="square" lIns="182880" tIns="182880" rIns="182880" bIns="182880" rtlCol="0" anchor="ctr"/>
          <a:lstStyle/>
          <a:p>
            <a:pPr algn="ctr"/>
            <a:r>
              <a:rPr lang="es-ES" sz="1500" i="1">
                <a:solidFill>
                  <a:srgbClr val="1E293B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“Crea un plan de entrada al mercado analizando mis correos, reuniones y archivos junto con datos públicos del sector.”</a:t>
            </a:r>
            <a:endParaRPr lang="es-ES" sz="1500"/>
          </a:p>
        </p:txBody>
      </p:sp>
      <p:sp>
        <p:nvSpPr>
          <p:cNvPr id="10" name="Card 2">
            <a:extLst>
              <a:ext uri="{FF2B5EF4-FFF2-40B4-BE49-F238E27FC236}">
                <a16:creationId xmlns:a16="http://schemas.microsoft.com/office/drawing/2014/main" id="{106DFECB-9AD1-2A99-FC21-4EDA1971246E}"/>
              </a:ext>
            </a:extLst>
          </p:cNvPr>
          <p:cNvSpPr/>
          <p:nvPr/>
        </p:nvSpPr>
        <p:spPr>
          <a:xfrm>
            <a:off x="6296000" y="2202872"/>
            <a:ext cx="4920640" cy="39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Circle 2">
            <a:extLst>
              <a:ext uri="{FF2B5EF4-FFF2-40B4-BE49-F238E27FC236}">
                <a16:creationId xmlns:a16="http://schemas.microsoft.com/office/drawing/2014/main" id="{DE1B3365-59B5-6D6A-B8CC-6E92E2ADDFD7}"/>
              </a:ext>
            </a:extLst>
          </p:cNvPr>
          <p:cNvSpPr/>
          <p:nvPr/>
        </p:nvSpPr>
        <p:spPr>
          <a:xfrm>
            <a:off x="8322160" y="2310000"/>
            <a:ext cx="868320" cy="868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Icon 2">
            <a:extLst>
              <a:ext uri="{FF2B5EF4-FFF2-40B4-BE49-F238E27FC236}">
                <a16:creationId xmlns:a16="http://schemas.microsoft.com/office/drawing/2014/main" id="{0CE1AF7B-3958-3371-3525-51AD8A0BFBA9}"/>
              </a:ext>
            </a:extLst>
          </p:cNvPr>
          <p:cNvSpPr/>
          <p:nvPr/>
        </p:nvSpPr>
        <p:spPr>
          <a:xfrm>
            <a:off x="8322160" y="2310000"/>
            <a:ext cx="868320" cy="8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  <a:ea typeface="Segoe UI Semibold" pitchFamily="34" charset="-122"/>
                <a:cs typeface="Segoe UI" panose="020B0502040204020203" pitchFamily="34" charset="0"/>
              </a:rPr>
              <a:t>A</a:t>
            </a:r>
            <a:endParaRPr lang="en-US" sz="280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33391CAD-3D61-70A1-1CCE-4E3A61AC6598}"/>
              </a:ext>
            </a:extLst>
          </p:cNvPr>
          <p:cNvSpPr/>
          <p:nvPr/>
        </p:nvSpPr>
        <p:spPr>
          <a:xfrm>
            <a:off x="6600800" y="3300000"/>
            <a:ext cx="431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Analyst</a:t>
            </a:r>
            <a:endParaRPr lang="es-ES" sz="2000"/>
          </a:p>
        </p:txBody>
      </p:sp>
      <p:sp>
        <p:nvSpPr>
          <p:cNvPr id="14" name="Desc 2">
            <a:extLst>
              <a:ext uri="{FF2B5EF4-FFF2-40B4-BE49-F238E27FC236}">
                <a16:creationId xmlns:a16="http://schemas.microsoft.com/office/drawing/2014/main" id="{6D480052-7847-0382-AC41-D68E0BBDD97B}"/>
              </a:ext>
            </a:extLst>
          </p:cNvPr>
          <p:cNvSpPr/>
          <p:nvPr/>
        </p:nvSpPr>
        <p:spPr>
          <a:xfrm>
            <a:off x="6600800" y="3750000"/>
            <a:ext cx="43110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5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Razona sobre tus datos como un analista experto: convierte información en bruto en perspectivas y ejecuta análisis avanzados con Python.</a:t>
            </a:r>
            <a:endParaRPr lang="es-ES" sz="1500"/>
          </a:p>
        </p:txBody>
      </p:sp>
      <p:sp>
        <p:nvSpPr>
          <p:cNvPr id="15" name="Quote Box 2">
            <a:extLst>
              <a:ext uri="{FF2B5EF4-FFF2-40B4-BE49-F238E27FC236}">
                <a16:creationId xmlns:a16="http://schemas.microsoft.com/office/drawing/2014/main" id="{7B66FACF-6E36-77CC-C1DD-1E5412A8F3DA}"/>
              </a:ext>
            </a:extLst>
          </p:cNvPr>
          <p:cNvSpPr/>
          <p:nvPr/>
        </p:nvSpPr>
        <p:spPr>
          <a:xfrm>
            <a:off x="6600800" y="4780000"/>
            <a:ext cx="4311040" cy="128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3B82F6"/>
            </a:solidFill>
          </a:ln>
        </p:spPr>
        <p:txBody>
          <a:bodyPr wrap="square" lIns="182880" tIns="182880" rIns="182880" bIns="182880" rtlCol="0" anchor="ctr"/>
          <a:lstStyle/>
          <a:p>
            <a:pPr algn="ctr"/>
            <a:r>
              <a:rPr lang="es-ES" sz="1300" i="1">
                <a:solidFill>
                  <a:srgbClr val="1E293B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“Analiza estas hojas de cálculo de ventas, detecta tendencias y genera un resumen con las cifras clave del trimestre.”</a:t>
            </a:r>
            <a:endParaRPr lang="es-ES" sz="1300"/>
          </a:p>
        </p:txBody>
      </p:sp>
      <p:pic>
        <p:nvPicPr>
          <p:cNvPr id="16" name="Image 0" descr="Banda decorativa superior">
            <a:extLst>
              <a:ext uri="{FF2B5EF4-FFF2-40B4-BE49-F238E27FC236}">
                <a16:creationId xmlns:a16="http://schemas.microsoft.com/office/drawing/2014/main" id="{271B2E5C-402F-408A-6010-E416EE0F8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40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700B-03EE-D34B-F1E4-A803BAF8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B71F43-FD70-69A4-435E-7B74AD98BCA1}"/>
              </a:ext>
            </a:extLst>
          </p:cNvPr>
          <p:cNvSpPr/>
          <p:nvPr/>
        </p:nvSpPr>
        <p:spPr>
          <a:xfrm>
            <a:off x="975360" y="548640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Casos de uso de agentes por área</a:t>
            </a:r>
            <a:endParaRPr lang="en-US" sz="32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3" name="Image 0" descr="Imagen ilustrativa relacionada con Casos de uso en el mundo profesional">
            <a:extLst>
              <a:ext uri="{FF2B5EF4-FFF2-40B4-BE49-F238E27FC236}">
                <a16:creationId xmlns:a16="http://schemas.microsoft.com/office/drawing/2014/main" id="{E96C5F7E-4D39-A0CE-84FE-B13B5CB40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24" name="Info Bar">
            <a:extLst>
              <a:ext uri="{FF2B5EF4-FFF2-40B4-BE49-F238E27FC236}">
                <a16:creationId xmlns:a16="http://schemas.microsoft.com/office/drawing/2014/main" id="{3F893DA0-3C6C-95DC-B342-20FD4AF0A785}"/>
              </a:ext>
            </a:extLst>
          </p:cNvPr>
          <p:cNvSpPr/>
          <p:nvPr/>
        </p:nvSpPr>
        <p:spPr>
          <a:xfrm>
            <a:off x="975360" y="6251900"/>
            <a:ext cx="10241280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21B6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26" name="Info Text">
            <a:extLst>
              <a:ext uri="{FF2B5EF4-FFF2-40B4-BE49-F238E27FC236}">
                <a16:creationId xmlns:a16="http://schemas.microsoft.com/office/drawing/2014/main" id="{C998A493-7C0E-C5B0-4BA3-04C3F032D705}"/>
              </a:ext>
            </a:extLst>
          </p:cNvPr>
          <p:cNvSpPr/>
          <p:nvPr/>
        </p:nvSpPr>
        <p:spPr>
          <a:xfrm>
            <a:off x="3352801" y="6121271"/>
            <a:ext cx="95166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Los agentes </a:t>
            </a:r>
            <a:r>
              <a:rPr lang="es-ES" sz="1600" b="1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automatizan</a:t>
            </a:r>
            <a:r>
              <a:rPr lang="es-ES" sz="160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lo rutinario; la </a:t>
            </a:r>
            <a:r>
              <a:rPr lang="es-ES" sz="1600" b="1">
                <a:solidFill>
                  <a:srgbClr val="FFFFFF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decisión final</a:t>
            </a:r>
            <a:r>
              <a:rPr lang="es-ES" sz="160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es siempre humana</a:t>
            </a:r>
            <a:r>
              <a:rPr lang="es-ES" sz="1600">
                <a:solidFill>
                  <a:srgbClr val="E8D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ES" sz="1600"/>
          </a:p>
        </p:txBody>
      </p:sp>
      <p:graphicFrame>
        <p:nvGraphicFramePr>
          <p:cNvPr id="900" name="Expos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286075"/>
              </p:ext>
            </p:extLst>
          </p:nvPr>
        </p:nvGraphicFramePr>
        <p:xfrm>
          <a:off x="1915807" y="1219200"/>
          <a:ext cx="8360385" cy="301362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960385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s-ES" sz="13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Área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Agente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Qué automatiza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Atención al cliente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Soporte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Responde consultas frecuentes y crea tickets automáticamente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Ventas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Prospección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Investiga cuentas, prepara reuniones y redacta seguimientos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Recursos Humanos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Onboarding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Resuelve dudas de empleados y guía sus primeros pasos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TI y soporte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Help desk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Atiende incidencias y automatiza tareas repetitivas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Finanzas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Informes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Recopila datos y genera resúmenes e informes periódicos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Marketing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Contenido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Investiga tendencias y prepara borradores de campañas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LLMBar">
            <a:extLst>
              <a:ext uri="{FF2B5EF4-FFF2-40B4-BE49-F238E27FC236}">
                <a16:creationId xmlns:a16="http://schemas.microsoft.com/office/drawing/2014/main" id="{08EC287B-7BA7-8102-0F88-4FF5820D72F3}"/>
              </a:ext>
            </a:extLst>
          </p:cNvPr>
          <p:cNvSpPr/>
          <p:nvPr/>
        </p:nvSpPr>
        <p:spPr>
          <a:xfrm>
            <a:off x="1989549" y="1305585"/>
            <a:ext cx="2914290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Área</a:t>
            </a:r>
            <a:endParaRPr lang="es-ES" sz="1600"/>
          </a:p>
        </p:txBody>
      </p:sp>
      <p:sp>
        <p:nvSpPr>
          <p:cNvPr id="33" name="LLMBar">
            <a:extLst>
              <a:ext uri="{FF2B5EF4-FFF2-40B4-BE49-F238E27FC236}">
                <a16:creationId xmlns:a16="http://schemas.microsoft.com/office/drawing/2014/main" id="{A75E938A-FFA3-DD8E-C2B3-CA59B6561F60}"/>
              </a:ext>
            </a:extLst>
          </p:cNvPr>
          <p:cNvSpPr/>
          <p:nvPr/>
        </p:nvSpPr>
        <p:spPr>
          <a:xfrm>
            <a:off x="4977581" y="1305585"/>
            <a:ext cx="1118419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Agente</a:t>
            </a:r>
          </a:p>
        </p:txBody>
      </p:sp>
      <p:sp>
        <p:nvSpPr>
          <p:cNvPr id="34" name="LLMBar">
            <a:extLst>
              <a:ext uri="{FF2B5EF4-FFF2-40B4-BE49-F238E27FC236}">
                <a16:creationId xmlns:a16="http://schemas.microsoft.com/office/drawing/2014/main" id="{D654EF9B-289E-A435-0F28-65F4935EAA10}"/>
              </a:ext>
            </a:extLst>
          </p:cNvPr>
          <p:cNvSpPr/>
          <p:nvPr/>
        </p:nvSpPr>
        <p:spPr>
          <a:xfrm>
            <a:off x="6169741" y="1305585"/>
            <a:ext cx="4032709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Qué automatiza</a:t>
            </a:r>
          </a:p>
        </p:txBody>
      </p:sp>
    </p:spTree>
    <p:extLst>
      <p:ext uri="{BB962C8B-B14F-4D97-AF65-F5344CB8AC3E}">
        <p14:creationId xmlns:p14="http://schemas.microsoft.com/office/powerpoint/2010/main" val="1132643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— Agentes de IA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Los agentes llevan a Copilot de asistente a colaborador: combinan instrucciones, conocimiento y acciones para automatizar tareas completas, siempre bajo los permisos y el gobierno de tu organización.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Qué es un agente de IA: LLM más instrucciones, conocimiento y acciones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Tipos de agentes: declarativos y con motor propio (custom engine)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Creación de agentes con Copilot Studio y publicación en el Agent Store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Agentes de razonamiento: Researcher y Analyst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Casos de uso por área y gobierno con Microsoft Graph y Agent 365</a:t>
            </a: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>
                <a:solidFill>
                  <a:srgbClr val="F8FAFC"/>
                </a:solidFill>
                <a:latin typeface="Segoe UI"/>
              </a:rPr>
              <a:t>Microsoft Learn — Agentes para Microsoft 365 Copilot</a:t>
            </a:r>
            <a:r>
              <a:rPr lang="es-ES" sz="1300">
                <a:solidFill>
                  <a:srgbClr val="CBD5E1"/>
                </a:solidFill>
                <a:latin typeface="Segoe UI"/>
              </a:rPr>
              <a:t>  ·  learn.microsoft.com/microsoft-365/copilot/extensibility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>
                <a:solidFill>
                  <a:srgbClr val="F8FAFC"/>
                </a:solidFill>
                <a:latin typeface="Segoe UI"/>
              </a:rPr>
              <a:t>Microsoft Copilot Studio — Crea tus agentes</a:t>
            </a:r>
            <a:r>
              <a:rPr lang="es-ES" sz="1300">
                <a:solidFill>
                  <a:srgbClr val="CBD5E1"/>
                </a:solidFill>
                <a:latin typeface="Segoe UI"/>
              </a:rPr>
              <a:t>  ·  microsoft.com/microsoft-copilot/microsoft-copilot-studio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>
                <a:solidFill>
                  <a:srgbClr val="F8FAFC"/>
                </a:solidFill>
                <a:latin typeface="Segoe UI"/>
              </a:rPr>
              <a:t>Agent Store en Microsoft 365 Copilot</a:t>
            </a:r>
            <a:r>
              <a:rPr lang="es-ES" sz="1300">
                <a:solidFill>
                  <a:srgbClr val="CBD5E1"/>
                </a:solidFill>
                <a:latin typeface="Segoe UI"/>
              </a:rPr>
              <a:t>  ·  learn.microsoft.com/microsoft-365/copilot/copilot-agent-store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D89CD-66F9-A698-85B7-0D58EA9FB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80494CC-38D8-D873-3891-3B55A8EB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7B7A525-96D5-5CD3-E7E6-EDD93531C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4AB0244-D500-4384-3B2F-AD68E45D7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6339685-65F0-AB54-B7AF-6591A56DF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12A5B-CB36-8E90-606E-3ACE8F333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22A1CBC-E153-D09B-4607-C6653DB03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F13F70-5370-D95B-A596-AB898A680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EECE3B2-786B-F232-FEDE-064540A6A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00CFE2F-2649-25AA-1B8D-EBC7C90BD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B0F1424-574A-CA94-B23C-E3B5556AF7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C5862504-9742-95F6-BA5A-27462780B168}"/>
              </a:ext>
            </a:extLst>
          </p:cNvPr>
          <p:cNvSpPr txBox="1">
            <a:spLocks/>
          </p:cNvSpPr>
          <p:nvPr/>
        </p:nvSpPr>
        <p:spPr>
          <a:xfrm>
            <a:off x="3102552" y="224178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3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Copilot CoWork</a:t>
            </a:r>
            <a:endParaRPr kumimoji="0" lang="en-US" sz="5200" b="0" i="0" u="none" strike="noStrike" kern="1200" cap="none" spc="30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64062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FF67-0E86-68C6-DB2C-D9CAA4F9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LMBar"/>
          <p:cNvSpPr/>
          <p:nvPr/>
        </p:nvSpPr>
        <p:spPr>
          <a:xfrm>
            <a:off x="962400" y="1488031"/>
            <a:ext cx="10267200" cy="619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endParaRPr lang="es-ES"/>
          </a:p>
        </p:txBody>
      </p:sp>
      <p:pic>
        <p:nvPicPr>
          <p:cNvPr id="2" name="TopBar" descr="Imagen relacionada con ¿Qué es un agente de IA?">
            <a:extLst>
              <a:ext uri="{FF2B5EF4-FFF2-40B4-BE49-F238E27FC236}">
                <a16:creationId xmlns:a16="http://schemas.microsoft.com/office/drawing/2014/main" id="{3F68237D-A50B-355F-E1EE-18F6E6A7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467301CA-B03A-A378-6A19-48F3F22C7652}"/>
              </a:ext>
            </a:extLst>
          </p:cNvPr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3200" b="1">
                <a:latin typeface="Segoe UI Semibold"/>
                <a:ea typeface="Segoe UI Semibold"/>
                <a:cs typeface="Segoe UI Semibold"/>
              </a:rPr>
              <a:t>¿Qué es </a:t>
            </a:r>
            <a:r>
              <a:rPr lang="es-ES" sz="3200">
                <a:gradFill>
                  <a:gsLst>
                    <a:gs pos="0">
                      <a:srgbClr val="0D9488"/>
                    </a:gs>
                    <a:gs pos="50000">
                      <a:srgbClr val="3B82F6"/>
                    </a:gs>
                    <a:gs pos="100000">
                      <a:srgbClr val="7C3AED"/>
                    </a:gs>
                  </a:gsLst>
                  <a:lin ang="0" scaled="1"/>
                </a:gradFill>
                <a:latin typeface="Segoe UI Semibold"/>
                <a:ea typeface="Segoe UI Semibold"/>
                <a:cs typeface="Segoe UI Semibold"/>
              </a:rPr>
              <a:t>Copilot Cowork</a:t>
            </a:r>
            <a:r>
              <a:rPr lang="es-ES" sz="3200" b="1">
                <a:latin typeface="Segoe UI Semibold"/>
                <a:ea typeface="Segoe UI Semibold"/>
                <a:cs typeface="Segoe UI Semibold"/>
              </a:rPr>
              <a:t>?</a:t>
            </a:r>
          </a:p>
        </p:txBody>
      </p:sp>
      <p:sp>
        <p:nvSpPr>
          <p:cNvPr id="500" name="LLMStepDesc"/>
          <p:cNvSpPr/>
          <p:nvPr/>
        </p:nvSpPr>
        <p:spPr>
          <a:xfrm>
            <a:off x="1452790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Describes en lenguaje natural el resultado que necesitas y Cowork lo convierte en un plan.</a:t>
            </a:r>
          </a:p>
        </p:txBody>
      </p:sp>
      <p:sp>
        <p:nvSpPr>
          <p:cNvPr id="5" name="SummaryText">
            <a:extLst>
              <a:ext uri="{FF2B5EF4-FFF2-40B4-BE49-F238E27FC236}">
                <a16:creationId xmlns:a16="http://schemas.microsoft.com/office/drawing/2014/main" id="{512CA3B5-C808-898C-5F73-DE99B7BA4541}"/>
              </a:ext>
            </a:extLst>
          </p:cNvPr>
          <p:cNvSpPr/>
          <p:nvPr/>
        </p:nvSpPr>
        <p:spPr>
          <a:xfrm>
            <a:off x="962400" y="1494390"/>
            <a:ext cx="10267200" cy="619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2000" b="1">
                <a:solidFill>
                  <a:srgbClr val="FFFFFF"/>
                </a:solidFill>
                <a:latin typeface="Segoe UI Semibold"/>
                <a:cs typeface="Segoe UI Semibold"/>
              </a:rPr>
              <a:t>De asistente a compañero de trabajo</a:t>
            </a:r>
            <a:endParaRPr lang="es-ES" sz="1600" b="1">
              <a:solidFill>
                <a:srgbClr val="D6F4F0"/>
              </a:solidFill>
              <a:latin typeface="Segoe UI"/>
              <a:cs typeface="Segoe UI"/>
            </a:endParaRPr>
          </a:p>
          <a:p>
            <a:pPr algn="ctr"/>
            <a:r>
              <a:rPr lang="es-ES" sz="1600">
                <a:solidFill>
                  <a:schemeClr val="bg1">
                    <a:lumMod val="95000"/>
                  </a:schemeClr>
                </a:solidFill>
                <a:latin typeface="Segoe UI"/>
                <a:cs typeface="Segoe UI"/>
              </a:rPr>
              <a:t>Planifica, ejecuta y entrega trabajo de varios pasos en Microsoft 365.</a:t>
            </a:r>
          </a:p>
        </p:txBody>
      </p:sp>
      <p:sp>
        <p:nvSpPr>
          <p:cNvPr id="25" name="Desc3">
            <a:extLst>
              <a:ext uri="{FF2B5EF4-FFF2-40B4-BE49-F238E27FC236}">
                <a16:creationId xmlns:a16="http://schemas.microsoft.com/office/drawing/2014/main" id="{C1ECC5B9-CF5D-0195-24F6-75CB29DC508F}"/>
              </a:ext>
            </a:extLst>
          </p:cNvPr>
          <p:cNvSpPr/>
          <p:nvPr/>
        </p:nvSpPr>
        <p:spPr>
          <a:xfrm>
            <a:off x="5424082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Trabaja en segundo plano entre Outlook, Teams, Word y Excel, encadenando los pasos necesarios.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6090BC-0859-DC11-CAE0-AC703F56E730}"/>
              </a:ext>
            </a:extLst>
          </p:cNvPr>
          <p:cNvGrpSpPr/>
          <p:nvPr/>
        </p:nvGrpSpPr>
        <p:grpSpPr>
          <a:xfrm>
            <a:off x="1518196" y="2776062"/>
            <a:ext cx="8717280" cy="1724240"/>
            <a:chOff x="2385124" y="2767431"/>
            <a:chExt cx="8717280" cy="1724240"/>
          </a:xfrm>
        </p:grpSpPr>
        <p:sp>
          <p:nvSpPr>
            <p:cNvPr id="101" name="Conn2">
              <a:extLst>
                <a:ext uri="{FF2B5EF4-FFF2-40B4-BE49-F238E27FC236}">
                  <a16:creationId xmlns:a16="http://schemas.microsoft.com/office/drawing/2014/main" id="{E297F6B4-1355-8498-5CB0-86B28F6EA5D6}"/>
                </a:ext>
              </a:extLst>
            </p:cNvPr>
            <p:cNvSpPr/>
            <p:nvPr/>
          </p:nvSpPr>
          <p:spPr>
            <a:xfrm>
              <a:off x="4043364" y="3241712"/>
              <a:ext cx="2974720" cy="4571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2" name="Conn3">
              <a:extLst>
                <a:ext uri="{FF2B5EF4-FFF2-40B4-BE49-F238E27FC236}">
                  <a16:creationId xmlns:a16="http://schemas.microsoft.com/office/drawing/2014/main" id="{930D69FB-86DC-3C94-ACF9-FA29BF3406D7}"/>
                </a:ext>
              </a:extLst>
            </p:cNvPr>
            <p:cNvSpPr/>
            <p:nvPr/>
          </p:nvSpPr>
          <p:spPr>
            <a:xfrm>
              <a:off x="7749604" y="3247431"/>
              <a:ext cx="1828800" cy="400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1" name="LLMStepCircle"/>
            <p:cNvSpPr/>
            <p:nvPr/>
          </p:nvSpPr>
          <p:spPr>
            <a:xfrm>
              <a:off x="3043364" y="2767431"/>
              <a:ext cx="1000000" cy="1000000"/>
            </a:xfrm>
            <a:prstGeom prst="ellipse">
              <a:avLst/>
            </a:prstGeom>
            <a:gradFill>
              <a:gsLst>
                <a:gs pos="0">
                  <a:srgbClr val="3B82F6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  <a:effectLst>
              <a:outerShdw blurRad="80000" dist="20000" dir="5400000" algn="bl" rotWithShape="0">
                <a:srgbClr val="000000">
                  <a:alpha val="20000"/>
                </a:srgbClr>
              </a:outerShdw>
            </a:effectLst>
          </p:spPr>
          <p:txBody>
            <a:bodyPr wrap="none" lIns="0" tIns="0" rIns="0" bIns="0" anchor="ctr"/>
            <a:lstStyle/>
            <a:p>
              <a:endParaRPr lang="es-ES"/>
            </a:p>
          </p:txBody>
        </p:sp>
        <p:pic>
          <p:nvPicPr>
            <p:cNvPr id="600" name="BrainGearsIcon" descr="Icono ilustrativo en la diapositiva sobre ¿Qué es un agente de IA?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3364" y="2967431"/>
              <a:ext cx="600000" cy="600000"/>
            </a:xfrm>
            <a:prstGeom prst="rect">
              <a:avLst/>
            </a:prstGeom>
          </p:spPr>
        </p:pic>
        <p:sp>
          <p:nvSpPr>
            <p:cNvPr id="12" name="Circle3">
              <a:extLst>
                <a:ext uri="{FF2B5EF4-FFF2-40B4-BE49-F238E27FC236}">
                  <a16:creationId xmlns:a16="http://schemas.microsoft.com/office/drawing/2014/main" id="{FA2052A9-832D-2EFD-5740-85BCB649F69F}"/>
                </a:ext>
              </a:extLst>
            </p:cNvPr>
            <p:cNvSpPr/>
            <p:nvPr/>
          </p:nvSpPr>
          <p:spPr>
            <a:xfrm>
              <a:off x="7018084" y="2901671"/>
              <a:ext cx="731520" cy="731520"/>
            </a:xfrm>
            <a:prstGeom prst="ellipse">
              <a:avLst/>
            </a:prstGeom>
            <a:solidFill>
              <a:srgbClr val="5B5BEC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endParaRPr lang="es-ES"/>
            </a:p>
          </p:txBody>
        </p:sp>
        <p:pic>
          <p:nvPicPr>
            <p:cNvPr id="601" name="ChatIcon" descr="Icono ilustrativo en la diapositiva sobre ¿Qué es un agente de IA?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58844" y="3042431"/>
              <a:ext cx="450000" cy="450000"/>
            </a:xfrm>
            <a:prstGeom prst="rect">
              <a:avLst/>
            </a:prstGeom>
          </p:spPr>
        </p:pic>
        <p:sp>
          <p:nvSpPr>
            <p:cNvPr id="13" name="Circle4">
              <a:extLst>
                <a:ext uri="{FF2B5EF4-FFF2-40B4-BE49-F238E27FC236}">
                  <a16:creationId xmlns:a16="http://schemas.microsoft.com/office/drawing/2014/main" id="{D4BD43D2-B218-B93A-6D2A-7489A5E020DC}"/>
                </a:ext>
              </a:extLst>
            </p:cNvPr>
            <p:cNvSpPr/>
            <p:nvPr/>
          </p:nvSpPr>
          <p:spPr>
            <a:xfrm>
              <a:off x="9578404" y="2901671"/>
              <a:ext cx="731520" cy="73152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endParaRPr lang="es-ES"/>
            </a:p>
          </p:txBody>
        </p:sp>
        <p:pic>
          <p:nvPicPr>
            <p:cNvPr id="602" name="TokenIcon" descr="Icono ilustrativo en la diapositiva sobre ¿Qué es un agente de IA?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19164" y="3042431"/>
              <a:ext cx="450000" cy="450000"/>
            </a:xfrm>
            <a:prstGeom prst="rect">
              <a:avLst/>
            </a:prstGeom>
          </p:spPr>
        </p:pic>
        <p:sp>
          <p:nvSpPr>
            <p:cNvPr id="502" name="LLMStepTitle"/>
            <p:cNvSpPr/>
            <p:nvPr/>
          </p:nvSpPr>
          <p:spPr>
            <a:xfrm>
              <a:off x="238512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Delegas</a:t>
              </a:r>
            </a:p>
          </p:txBody>
        </p:sp>
        <p:sp>
          <p:nvSpPr>
            <p:cNvPr id="24" name="Title3">
              <a:extLst>
                <a:ext uri="{FF2B5EF4-FFF2-40B4-BE49-F238E27FC236}">
                  <a16:creationId xmlns:a16="http://schemas.microsoft.com/office/drawing/2014/main" id="{667FCF1F-C2A4-918E-8DB3-347D76D400E6}"/>
                </a:ext>
              </a:extLst>
            </p:cNvPr>
            <p:cNvSpPr/>
            <p:nvPr/>
          </p:nvSpPr>
          <p:spPr>
            <a:xfrm>
              <a:off x="622560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Planifica</a:t>
              </a:r>
            </a:p>
          </p:txBody>
        </p:sp>
        <p:sp>
          <p:nvSpPr>
            <p:cNvPr id="26" name="Title4">
              <a:extLst>
                <a:ext uri="{FF2B5EF4-FFF2-40B4-BE49-F238E27FC236}">
                  <a16:creationId xmlns:a16="http://schemas.microsoft.com/office/drawing/2014/main" id="{CCA1BF3F-572C-78A2-E67A-0D2E77E0B758}"/>
                </a:ext>
              </a:extLst>
            </p:cNvPr>
            <p:cNvSpPr/>
            <p:nvPr/>
          </p:nvSpPr>
          <p:spPr>
            <a:xfrm>
              <a:off x="8785924" y="3791671"/>
              <a:ext cx="2316480" cy="7000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t"/>
            <a:lstStyle/>
            <a:p>
              <a:pPr algn="ctr"/>
              <a:r>
                <a:rPr lang="es-ES" sz="1600" b="1">
                  <a:solidFill>
                    <a:srgbClr val="1E293B"/>
                  </a:solidFill>
                  <a:latin typeface="Segoe UI Semibold"/>
                  <a:cs typeface="Segoe UI Semibold"/>
                </a:rPr>
                <a:t>Entrega</a:t>
              </a:r>
            </a:p>
          </p:txBody>
        </p:sp>
      </p:grpSp>
      <p:sp>
        <p:nvSpPr>
          <p:cNvPr id="27" name="Desc4">
            <a:extLst>
              <a:ext uri="{FF2B5EF4-FFF2-40B4-BE49-F238E27FC236}">
                <a16:creationId xmlns:a16="http://schemas.microsoft.com/office/drawing/2014/main" id="{D407BBD3-43C7-430F-203E-8F3899FB79AE}"/>
              </a:ext>
            </a:extLst>
          </p:cNvPr>
          <p:cNvSpPr/>
          <p:nvPr/>
        </p:nvSpPr>
        <p:spPr>
          <a:xfrm>
            <a:off x="7984402" y="4183372"/>
            <a:ext cx="2316480" cy="1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300">
                <a:solidFill>
                  <a:srgbClr val="64748B"/>
                </a:solidFill>
                <a:latin typeface="Segoe UI"/>
                <a:cs typeface="Segoe UI"/>
              </a:rPr>
              <a:t>Devuelve el trabajo terminado; tú revisas y apruebas cada acción antes de que ocurra.</a:t>
            </a:r>
          </a:p>
        </p:txBody>
      </p:sp>
    </p:spTree>
    <p:extLst>
      <p:ext uri="{BB962C8B-B14F-4D97-AF65-F5344CB8AC3E}">
        <p14:creationId xmlns:p14="http://schemas.microsoft.com/office/powerpoint/2010/main" val="13170489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975360" y="380000"/>
            <a:ext cx="10241280" cy="7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3200" b="1">
                <a:solidFill>
                  <a:srgbClr val="1E293B"/>
                </a:solidFill>
                <a:latin typeface="Segoe UI Semibold"/>
                <a:cs typeface="Segoe UI Semibold"/>
              </a:rPr>
              <a:t>Qué puede hacer Copilot Cowork</a:t>
            </a:r>
          </a:p>
        </p:txBody>
      </p:sp>
      <p:sp>
        <p:nvSpPr>
          <p:cNvPr id="4" name="Description"/>
          <p:cNvSpPr/>
          <p:nvPr/>
        </p:nvSpPr>
        <p:spPr>
          <a:xfrm>
            <a:off x="1500000" y="1130844"/>
            <a:ext cx="9192000" cy="9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600">
                <a:solidFill>
                  <a:srgbClr val="475569"/>
                </a:solidFill>
                <a:latin typeface="Segoe UI"/>
                <a:cs typeface="Segoe UI"/>
              </a:rPr>
              <a:t>Cowork ejecuta tareas reales de principio a fin en tus aplicaciones de Microsoft 365.</a:t>
            </a:r>
          </a:p>
        </p:txBody>
      </p:sp>
      <p:sp>
        <p:nvSpPr>
          <p:cNvPr id="10" name="BasicCard"/>
          <p:cNvSpPr/>
          <p:nvPr/>
        </p:nvSpPr>
        <p:spPr>
          <a:xfrm>
            <a:off x="975360" y="2350000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BasicBadge"/>
          <p:cNvSpPr/>
          <p:nvPr/>
        </p:nvSpPr>
        <p:spPr>
          <a:xfrm>
            <a:off x="1175360" y="2470000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0D9488"/>
              </a:gs>
              <a:gs pos="100000">
                <a:srgbClr val="14A8BC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emibold"/>
                <a:cs typeface="Segoe UI Semibold"/>
              </a:rPr>
              <a:t>Comunicación y coordinación</a:t>
            </a:r>
          </a:p>
        </p:txBody>
      </p:sp>
      <p:sp>
        <p:nvSpPr>
          <p:cNvPr id="12" name="BasicList"/>
          <p:cNvSpPr/>
          <p:nvPr/>
        </p:nvSpPr>
        <p:spPr>
          <a:xfrm>
            <a:off x="1275360" y="3100000"/>
            <a:ext cx="4370000" cy="24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Redacta y envía correos en Outlook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Programa reuniones y gestiona tu calendario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Publica mensajes en canales y chats de Teams</a:t>
            </a:r>
            <a:endParaRPr lang="es-ES" sz="1600">
              <a:solidFill>
                <a:srgbClr val="1E293B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Busca información en toda tu organización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Prepara briefings diarios y resúmenes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Redacta comunicaciones para tus interlocutores</a:t>
            </a:r>
          </a:p>
        </p:txBody>
      </p:sp>
      <p:sp>
        <p:nvSpPr>
          <p:cNvPr id="20" name="LicensedCard"/>
          <p:cNvSpPr/>
          <p:nvPr/>
        </p:nvSpPr>
        <p:spPr>
          <a:xfrm>
            <a:off x="6246640" y="2350000"/>
            <a:ext cx="4970000" cy="330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LicensedBadge"/>
          <p:cNvSpPr/>
          <p:nvPr/>
        </p:nvSpPr>
        <p:spPr>
          <a:xfrm>
            <a:off x="6446640" y="2470000"/>
            <a:ext cx="4570000" cy="500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Segoe UI Semibold"/>
                <a:cs typeface="Segoe UI Semibold"/>
              </a:rPr>
              <a:t>Documentos e investigación</a:t>
            </a:r>
          </a:p>
        </p:txBody>
      </p:sp>
      <p:sp>
        <p:nvSpPr>
          <p:cNvPr id="22" name="LicensedList"/>
          <p:cNvSpPr/>
          <p:nvPr/>
        </p:nvSpPr>
        <p:spPr>
          <a:xfrm>
            <a:off x="6546640" y="2992424"/>
            <a:ext cx="4370000" cy="24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b="1">
                <a:solidFill>
                  <a:srgbClr val="7C3AED"/>
                </a:solidFill>
                <a:latin typeface="Segoe UI Semibold"/>
              </a:rPr>
              <a:t>Crea documentos de Word, Excel, PowerPoint y PDF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Gestiona archivos en OneDrive y SharePoint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 err="1">
                <a:solidFill>
                  <a:srgbClr val="1E293B"/>
                </a:solidFill>
                <a:latin typeface="Segoe UI"/>
              </a:rPr>
              <a:t>Realiza investigación profunda en varias fuentes</a:t>
            </a:r>
            <a:endParaRPr lang="es-ES" sz="1600">
              <a:solidFill>
                <a:srgbClr val="1E293B"/>
              </a:solidFill>
              <a:latin typeface="Segoe UI"/>
            </a:endParaRP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Compila análisis completos y estructurados</a:t>
            </a:r>
          </a:p>
          <a:p>
            <a:pPr marL="228600" indent="-228600">
              <a:lnSpc>
                <a:spcPct val="150000"/>
              </a:lnSpc>
              <a:buFont typeface="Arial"/>
              <a:buChar char="•"/>
            </a:pPr>
            <a:r>
              <a:rPr lang="es-ES" sz="1600">
                <a:solidFill>
                  <a:srgbClr val="1E293B"/>
                </a:solidFill>
                <a:latin typeface="Segoe UI"/>
              </a:rPr>
              <a:t>Compara y procesa grandes volúmenes de archivos</a:t>
            </a:r>
          </a:p>
        </p:txBody>
      </p:sp>
      <p:sp>
        <p:nvSpPr>
          <p:cNvPr id="30" name="SecurityNote"/>
          <p:cNvSpPr/>
          <p:nvPr/>
        </p:nvSpPr>
        <p:spPr>
          <a:xfrm>
            <a:off x="975360" y="5950000"/>
            <a:ext cx="10241280" cy="6800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noFill/>
          </a:ln>
        </p:spPr>
        <p:txBody>
          <a:bodyPr wrap="square" lIns="228600" tIns="0" rIns="228600" bIns="0" anchor="ctr"/>
          <a:lstStyle/>
          <a:p>
            <a:pPr algn="ctr"/>
            <a:r>
              <a:rPr lang="es-ES" sz="1400" b="1">
                <a:solidFill>
                  <a:srgbClr val="92400E"/>
                </a:solidFill>
                <a:latin typeface="Segoe UI Semibold"/>
                <a:cs typeface="Segoe UI Semibold"/>
              </a:rPr>
              <a:t>⚠ Recuerda: </a:t>
            </a:r>
            <a:r>
              <a:rPr lang="es-ES" sz="1400">
                <a:solidFill>
                  <a:srgbClr val="92400E"/>
                </a:solidFill>
                <a:latin typeface="Segoe UI"/>
                <a:cs typeface="Segoe UI"/>
              </a:rPr>
              <a:t>Cowork hereda los permisos de cada usuario y tú apruebas cada acción antes de que se ejecute.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D25D-7D34-E345-3C2A-A55186DA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88FD4A9A-B888-6202-2437-225F7E4C8AA1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07C6F92-DBFD-970E-C63B-861EBD2EFFBD}"/>
              </a:ext>
            </a:extLst>
          </p:cNvPr>
          <p:cNvSpPr/>
          <p:nvPr/>
        </p:nvSpPr>
        <p:spPr>
          <a:xfrm>
            <a:off x="600000" y="320000"/>
            <a:ext cx="10992000" cy="5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3000" b="1">
                <a:solidFill>
                  <a:srgbClr val="1E293B"/>
                </a:solidFill>
                <a:latin typeface="Segoe UI Semibold"/>
              </a:rPr>
              <a:t>Cómo trabajas con </a:t>
            </a:r>
            <a:r>
              <a:rPr lang="es-ES" sz="3000" b="1">
                <a:latin typeface="Segoe UI Semibold"/>
              </a:rPr>
              <a:t>Copilot Cowork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BB0BB56-446E-3B5E-57F4-A16051E6B048}"/>
              </a:ext>
            </a:extLst>
          </p:cNvPr>
          <p:cNvSpPr/>
          <p:nvPr/>
        </p:nvSpPr>
        <p:spPr>
          <a:xfrm>
            <a:off x="1500000" y="900000"/>
            <a:ext cx="9192000" cy="4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500">
                <a:solidFill>
                  <a:srgbClr val="475569"/>
                </a:solidFill>
                <a:latin typeface="Segoe UI"/>
              </a:rPr>
              <a:t>Delegas una tarea y Cowork la lleva a cabo de principio a fin, sin perder el control.</a:t>
            </a:r>
          </a:p>
        </p:txBody>
      </p:sp>
      <p:sp>
        <p:nvSpPr>
          <p:cNvPr id="5" name="SchemaHeading">
            <a:extLst>
              <a:ext uri="{FF2B5EF4-FFF2-40B4-BE49-F238E27FC236}">
                <a16:creationId xmlns:a16="http://schemas.microsoft.com/office/drawing/2014/main" id="{68FC971E-EB4E-2842-E486-80969A5D6C2C}"/>
              </a:ext>
            </a:extLst>
          </p:cNvPr>
          <p:cNvSpPr/>
          <p:nvPr/>
        </p:nvSpPr>
        <p:spPr>
          <a:xfrm>
            <a:off x="600000" y="1620000"/>
            <a:ext cx="10992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s-ES" sz="1300" b="1">
                <a:solidFill>
                  <a:srgbClr val="334155"/>
                </a:solidFill>
                <a:latin typeface="Segoe UI Semibold"/>
              </a:rPr>
              <a:t>De la intención a la acción en cuatro pasos</a:t>
            </a:r>
          </a:p>
        </p:txBody>
      </p:sp>
      <p:sp>
        <p:nvSpPr>
          <p:cNvPr id="6" name="ConnLine">
            <a:extLst>
              <a:ext uri="{FF2B5EF4-FFF2-40B4-BE49-F238E27FC236}">
                <a16:creationId xmlns:a16="http://schemas.microsoft.com/office/drawing/2014/main" id="{19072A28-CA14-87FE-4D27-4856F2347BEC}"/>
              </a:ext>
            </a:extLst>
          </p:cNvPr>
          <p:cNvSpPr/>
          <p:nvPr/>
        </p:nvSpPr>
        <p:spPr>
          <a:xfrm>
            <a:off x="2346000" y="2542000"/>
            <a:ext cx="7500000" cy="16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Step1Circle">
            <a:extLst>
              <a:ext uri="{FF2B5EF4-FFF2-40B4-BE49-F238E27FC236}">
                <a16:creationId xmlns:a16="http://schemas.microsoft.com/office/drawing/2014/main" id="{1E506255-2111-D3C2-0841-455290019B27}"/>
              </a:ext>
            </a:extLst>
          </p:cNvPr>
          <p:cNvSpPr/>
          <p:nvPr/>
        </p:nvSpPr>
        <p:spPr>
          <a:xfrm>
            <a:off x="1896000" y="2100000"/>
            <a:ext cx="900000" cy="9000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50000" dist="12000" dir="5400000" algn="bl" rotWithShape="0">
              <a:srgbClr val="0D9488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Step2Circle">
            <a:extLst>
              <a:ext uri="{FF2B5EF4-FFF2-40B4-BE49-F238E27FC236}">
                <a16:creationId xmlns:a16="http://schemas.microsoft.com/office/drawing/2014/main" id="{82D80649-7B10-047F-346B-61EB4346F067}"/>
              </a:ext>
            </a:extLst>
          </p:cNvPr>
          <p:cNvSpPr/>
          <p:nvPr/>
        </p:nvSpPr>
        <p:spPr>
          <a:xfrm>
            <a:off x="4396000" y="2100000"/>
            <a:ext cx="900000" cy="9000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50000" dist="12000" dir="5400000" algn="bl" rotWithShape="0">
              <a:srgbClr val="3B82F6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Step3Circle">
            <a:extLst>
              <a:ext uri="{FF2B5EF4-FFF2-40B4-BE49-F238E27FC236}">
                <a16:creationId xmlns:a16="http://schemas.microsoft.com/office/drawing/2014/main" id="{DF4F0F7F-4BC1-CA25-2461-571E96B9596C}"/>
              </a:ext>
            </a:extLst>
          </p:cNvPr>
          <p:cNvSpPr/>
          <p:nvPr/>
        </p:nvSpPr>
        <p:spPr>
          <a:xfrm>
            <a:off x="6896000" y="2100000"/>
            <a:ext cx="900000" cy="900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50000" dist="12000" dir="5400000" algn="bl" rotWithShape="0">
              <a:srgbClr val="7C3AED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3" name="Step4Circle">
            <a:extLst>
              <a:ext uri="{FF2B5EF4-FFF2-40B4-BE49-F238E27FC236}">
                <a16:creationId xmlns:a16="http://schemas.microsoft.com/office/drawing/2014/main" id="{87A43DF8-118E-B592-82CC-6CBE9A2381BE}"/>
              </a:ext>
            </a:extLst>
          </p:cNvPr>
          <p:cNvSpPr/>
          <p:nvPr/>
        </p:nvSpPr>
        <p:spPr>
          <a:xfrm>
            <a:off x="9396000" y="2100000"/>
            <a:ext cx="900000" cy="90000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50000" dist="12000" dir="5400000" algn="bl" rotWithShape="0">
              <a:srgbClr val="EC4899">
                <a:alpha val="25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2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Step1Label">
            <a:extLst>
              <a:ext uri="{FF2B5EF4-FFF2-40B4-BE49-F238E27FC236}">
                <a16:creationId xmlns:a16="http://schemas.microsoft.com/office/drawing/2014/main" id="{D42DE9A7-03F2-220D-6CDB-2F4441C14BC0}"/>
              </a:ext>
            </a:extLst>
          </p:cNvPr>
          <p:cNvSpPr/>
          <p:nvPr/>
        </p:nvSpPr>
        <p:spPr>
          <a:xfrm>
            <a:off x="12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Activa</a:t>
            </a:r>
          </a:p>
        </p:txBody>
      </p:sp>
      <p:sp>
        <p:nvSpPr>
          <p:cNvPr id="21" name="Step2Label">
            <a:extLst>
              <a:ext uri="{FF2B5EF4-FFF2-40B4-BE49-F238E27FC236}">
                <a16:creationId xmlns:a16="http://schemas.microsoft.com/office/drawing/2014/main" id="{76285ACB-8CC3-5791-CA05-2E550D4C6FB2}"/>
              </a:ext>
            </a:extLst>
          </p:cNvPr>
          <p:cNvSpPr/>
          <p:nvPr/>
        </p:nvSpPr>
        <p:spPr>
          <a:xfrm>
            <a:off x="37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Delega</a:t>
            </a:r>
          </a:p>
        </p:txBody>
      </p:sp>
      <p:sp>
        <p:nvSpPr>
          <p:cNvPr id="22" name="Step3Label">
            <a:extLst>
              <a:ext uri="{FF2B5EF4-FFF2-40B4-BE49-F238E27FC236}">
                <a16:creationId xmlns:a16="http://schemas.microsoft.com/office/drawing/2014/main" id="{827AAA37-7159-7EA4-A2C4-C338AEC911CE}"/>
              </a:ext>
            </a:extLst>
          </p:cNvPr>
          <p:cNvSpPr/>
          <p:nvPr/>
        </p:nvSpPr>
        <p:spPr>
          <a:xfrm>
            <a:off x="62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Ejecuta</a:t>
            </a:r>
          </a:p>
        </p:txBody>
      </p:sp>
      <p:sp>
        <p:nvSpPr>
          <p:cNvPr id="23" name="Step4Label">
            <a:extLst>
              <a:ext uri="{FF2B5EF4-FFF2-40B4-BE49-F238E27FC236}">
                <a16:creationId xmlns:a16="http://schemas.microsoft.com/office/drawing/2014/main" id="{2E99D487-A932-52F0-E794-F893D849528E}"/>
              </a:ext>
            </a:extLst>
          </p:cNvPr>
          <p:cNvSpPr/>
          <p:nvPr/>
        </p:nvSpPr>
        <p:spPr>
          <a:xfrm>
            <a:off x="8746000" y="31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/>
            <a:r>
              <a:rPr lang="es-ES" sz="1500" b="1">
                <a:solidFill>
                  <a:srgbClr val="0F172A"/>
                </a:solidFill>
                <a:latin typeface="Segoe UI Semibold"/>
              </a:rPr>
              <a:t>Aprueba</a:t>
            </a:r>
          </a:p>
        </p:txBody>
      </p:sp>
      <p:sp>
        <p:nvSpPr>
          <p:cNvPr id="30" name="Step1Desc">
            <a:extLst>
              <a:ext uri="{FF2B5EF4-FFF2-40B4-BE49-F238E27FC236}">
                <a16:creationId xmlns:a16="http://schemas.microsoft.com/office/drawing/2014/main" id="{7E8C5FC9-EB22-46CC-5987-D04A40A23026}"/>
              </a:ext>
            </a:extLst>
          </p:cNvPr>
          <p:cNvSpPr/>
          <p:nvPr/>
        </p:nvSpPr>
        <p:spPr>
          <a:xfrm>
            <a:off x="12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Activa el modo Cowork con el conmutador Chat / Cowork en la app de Copilot.</a:t>
            </a:r>
          </a:p>
        </p:txBody>
      </p:sp>
      <p:sp>
        <p:nvSpPr>
          <p:cNvPr id="31" name="Step2Desc">
            <a:extLst>
              <a:ext uri="{FF2B5EF4-FFF2-40B4-BE49-F238E27FC236}">
                <a16:creationId xmlns:a16="http://schemas.microsoft.com/office/drawing/2014/main" id="{C75430F5-0B15-31AB-9078-E26ED59558C7}"/>
              </a:ext>
            </a:extLst>
          </p:cNvPr>
          <p:cNvSpPr/>
          <p:nvPr/>
        </p:nvSpPr>
        <p:spPr>
          <a:xfrm>
            <a:off x="37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Describe en lenguaje natural el resultado que necesitas obtener.</a:t>
            </a:r>
          </a:p>
        </p:txBody>
      </p:sp>
      <p:sp>
        <p:nvSpPr>
          <p:cNvPr id="32" name="Step3Desc">
            <a:extLst>
              <a:ext uri="{FF2B5EF4-FFF2-40B4-BE49-F238E27FC236}">
                <a16:creationId xmlns:a16="http://schemas.microsoft.com/office/drawing/2014/main" id="{0A0EAA05-2851-E2B9-9603-630ED711A6F6}"/>
              </a:ext>
            </a:extLst>
          </p:cNvPr>
          <p:cNvSpPr/>
          <p:nvPr/>
        </p:nvSpPr>
        <p:spPr>
          <a:xfrm>
            <a:off x="62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Cowork crea un plan y trabaja en segundo plano entre tus aplicaciones.</a:t>
            </a:r>
          </a:p>
        </p:txBody>
      </p:sp>
      <p:sp>
        <p:nvSpPr>
          <p:cNvPr id="33" name="Step4Desc">
            <a:extLst>
              <a:ext uri="{FF2B5EF4-FFF2-40B4-BE49-F238E27FC236}">
                <a16:creationId xmlns:a16="http://schemas.microsoft.com/office/drawing/2014/main" id="{CA7190B7-F9C3-0D28-246D-9E33EBDE3C3E}"/>
              </a:ext>
            </a:extLst>
          </p:cNvPr>
          <p:cNvSpPr/>
          <p:nvPr/>
        </p:nvSpPr>
        <p:spPr>
          <a:xfrm>
            <a:off x="8746000" y="3500000"/>
            <a:ext cx="22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es-ES" sz="1100">
                <a:solidFill>
                  <a:srgbClr val="475569"/>
                </a:solidFill>
                <a:latin typeface="Segoe UI"/>
              </a:rPr>
              <a:t>Revisas cada paso y apruebas las acciones antes de que ocurran.</a:t>
            </a:r>
          </a:p>
        </p:txBody>
      </p:sp>
      <p:sp>
        <p:nvSpPr>
          <p:cNvPr id="50" name="HowToCard"/>
          <p:cNvSpPr/>
          <p:nvPr/>
        </p:nvSpPr>
        <p:spPr>
          <a:xfrm>
            <a:off x="1500000" y="4788000"/>
            <a:ext cx="9192000" cy="88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>
            <a:outerShdw blurRad="60000" dist="150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HowToBadge"/>
          <p:cNvSpPr/>
          <p:nvPr/>
        </p:nvSpPr>
        <p:spPr>
          <a:xfrm>
            <a:off x="1692000" y="5038000"/>
            <a:ext cx="1800000" cy="3800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0D9488"/>
              </a:gs>
              <a:gs pos="100000">
                <a:srgbClr val="14A8BC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Gobernanza y control</a:t>
            </a:r>
          </a:p>
        </p:txBody>
      </p:sp>
      <p:sp>
        <p:nvSpPr>
          <p:cNvPr id="52" name="HowToCol1"/>
          <p:cNvSpPr/>
          <p:nvPr/>
        </p:nvSpPr>
        <p:spPr>
          <a:xfrm>
            <a:off x="3700000" y="4838000"/>
            <a:ext cx="3400000" cy="8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Confianza y supervisión</a:t>
            </a:r>
          </a:p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334155"/>
                </a:solidFill>
                <a:latin typeface="Segoe UI"/>
                <a:cs typeface="Segoe UI"/>
              </a:rPr>
              <a:t>Hereda los permisos de cada usuario</a:t>
            </a:r>
          </a:p>
        </p:txBody>
      </p:sp>
      <p:sp>
        <p:nvSpPr>
          <p:cNvPr id="53" name="HowToCol2"/>
          <p:cNvSpPr/>
          <p:nvPr/>
        </p:nvSpPr>
        <p:spPr>
          <a:xfrm>
            <a:off x="7200000" y="4838000"/>
            <a:ext cx="3300000" cy="8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Apruebas cada acción antes de ejecutarse</a:t>
            </a:r>
          </a:p>
          <a:p>
            <a:pPr marL="200000" indent="-200000">
              <a:lnSpc>
                <a:spcPct val="130000"/>
              </a:lnSpc>
              <a:buClr>
                <a:srgbClr val="0D9488"/>
              </a:buClr>
              <a:buFont typeface="Arial"/>
              <a:buChar char="•"/>
            </a:pPr>
            <a:r>
              <a:rPr lang="es-ES" sz="1100">
                <a:solidFill>
                  <a:srgbClr val="0D9488"/>
                </a:solidFill>
                <a:latin typeface="Segoe UI Semibold"/>
                <a:cs typeface="Segoe UI Semibold"/>
              </a:rPr>
              <a:t>Límites de gasto, alertas y controles de administración</a:t>
            </a:r>
          </a:p>
        </p:txBody>
      </p:sp>
    </p:spTree>
    <p:extLst>
      <p:ext uri="{BB962C8B-B14F-4D97-AF65-F5344CB8AC3E}">
        <p14:creationId xmlns:p14="http://schemas.microsoft.com/office/powerpoint/2010/main" val="29873564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D7F5BD-AFFD-A8A7-5DA9-21B8BECDD8AC}"/>
              </a:ext>
            </a:extLst>
          </p:cNvPr>
          <p:cNvSpPr/>
          <p:nvPr/>
        </p:nvSpPr>
        <p:spPr>
          <a:xfrm>
            <a:off x="975360" y="487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Lo que impulsa a </a:t>
            </a:r>
            <a:r>
              <a:rPr lang="es-ES" sz="32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Copilot Cowork</a:t>
            </a:r>
            <a:endParaRPr lang="es-ES" sz="3200"/>
          </a:p>
        </p:txBody>
      </p:sp>
      <p:sp>
        <p:nvSpPr>
          <p:cNvPr id="3" name="Intro Text">
            <a:extLst>
              <a:ext uri="{FF2B5EF4-FFF2-40B4-BE49-F238E27FC236}">
                <a16:creationId xmlns:a16="http://schemas.microsoft.com/office/drawing/2014/main" id="{809D020B-E661-F12B-F522-F77CCB4B0176}"/>
              </a:ext>
            </a:extLst>
          </p:cNvPr>
          <p:cNvSpPr/>
          <p:nvPr/>
        </p:nvSpPr>
        <p:spPr>
          <a:xfrm>
            <a:off x="975360" y="12801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Dos piezas hacen que Cowork actúe con criterio: el contexto de Work IQ y un motor multimodelo que ejecuta.</a:t>
            </a:r>
            <a:endParaRPr lang="es-ES" sz="1600"/>
          </a:p>
        </p:txBody>
      </p:sp>
      <p:sp>
        <p:nvSpPr>
          <p:cNvPr id="4" name="Card 1">
            <a:extLst>
              <a:ext uri="{FF2B5EF4-FFF2-40B4-BE49-F238E27FC236}">
                <a16:creationId xmlns:a16="http://schemas.microsoft.com/office/drawing/2014/main" id="{C8DCBEC0-3626-F439-02A7-EF8A6F492C32}"/>
              </a:ext>
            </a:extLst>
          </p:cNvPr>
          <p:cNvSpPr/>
          <p:nvPr/>
        </p:nvSpPr>
        <p:spPr>
          <a:xfrm>
            <a:off x="975360" y="2202873"/>
            <a:ext cx="4920640" cy="39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Circle 1">
            <a:extLst>
              <a:ext uri="{FF2B5EF4-FFF2-40B4-BE49-F238E27FC236}">
                <a16:creationId xmlns:a16="http://schemas.microsoft.com/office/drawing/2014/main" id="{EB0C1E96-4C8D-5B89-D1D8-E29938FC9704}"/>
              </a:ext>
            </a:extLst>
          </p:cNvPr>
          <p:cNvSpPr/>
          <p:nvPr/>
        </p:nvSpPr>
        <p:spPr>
          <a:xfrm>
            <a:off x="3001520" y="2310000"/>
            <a:ext cx="868320" cy="868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Icon 1">
            <a:extLst>
              <a:ext uri="{FF2B5EF4-FFF2-40B4-BE49-F238E27FC236}">
                <a16:creationId xmlns:a16="http://schemas.microsoft.com/office/drawing/2014/main" id="{0F426728-46A1-8D5B-49C7-D5A3289218E6}"/>
              </a:ext>
            </a:extLst>
          </p:cNvPr>
          <p:cNvSpPr/>
          <p:nvPr/>
        </p:nvSpPr>
        <p:spPr>
          <a:xfrm>
            <a:off x="3001520" y="2310000"/>
            <a:ext cx="868320" cy="8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  <a:ea typeface="Segoe UI Semibold" pitchFamily="34" charset="-122"/>
                <a:cs typeface="Segoe UI" panose="020B0502040204020203" pitchFamily="34" charset="0"/>
              </a:rPr>
              <a:t>W</a:t>
            </a:r>
            <a:endParaRPr lang="en-US" sz="2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903BFD-9ECE-74EC-0494-CD5146A1A7CE}"/>
              </a:ext>
            </a:extLst>
          </p:cNvPr>
          <p:cNvSpPr/>
          <p:nvPr/>
        </p:nvSpPr>
        <p:spPr>
          <a:xfrm>
            <a:off x="1280160" y="3300000"/>
            <a:ext cx="431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Work IQ</a:t>
            </a:r>
            <a:endParaRPr lang="es-ES" sz="2000"/>
          </a:p>
        </p:txBody>
      </p:sp>
      <p:sp>
        <p:nvSpPr>
          <p:cNvPr id="8" name="Desc 1">
            <a:extLst>
              <a:ext uri="{FF2B5EF4-FFF2-40B4-BE49-F238E27FC236}">
                <a16:creationId xmlns:a16="http://schemas.microsoft.com/office/drawing/2014/main" id="{2557DE1E-965B-DC5E-8B7C-78708F7A0AE5}"/>
              </a:ext>
            </a:extLst>
          </p:cNvPr>
          <p:cNvSpPr/>
          <p:nvPr/>
        </p:nvSpPr>
        <p:spPr>
          <a:xfrm>
            <a:off x="1280160" y="3750000"/>
            <a:ext cx="43110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5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La capa de inteligencia que entiende tus datos, herramientas y organización a partir de tu actividad en Microsoft 365.</a:t>
            </a:r>
            <a:endParaRPr lang="es-ES" sz="1500"/>
          </a:p>
        </p:txBody>
      </p:sp>
      <p:sp>
        <p:nvSpPr>
          <p:cNvPr id="9" name="Quote Box 1">
            <a:extLst>
              <a:ext uri="{FF2B5EF4-FFF2-40B4-BE49-F238E27FC236}">
                <a16:creationId xmlns:a16="http://schemas.microsoft.com/office/drawing/2014/main" id="{AA0F69B1-09A3-2C0C-858A-A95E55F3A863}"/>
              </a:ext>
            </a:extLst>
          </p:cNvPr>
          <p:cNvSpPr/>
          <p:nvPr/>
        </p:nvSpPr>
        <p:spPr>
          <a:xfrm>
            <a:off x="1280160" y="4780000"/>
            <a:ext cx="4311040" cy="1280000"/>
          </a:xfrm>
          <a:prstGeom prst="roundRect">
            <a:avLst>
              <a:gd name="adj" fmla="val 8000"/>
            </a:avLst>
          </a:prstGeom>
          <a:solidFill>
            <a:srgbClr val="F5F0FF"/>
          </a:solidFill>
          <a:ln>
            <a:solidFill>
              <a:srgbClr val="7C3AED"/>
            </a:solidFill>
          </a:ln>
        </p:spPr>
        <p:txBody>
          <a:bodyPr wrap="square" lIns="182880" tIns="182880" rIns="182880" bIns="182880" rtlCol="0" anchor="ctr"/>
          <a:lstStyle/>
          <a:p>
            <a:pPr algn="ctr"/>
            <a:r>
              <a:rPr lang="es-ES" sz="1500" i="1">
                <a:solidFill>
                  <a:srgbClr val="1E293B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“Conecta señales de Outlook, Teams, Excel y SharePoint para fundamentar cada tarea.”</a:t>
            </a:r>
            <a:endParaRPr lang="es-ES" sz="1500"/>
          </a:p>
        </p:txBody>
      </p:sp>
      <p:sp>
        <p:nvSpPr>
          <p:cNvPr id="10" name="Card 2">
            <a:extLst>
              <a:ext uri="{FF2B5EF4-FFF2-40B4-BE49-F238E27FC236}">
                <a16:creationId xmlns:a16="http://schemas.microsoft.com/office/drawing/2014/main" id="{106DFECB-9AD1-2A99-FC21-4EDA1971246E}"/>
              </a:ext>
            </a:extLst>
          </p:cNvPr>
          <p:cNvSpPr/>
          <p:nvPr/>
        </p:nvSpPr>
        <p:spPr>
          <a:xfrm>
            <a:off x="6296000" y="2202872"/>
            <a:ext cx="4920640" cy="39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Circle 2">
            <a:extLst>
              <a:ext uri="{FF2B5EF4-FFF2-40B4-BE49-F238E27FC236}">
                <a16:creationId xmlns:a16="http://schemas.microsoft.com/office/drawing/2014/main" id="{DE1B3365-59B5-6D6A-B8CC-6E92E2ADDFD7}"/>
              </a:ext>
            </a:extLst>
          </p:cNvPr>
          <p:cNvSpPr/>
          <p:nvPr/>
        </p:nvSpPr>
        <p:spPr>
          <a:xfrm>
            <a:off x="8322160" y="2310000"/>
            <a:ext cx="868320" cy="868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Icon 2">
            <a:extLst>
              <a:ext uri="{FF2B5EF4-FFF2-40B4-BE49-F238E27FC236}">
                <a16:creationId xmlns:a16="http://schemas.microsoft.com/office/drawing/2014/main" id="{0CE1AF7B-3958-3371-3525-51AD8A0BFBA9}"/>
              </a:ext>
            </a:extLst>
          </p:cNvPr>
          <p:cNvSpPr/>
          <p:nvPr/>
        </p:nvSpPr>
        <p:spPr>
          <a:xfrm>
            <a:off x="8322160" y="2310000"/>
            <a:ext cx="868320" cy="8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  <a:ea typeface="Segoe UI Semibold" pitchFamily="34" charset="-122"/>
                <a:cs typeface="Segoe UI" panose="020B0502040204020203" pitchFamily="34" charset="0"/>
              </a:rPr>
              <a:t>M</a:t>
            </a:r>
            <a:endParaRPr lang="en-US" sz="280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33391CAD-3D61-70A1-1CCE-4E3A61AC6598}"/>
              </a:ext>
            </a:extLst>
          </p:cNvPr>
          <p:cNvSpPr/>
          <p:nvPr/>
        </p:nvSpPr>
        <p:spPr>
          <a:xfrm>
            <a:off x="6600800" y="3300000"/>
            <a:ext cx="431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2000" b="1" i="1" err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Multimodelo</a:t>
            </a:r>
            <a:endParaRPr lang="es-ES" sz="2000"/>
          </a:p>
        </p:txBody>
      </p:sp>
      <p:sp>
        <p:nvSpPr>
          <p:cNvPr id="14" name="Desc 2">
            <a:extLst>
              <a:ext uri="{FF2B5EF4-FFF2-40B4-BE49-F238E27FC236}">
                <a16:creationId xmlns:a16="http://schemas.microsoft.com/office/drawing/2014/main" id="{6D480052-7847-0382-AC41-D68E0BBDD97B}"/>
              </a:ext>
            </a:extLst>
          </p:cNvPr>
          <p:cNvSpPr/>
          <p:nvPr/>
        </p:nvSpPr>
        <p:spPr>
          <a:xfrm>
            <a:off x="6600800" y="3750000"/>
            <a:ext cx="43110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sz="1500">
                <a:solidFill>
                  <a:srgbClr val="3341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Elige el modelo más eficiente para cada tarea; en disponibilidad general usa Opus 4.8 y Sonnet 4.6 de Anthropic.</a:t>
            </a:r>
            <a:endParaRPr lang="es-ES" sz="1500"/>
          </a:p>
        </p:txBody>
      </p:sp>
      <p:sp>
        <p:nvSpPr>
          <p:cNvPr id="15" name="Quote Box 2">
            <a:extLst>
              <a:ext uri="{FF2B5EF4-FFF2-40B4-BE49-F238E27FC236}">
                <a16:creationId xmlns:a16="http://schemas.microsoft.com/office/drawing/2014/main" id="{7B66FACF-6E36-77CC-C1DD-1E5412A8F3DA}"/>
              </a:ext>
            </a:extLst>
          </p:cNvPr>
          <p:cNvSpPr/>
          <p:nvPr/>
        </p:nvSpPr>
        <p:spPr>
          <a:xfrm>
            <a:off x="6600800" y="4780000"/>
            <a:ext cx="4311040" cy="128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3B82F6"/>
            </a:solidFill>
          </a:ln>
        </p:spPr>
        <p:txBody>
          <a:bodyPr wrap="square" lIns="182880" tIns="182880" rIns="182880" bIns="182880" rtlCol="0" anchor="ctr"/>
          <a:lstStyle/>
          <a:p>
            <a:pPr algn="ctr"/>
            <a:r>
              <a:rPr lang="es-ES" sz="1300" i="1">
                <a:solidFill>
                  <a:srgbClr val="1E293B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“Diseño multimodelo: hasta un 30-40% más eficiente por tarea, con el modelo propio Cowork 1 en camino.”</a:t>
            </a:r>
            <a:endParaRPr lang="es-ES" sz="1300"/>
          </a:p>
        </p:txBody>
      </p:sp>
      <p:pic>
        <p:nvPicPr>
          <p:cNvPr id="16" name="Image 0" descr="Banda decorativa superior">
            <a:extLst>
              <a:ext uri="{FF2B5EF4-FFF2-40B4-BE49-F238E27FC236}">
                <a16:creationId xmlns:a16="http://schemas.microsoft.com/office/drawing/2014/main" id="{271B2E5C-402F-408A-6010-E416EE0F8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402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700B-03EE-D34B-F1E4-A803BAF8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B71F43-FD70-69A4-435E-7B74AD98BCA1}"/>
              </a:ext>
            </a:extLst>
          </p:cNvPr>
          <p:cNvSpPr/>
          <p:nvPr/>
        </p:nvSpPr>
        <p:spPr>
          <a:xfrm>
            <a:off x="975360" y="548640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Casos de uso de Copilot Cowork por área</a:t>
            </a:r>
            <a:endParaRPr lang="en-US" sz="32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3" name="Image 0" descr="Imagen ilustrativa relacionada con Casos de uso en el mundo profesional">
            <a:extLst>
              <a:ext uri="{FF2B5EF4-FFF2-40B4-BE49-F238E27FC236}">
                <a16:creationId xmlns:a16="http://schemas.microsoft.com/office/drawing/2014/main" id="{E96C5F7E-4D39-A0CE-84FE-B13B5CB40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24" name="Info Bar">
            <a:extLst>
              <a:ext uri="{FF2B5EF4-FFF2-40B4-BE49-F238E27FC236}">
                <a16:creationId xmlns:a16="http://schemas.microsoft.com/office/drawing/2014/main" id="{3F893DA0-3C6C-95DC-B342-20FD4AF0A785}"/>
              </a:ext>
            </a:extLst>
          </p:cNvPr>
          <p:cNvSpPr/>
          <p:nvPr/>
        </p:nvSpPr>
        <p:spPr>
          <a:xfrm>
            <a:off x="975360" y="6251900"/>
            <a:ext cx="10241280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21B6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endParaRPr lang="es-ES"/>
          </a:p>
        </p:txBody>
      </p:sp>
      <p:sp>
        <p:nvSpPr>
          <p:cNvPr id="26" name="Info Text">
            <a:extLst>
              <a:ext uri="{FF2B5EF4-FFF2-40B4-BE49-F238E27FC236}">
                <a16:creationId xmlns:a16="http://schemas.microsoft.com/office/drawing/2014/main" id="{C998A493-7C0E-C5B0-4BA3-04C3F032D705}"/>
              </a:ext>
            </a:extLst>
          </p:cNvPr>
          <p:cNvSpPr/>
          <p:nvPr/>
        </p:nvSpPr>
        <p:spPr>
          <a:xfrm>
            <a:off x="3352801" y="6121271"/>
            <a:ext cx="95166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Cowork </a:t>
            </a:r>
            <a:r>
              <a:rPr lang="es-ES" sz="1600" b="1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ejecuta</a:t>
            </a:r>
            <a:r>
              <a:rPr lang="es-ES" sz="160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el trabajo de varios pasos; </a:t>
            </a:r>
            <a:r>
              <a:rPr lang="es-ES" sz="1600" b="1">
                <a:solidFill>
                  <a:srgbClr val="FFFFFF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tú apruebas</a:t>
            </a:r>
            <a:r>
              <a:rPr lang="es-ES" sz="1600">
                <a:solidFill>
                  <a:srgbClr val="FFFFFF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 cada acción</a:t>
            </a:r>
            <a:r>
              <a:rPr lang="es-ES" sz="1600">
                <a:solidFill>
                  <a:srgbClr val="E8D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ES" sz="1600"/>
          </a:p>
        </p:txBody>
      </p:sp>
      <p:graphicFrame>
        <p:nvGraphicFramePr>
          <p:cNvPr id="900" name="Expos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986055"/>
              </p:ext>
            </p:extLst>
          </p:nvPr>
        </p:nvGraphicFramePr>
        <p:xfrm>
          <a:off x="1915807" y="1219200"/>
          <a:ext cx="8360385" cy="301362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960385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s-ES" sz="13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Área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Tarea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Qué hace Cowork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Ventas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Pipeline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Prioriza oportunidades en riesgo y propone el siguiente paso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Marketing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Investigación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Analiza tendencias y prepara borradores de campañas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Recursos Humanos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Onboarding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Resuelve dudas de empleados y reúne su documentación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TI y soporte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Operaciones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Compara archivos entre versiones y documenta los cambios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Finanzas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Informes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Recopila datos y genera resúmenes e informes periódicos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1"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1E293B"/>
                          </a:solidFill>
                          <a:latin typeface="Segoe UI"/>
                          <a:cs typeface="Segoe UI"/>
                        </a:rPr>
                        <a:t>Dirección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rgbClr val="7C3AED"/>
                          </a:solidFill>
                          <a:latin typeface="Segoe UI"/>
                          <a:cs typeface="Segoe UI"/>
                        </a:rPr>
                        <a:t>Briefings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475569"/>
                          </a:solidFill>
                          <a:latin typeface="Segoe UI"/>
                          <a:cs typeface="Segoe UI"/>
                        </a:rPr>
                        <a:t>Prepara informes diarios y resúmenes de reuniones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LLMBar">
            <a:extLst>
              <a:ext uri="{FF2B5EF4-FFF2-40B4-BE49-F238E27FC236}">
                <a16:creationId xmlns:a16="http://schemas.microsoft.com/office/drawing/2014/main" id="{08EC287B-7BA7-8102-0F88-4FF5820D72F3}"/>
              </a:ext>
            </a:extLst>
          </p:cNvPr>
          <p:cNvSpPr/>
          <p:nvPr/>
        </p:nvSpPr>
        <p:spPr>
          <a:xfrm>
            <a:off x="1989549" y="1305585"/>
            <a:ext cx="2914290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Área</a:t>
            </a:r>
            <a:endParaRPr lang="es-ES" sz="1600"/>
          </a:p>
        </p:txBody>
      </p:sp>
      <p:sp>
        <p:nvSpPr>
          <p:cNvPr id="33" name="LLMBar">
            <a:extLst>
              <a:ext uri="{FF2B5EF4-FFF2-40B4-BE49-F238E27FC236}">
                <a16:creationId xmlns:a16="http://schemas.microsoft.com/office/drawing/2014/main" id="{A75E938A-FFA3-DD8E-C2B3-CA59B6561F60}"/>
              </a:ext>
            </a:extLst>
          </p:cNvPr>
          <p:cNvSpPr/>
          <p:nvPr/>
        </p:nvSpPr>
        <p:spPr>
          <a:xfrm>
            <a:off x="4977581" y="1305585"/>
            <a:ext cx="1118419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Tarea</a:t>
            </a:r>
          </a:p>
        </p:txBody>
      </p:sp>
      <p:sp>
        <p:nvSpPr>
          <p:cNvPr id="34" name="LLMBar">
            <a:extLst>
              <a:ext uri="{FF2B5EF4-FFF2-40B4-BE49-F238E27FC236}">
                <a16:creationId xmlns:a16="http://schemas.microsoft.com/office/drawing/2014/main" id="{D654EF9B-289E-A435-0F28-65F4935EAA10}"/>
              </a:ext>
            </a:extLst>
          </p:cNvPr>
          <p:cNvSpPr/>
          <p:nvPr/>
        </p:nvSpPr>
        <p:spPr>
          <a:xfrm>
            <a:off x="6169741" y="1305585"/>
            <a:ext cx="4032709" cy="340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>
            <a:noFill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s-ES" sz="1400" b="1">
                <a:solidFill>
                  <a:srgbClr val="FFFFFF"/>
                </a:solidFill>
                <a:latin typeface="Segoe UI Semibold"/>
                <a:cs typeface="Segoe UI Semibold"/>
              </a:rPr>
              <a:t>Qué hace Cowork</a:t>
            </a:r>
          </a:p>
        </p:txBody>
      </p:sp>
    </p:spTree>
    <p:extLst>
      <p:ext uri="{BB962C8B-B14F-4D97-AF65-F5344CB8AC3E}">
        <p14:creationId xmlns:p14="http://schemas.microsoft.com/office/powerpoint/2010/main" val="1132643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— Copilot CoWork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Copilot Cowork lleva a Copilot del chat a la acción: planifica y ejecuta tareas de varios pasos en Microsoft 365, siempre con tu aprobación y bajo el gobierno de tu organización.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Qué es Cowork: de asistente a compañero que planifica, ejecuta y entrega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Qué puede hacer: correos, reuniones, Teams, documentos e investigación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Cómo trabajas con Cowork: activa, delega, ejecuta y aprueba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Lo que lo impulsa: Work IQ para el contexto y un motor multimodelo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>
                <a:solidFill>
                  <a:srgbClr val="334155"/>
                </a:solidFill>
                <a:latin typeface="Segoe UI"/>
              </a:rPr>
              <a:t>Casos de uso por área y gobierno con permisos y aprobaciones</a:t>
            </a: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>
                <a:solidFill>
                  <a:srgbClr val="F8FAFC"/>
                </a:solidFill>
                <a:latin typeface="Segoe UI"/>
              </a:rPr>
              <a:t>Microsoft Learn — Copilot Cowork</a:t>
            </a:r>
            <a:r>
              <a:rPr lang="es-ES" sz="1300">
                <a:solidFill>
                  <a:srgbClr val="CBD5E1"/>
                </a:solidFill>
                <a:latin typeface="Segoe UI"/>
              </a:rPr>
              <a:t>  ·  learn.microsoft.com/microsoft-365/copilot/cowork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>
                <a:solidFill>
                  <a:srgbClr val="F8FAFC"/>
                </a:solidFill>
                <a:latin typeface="Segoe UI"/>
              </a:rPr>
              <a:t>Microsoft 365 Blog — Cowork ya disponible</a:t>
            </a:r>
            <a:r>
              <a:rPr lang="es-ES" sz="1300">
                <a:solidFill>
                  <a:srgbClr val="CBD5E1"/>
                </a:solidFill>
                <a:latin typeface="Segoe UI"/>
              </a:rPr>
              <a:t>  ·  microsoft.com/microsoft-365/blog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>
                <a:solidFill>
                  <a:srgbClr val="F8FAFC"/>
                </a:solidFill>
                <a:latin typeface="Segoe UI"/>
              </a:rPr>
              <a:t>Microsoft Adoption — Escenarios de Cowork</a:t>
            </a:r>
            <a:r>
              <a:rPr lang="es-ES" sz="1300">
                <a:solidFill>
                  <a:srgbClr val="CBD5E1"/>
                </a:solidFill>
                <a:latin typeface="Segoe UI"/>
              </a:rPr>
              <a:t>  ·  adoption.microsoft.com/copilot/cowork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3FF"/>
            </a:gs>
            <a:gs pos="100000">
              <a:srgbClr val="ECF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opStripe" descr="Franja decorativa superi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"/>
          </a:xfrm>
          <a:prstGeom prst="rect">
            <a:avLst/>
          </a:prstGeom>
        </p:spPr>
      </p:pic>
      <p:sp>
        <p:nvSpPr>
          <p:cNvPr id="9" name="Title"/>
          <p:cNvSpPr/>
          <p:nvPr/>
        </p:nvSpPr>
        <p:spPr>
          <a:xfrm>
            <a:off x="487680" y="380000"/>
            <a:ext cx="11216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600" b="1">
                <a:solidFill>
                  <a:srgbClr val="1E293B"/>
                </a:solidFill>
                <a:latin typeface="Segoe UI Semibold" panose="020B0702040204020203" pitchFamily="34" charset="0"/>
                <a:ea typeface="Segoe UI Semibold" pitchFamily="34" charset="-122"/>
                <a:cs typeface="Segoe UI Semibold" panose="020B0702040204020203" pitchFamily="34" charset="0"/>
              </a:rPr>
              <a:t>Resumen de la sesión</a:t>
            </a:r>
          </a:p>
        </p:txBody>
      </p:sp>
      <p:sp>
        <p:nvSpPr>
          <p:cNvPr id="20" name="CardConclusiones"/>
          <p:cNvSpPr>
            <a:spLocks/>
          </p:cNvSpPr>
          <p:nvPr/>
        </p:nvSpPr>
        <p:spPr>
          <a:xfrm>
            <a:off x="487680" y="1180000"/>
            <a:ext cx="11216640" cy="118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CFBF1"/>
              </a:gs>
              <a:gs pos="100000">
                <a:srgbClr val="EDE9FE"/>
              </a:gs>
            </a:gsLst>
            <a:lin ang="0" scaled="1"/>
          </a:gradFill>
          <a:ln w="0">
            <a:noFill/>
          </a:ln>
          <a:effectLst>
            <a:outerShdw blurRad="80000" dist="20000" dir="5400000" algn="t" rotWithShape="0">
              <a:srgbClr val="0D9488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AccentBarConclusiones"/>
          <p:cNvSpPr>
            <a:spLocks/>
          </p:cNvSpPr>
          <p:nvPr/>
        </p:nvSpPr>
        <p:spPr>
          <a:xfrm>
            <a:off x="487680" y="1180000"/>
            <a:ext cx="120000" cy="1180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ConclusionesText"/>
          <p:cNvSpPr txBox="1">
            <a:spLocks/>
          </p:cNvSpPr>
          <p:nvPr/>
        </p:nvSpPr>
        <p:spPr>
          <a:xfrm>
            <a:off x="780000" y="1240000"/>
            <a:ext cx="10800000" cy="10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600" b="1">
                <a:solidFill>
                  <a:srgbClr val="0D9488"/>
                </a:solidFill>
                <a:latin typeface="Segoe UI Semibold"/>
                <a:ea typeface="Segoe UI Semibold"/>
                <a:cs typeface="Segoe UI Semibold"/>
              </a:rPr>
              <a:t>Conclusiones clave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4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Hoy dejas de ser espectador de la IA y pasas a dirigirla: con un buen prompt, Copilot a tu lado y criterio responsable, lo aprendido aquí es la chispa para reinventar tu trabajo y, con él, lo que tu equipo es capaz de lograr.</a:t>
            </a:r>
          </a:p>
        </p:txBody>
      </p:sp>
      <p:sp>
        <p:nvSpPr>
          <p:cNvPr id="30" name="CardVisto"/>
          <p:cNvSpPr/>
          <p:nvPr/>
        </p:nvSpPr>
        <p:spPr>
          <a:xfrm>
            <a:off x="487680" y="2480000"/>
            <a:ext cx="11216640" cy="22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blurRad="80000" dist="20000" dir="5400000" algn="t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VistoText"/>
          <p:cNvSpPr txBox="1"/>
          <p:nvPr/>
        </p:nvSpPr>
        <p:spPr>
          <a:xfrm>
            <a:off x="780000" y="2570000"/>
            <a:ext cx="10800000" cy="20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1E293B"/>
                </a:solidFill>
                <a:latin typeface="Segoe UI Semibold"/>
                <a:ea typeface="Segoe UI Semibold"/>
                <a:cs typeface="Segoe UI Semibold"/>
              </a:rPr>
              <a:t>Lo que hemos visto</a:t>
            </a:r>
          </a:p>
          <a:p>
            <a:pPr marL="285750" indent="-285750">
              <a:spcBef>
                <a:spcPts val="15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Introducción a la IA generativa: fundamentos, LLM y casos de uso profesionales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Microsoft 365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en acción: ecosistema Chat, agentes y aplicaciones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El arte del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prompting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: marco RCTF,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Superprompt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y Chain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of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Thought</a:t>
            </a:r>
            <a:endParaRPr lang="es-ES" sz="1300" dirty="0">
              <a:solidFill>
                <a:srgbClr val="334155"/>
              </a:solidFill>
              <a:latin typeface="Segoe UI"/>
            </a:endParaRP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Multimodalidad en M365 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: texto, imágenes, voz y kits de marca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Clr>
                <a:srgbClr val="0D9488"/>
              </a:buClr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34155"/>
                </a:solidFill>
                <a:latin typeface="Segoe UI"/>
              </a:rPr>
              <a:t>Ética en el uso de la IA: principios responsables y Human-in-</a:t>
            </a:r>
            <a:r>
              <a:rPr lang="es-ES" sz="1300" dirty="0" err="1">
                <a:solidFill>
                  <a:srgbClr val="334155"/>
                </a:solidFill>
                <a:latin typeface="Segoe UI"/>
              </a:rPr>
              <a:t>the</a:t>
            </a:r>
            <a:r>
              <a:rPr lang="es-ES" sz="1300" dirty="0">
                <a:solidFill>
                  <a:srgbClr val="334155"/>
                </a:solidFill>
                <a:latin typeface="Segoe UI"/>
              </a:rPr>
              <a:t>-Loop</a:t>
            </a:r>
          </a:p>
        </p:txBody>
      </p:sp>
      <p:sp>
        <p:nvSpPr>
          <p:cNvPr id="40" name="CardRecursos"/>
          <p:cNvSpPr/>
          <p:nvPr/>
        </p:nvSpPr>
        <p:spPr>
          <a:xfrm>
            <a:off x="487680" y="4820000"/>
            <a:ext cx="11216640" cy="18200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0">
            <a:noFill/>
          </a:ln>
          <a:effectLst>
            <a:outerShdw blurRad="80000" dist="20000" dir="5400000" algn="t" rotWithShape="0">
              <a:srgbClr val="7C3AED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RecursosText"/>
          <p:cNvSpPr txBox="1"/>
          <p:nvPr/>
        </p:nvSpPr>
        <p:spPr>
          <a:xfrm>
            <a:off x="780000" y="4910000"/>
            <a:ext cx="10800000" cy="16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s-ES" sz="1600" b="1" dirty="0">
                <a:solidFill>
                  <a:srgbClr val="C4B5FD"/>
                </a:solidFill>
                <a:latin typeface="Segoe UI Semibold"/>
                <a:ea typeface="Segoe UI Semibold"/>
                <a:cs typeface="Segoe UI Semibold"/>
              </a:rPr>
              <a:t>Recursos recomendados</a:t>
            </a:r>
          </a:p>
          <a:p>
            <a:pPr marL="285750" indent="-285750">
              <a:spcBef>
                <a:spcPts val="15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Learn — Hub de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learn.microsoft.com/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365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Copilot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— Página oficial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microsoft.com/microsoft-365/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copilot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Clr>
                <a:srgbClr val="14B8A6"/>
              </a:buClr>
              <a:buFont typeface="Arial" panose="020B0604020202020204" pitchFamily="34" charset="0"/>
              <a:buChar char="▸"/>
            </a:pPr>
            <a:r>
              <a:rPr lang="es-ES" sz="1300" b="1" dirty="0">
                <a:solidFill>
                  <a:srgbClr val="F8FAFC"/>
                </a:solidFill>
                <a:latin typeface="Segoe UI"/>
              </a:rPr>
              <a:t>Microsoft — </a:t>
            </a:r>
            <a:r>
              <a:rPr lang="es-ES" sz="1300" b="1" dirty="0" err="1">
                <a:solidFill>
                  <a:srgbClr val="F8FAFC"/>
                </a:solidFill>
                <a:latin typeface="Segoe UI"/>
              </a:rPr>
              <a:t>Responsible</a:t>
            </a:r>
            <a:r>
              <a:rPr lang="es-ES" sz="1300" b="1" dirty="0">
                <a:solidFill>
                  <a:srgbClr val="F8FAFC"/>
                </a:solidFill>
                <a:latin typeface="Segoe UI"/>
              </a:rPr>
              <a:t> AI Standard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  ·  microsoft.com/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ai</a:t>
            </a:r>
            <a:r>
              <a:rPr lang="es-ES" sz="1300" dirty="0">
                <a:solidFill>
                  <a:srgbClr val="CBD5E1"/>
                </a:solidFill>
                <a:latin typeface="Segoe UI"/>
              </a:rPr>
              <a:t>/</a:t>
            </a:r>
            <a:r>
              <a:rPr lang="es-ES" sz="1300" dirty="0" err="1">
                <a:solidFill>
                  <a:srgbClr val="CBD5E1"/>
                </a:solidFill>
                <a:latin typeface="Segoe UI"/>
              </a:rPr>
              <a:t>responsible-ai</a:t>
            </a:r>
            <a:endParaRPr lang="es-ES" sz="1300" dirty="0">
              <a:solidFill>
                <a:srgbClr val="CBD5E1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7517CC-A537-821C-1895-FBDCCA45A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514" y="270210"/>
            <a:ext cx="10666972" cy="757079"/>
          </a:xfrm>
        </p:spPr>
        <p:txBody>
          <a:bodyPr/>
          <a:lstStyle/>
          <a:p>
            <a:r>
              <a:rPr lang="es-ES" sz="2000" dirty="0"/>
              <a:t>Al responder a esta pregunta, </a:t>
            </a:r>
            <a:r>
              <a:rPr lang="es-ES" sz="2000"/>
              <a:t>por favor, </a:t>
            </a:r>
            <a:r>
              <a:rPr lang="es-ES" sz="2000" dirty="0"/>
              <a:t>reflexiona sobre tus respuestas anteriores. Tu respuesta debe reflejar tu impresión general sobre la calidad del curso y no un aspecto específico. </a:t>
            </a:r>
          </a:p>
        </p:txBody>
      </p:sp>
      <p:pic>
        <p:nvPicPr>
          <p:cNvPr id="7" name="Picture 6" descr="Imagen ilustrativa relacionada con Al responder a esta pregunta, por favor, reflexiona sobre tus respuestas anteriores. Tu respuesta debe reflejar tu impresión general sobre la calidad del curso y no un aspecto específico.">
            <a:extLst>
              <a:ext uri="{FF2B5EF4-FFF2-40B4-BE49-F238E27FC236}">
                <a16:creationId xmlns:a16="http://schemas.microsoft.com/office/drawing/2014/main" id="{06C93655-E292-759D-332F-304614A5D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706" y="1027289"/>
            <a:ext cx="7430144" cy="4496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08289-EA60-4953-D93A-AF664AB18D13}"/>
              </a:ext>
            </a:extLst>
          </p:cNvPr>
          <p:cNvSpPr txBox="1"/>
          <p:nvPr/>
        </p:nvSpPr>
        <p:spPr>
          <a:xfrm>
            <a:off x="462844" y="5634227"/>
            <a:ext cx="115259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Es importante destacar que solo el 9 y el 10 representan ‘Satisfecho’</a:t>
            </a:r>
          </a:p>
          <a:p>
            <a:pPr algn="ctr"/>
            <a:endParaRPr lang="es-ES" b="1" dirty="0"/>
          </a:p>
          <a:p>
            <a:pPr algn="ctr"/>
            <a:r>
              <a:rPr lang="es-ES" sz="2400" b="1" dirty="0"/>
              <a:t>¡Muchas gracias!</a:t>
            </a:r>
            <a:endParaRPr lang="en-GB" sz="2400" b="1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97087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6072</TotalTime>
  <Words>9380</Words>
  <Application>Microsoft Office PowerPoint</Application>
  <PresentationFormat>Panorámica</PresentationFormat>
  <Paragraphs>931</Paragraphs>
  <Slides>64</Slides>
  <Notes>46</Notes>
  <HiddenSlides>3</HiddenSlides>
  <MMClips>1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64</vt:i4>
      </vt:variant>
    </vt:vector>
  </HeadingPairs>
  <TitlesOfParts>
    <vt:vector size="75" baseType="lpstr">
      <vt:lpstr>Aptos</vt:lpstr>
      <vt:lpstr>Aptos Display</vt:lpstr>
      <vt:lpstr>Arial</vt:lpstr>
      <vt:lpstr>Segoe Sans Text</vt:lpstr>
      <vt:lpstr>Segoe UI</vt:lpstr>
      <vt:lpstr>Segoe UI Emoji</vt:lpstr>
      <vt:lpstr>Segoe UI Semibold</vt:lpstr>
      <vt:lpstr>Segoe UI Symbol</vt:lpstr>
      <vt:lpstr>Wingdings</vt:lpstr>
      <vt:lpstr>Wingdings 2</vt:lpstr>
      <vt:lpstr>Office Theme</vt:lpstr>
      <vt:lpstr>IA Generativa para profesionales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 Administrator</dc:creator>
  <cp:lastModifiedBy>Juan Quijano</cp:lastModifiedBy>
  <cp:revision>67</cp:revision>
  <dcterms:created xsi:type="dcterms:W3CDTF">2026-06-04T08:20:33Z</dcterms:created>
  <dcterms:modified xsi:type="dcterms:W3CDTF">2026-07-03T08:34:11Z</dcterms:modified>
</cp:coreProperties>
</file>