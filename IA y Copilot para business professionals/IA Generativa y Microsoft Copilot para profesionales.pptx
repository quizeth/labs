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2.svg" ContentType="image/svg"/>
  <Override PartName="/ppt/media/image23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639" r:id="rId12"/>
    <p:sldId id="2147482589" r:id="rId13"/>
    <p:sldId id="2147478584" r:id="rId14"/>
    <p:sldId id="2147482609" r:id="rId15"/>
    <p:sldId id="2147479900" r:id="rId16"/>
    <p:sldId id="2147482596" r:id="rId17"/>
    <p:sldId id="2147482610" r:id="rId18"/>
    <p:sldId id="2147482590" r:id="rId19"/>
    <p:sldId id="2147482613" r:id="rId20"/>
    <p:sldId id="2147482638" r:id="rId21"/>
    <p:sldId id="2147482600" r:id="rId22"/>
    <p:sldId id="2147482611" r:id="rId23"/>
    <p:sldId id="2147482614" r:id="rId24"/>
    <p:sldId id="2147482623" r:id="rId25"/>
    <p:sldId id="2147482619" r:id="rId26"/>
    <p:sldId id="2147482621" r:id="rId27"/>
    <p:sldId id="2147482632" r:id="rId28"/>
    <p:sldId id="2147482633" r:id="rId29"/>
    <p:sldId id="2147482631" r:id="rId30"/>
    <p:sldId id="2147482602" r:id="rId31"/>
    <p:sldId id="2147482637" r:id="rId32"/>
    <p:sldId id="2147482592" r:id="rId33"/>
    <p:sldId id="288" r:id="rId34"/>
    <p:sldId id="2147482624" r:id="rId35"/>
    <p:sldId id="2147482591" r:id="rId36"/>
    <p:sldId id="2147482642" r:id="rId37"/>
    <p:sldId id="2147482626" r:id="rId38"/>
    <p:sldId id="2147482612" r:id="rId39"/>
    <p:sldId id="2147482580" r:id="rId40"/>
    <p:sldId id="2147482636" r:id="rId41"/>
    <p:sldId id="2147482601" r:id="rId42"/>
    <p:sldId id="2147482627" r:id="rId43"/>
    <p:sldId id="2147482628" r:id="rId44"/>
    <p:sldId id="294" r:id="rId45"/>
    <p:sldId id="2147482629" r:id="rId46"/>
    <p:sldId id="2147482603" r:id="rId47"/>
    <p:sldId id="2147482635" r:id="rId48"/>
    <p:sldId id="2147482594" r:id="rId49"/>
    <p:sldId id="2147482595" r:id="rId5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  <p14:sldId id="2147482639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590"/>
            <p14:sldId id="2147482613"/>
            <p14:sldId id="2147482638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32"/>
            <p14:sldId id="2147482633"/>
            <p14:sldId id="2147482631"/>
            <p14:sldId id="2147482602"/>
            <p14:sldId id="2147482637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591"/>
            <p14:sldId id="2147482642"/>
            <p14:sldId id="2147482626"/>
            <p14:sldId id="2147482612"/>
            <p14:sldId id="2147482580"/>
            <p14:sldId id="2147482636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  <p14:sldId id="2147482635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0" autoAdjust="0"/>
    <p:restoredTop sz="82378" autoAdjust="0"/>
  </p:normalViewPr>
  <p:slideViewPr>
    <p:cSldViewPr snapToGrid="0">
      <p:cViewPr varScale="1">
        <p:scale>
          <a:sx n="127" d="100"/>
          <a:sy n="127" d="100"/>
        </p:scale>
        <p:origin x="1104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4%3A%20%C3%89tica%20en%20la%20IA.md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knowledge.az1.qualtrics.com/jfe/form/SV_2l9xxtKvLOyJCKN?EVENTID=ES74105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Diapositiva de espera mientras se incorporan los participantes.</a:t>
            </a:r>
          </a:p>
          <a:p>
            <a:r>
              <a:rPr lang="es-ES" dirty="0"/>
              <a:t>Dar la bienvenida y confirmar que el curso trata sobre IA generativa y Microsoft </a:t>
            </a:r>
            <a:r>
              <a:rPr lang="es-ES" dirty="0" err="1"/>
              <a:t>Copilot</a:t>
            </a:r>
            <a:r>
              <a:rPr lang="es-ES" dirty="0"/>
              <a:t>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Carmela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horarios y descansos previstos.</a:t>
            </a:r>
          </a:p>
          <a:p>
            <a:r>
              <a:rPr lang="es-ES"/>
              <a:t>Recordar la etiqueta virtual: cámaras, micrófonos y cómo hacer preguntas.</a:t>
            </a:r>
          </a:p>
          <a:p>
            <a:r>
              <a:rPr lang="es-ES"/>
              <a:t>Mencionar la encuesta final de satisfacción, la estructura del curso y los recursos disponibles.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cinco bloques del curso:</a:t>
            </a:r>
          </a:p>
          <a:p>
            <a:r>
              <a:rPr lang="es-ES"/>
              <a:t>1) Introducción a la IA generativa. 2) Microsoft 365 Copilot en acción. 3) El arte del prompting. 4) Multimodalidad en la IA. 5) Ética en el uso de la IA.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Introducir el concepto de IA generativa partiendo de una definición sencilla: modelos entrenados con enormes cantidades de texto que aprenden patrones del lenguaje y generan respuestas coherentes.</a:t>
            </a:r>
          </a:p>
          <a:p>
            <a:r>
              <a:rPr lang="es-ES" dirty="0"/>
              <a:t>Explicar qué es un LLM (Large Language Model) y por qué constituye el motor detrás de asistentes como Microsoft Copilot.</a:t>
            </a:r>
          </a:p>
          <a:p>
            <a:r>
              <a:rPr lang="es-ES" dirty="0"/>
              <a:t>Recorrer las tres fases del funcionamiento: 1) interpretación del prompt, donde el modelo convierte la instrucción en intención y contexto; 2) generación token a token; 3) producción de la respuesta final manteniendo coherencia.</a:t>
            </a:r>
          </a:p>
          <a:p>
            <a:r>
              <a:rPr lang="es-ES" dirty="0"/>
              <a:t>Usar una analogía cotidiana (por ejemplo, autocompletar muy avanzado) para que la audiencia conecte con la idea antes de pasar a los ejemplos prácticos de la siguiente sección.</a:t>
            </a:r>
          </a:p>
          <a:p>
            <a:r>
              <a:rPr lang="es-ES" dirty="0"/>
              <a:t>Recordar que el modelo no “entiende” como una persona: predice la siguiente palabra más probable, lo cual enlaza con la importancia de validar las respuestas que veremos en los principios de uso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Tabla: 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Comparar Shadow AI (herramientas no autorizadas) frente a </a:t>
            </a:r>
            <a:r>
              <a:rPr lang="es-ES" dirty="0" err="1"/>
              <a:t>Copilot</a:t>
            </a:r>
            <a:r>
              <a:rPr lang="es-ES" dirty="0"/>
              <a:t> empresarial.</a:t>
            </a:r>
          </a:p>
          <a:p>
            <a:r>
              <a:rPr lang="es-ES" dirty="0"/>
              <a:t>Riesgos de Shadow AI: fuga de datos, sin cumplimiento legal, datos que entrenan modelos externos.</a:t>
            </a:r>
          </a:p>
          <a:p>
            <a:r>
              <a:rPr lang="es-ES" dirty="0" err="1"/>
              <a:t>Copilot</a:t>
            </a:r>
            <a:r>
              <a:rPr lang="es-ES" dirty="0"/>
              <a:t>: datos seguros en tu entorno, cumple GDPR, control total para TI y tus datos nunca entrenan el modelo.</a:t>
            </a:r>
          </a:p>
          <a:p>
            <a:endParaRPr lang="es-ES" dirty="0"/>
          </a:p>
          <a:p>
            <a:r>
              <a:rPr lang="es-ES" dirty="0"/>
              <a:t>- Cifrado de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6/18/2026 8:56 AM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Repasar el cuadro comparativo entre la versión básica (gratuita) y la versión con licencia de Microsoft 365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 dirty="0"/>
              <a:t>Versión con licencia: todo lo anterior más chat fundamentado en los datos de la organización, </a:t>
            </a:r>
            <a:r>
              <a:rPr lang="es-ES" dirty="0" err="1"/>
              <a:t>Copilot</a:t>
            </a:r>
            <a:r>
              <a:rPr lang="es-ES" dirty="0"/>
              <a:t> integrado en Word, Excel, PowerPoint, Outlook y </a:t>
            </a:r>
            <a:r>
              <a:rPr lang="es-ES" dirty="0" err="1"/>
              <a:t>Teams</a:t>
            </a:r>
            <a:r>
              <a:rPr lang="es-ES" dirty="0"/>
              <a:t>, agentes sin pago por consumo y administración y análisis avanzados.</a:t>
            </a:r>
          </a:p>
          <a:p>
            <a:r>
              <a:rPr lang="es-ES" dirty="0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14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6/18/2026 8:56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Acceso desde escritorio (Teams o app Microsoft 365 en Windows/macOS) y desde móvil (app Microsoft 365 Copilot en iOS/Android).</a:t>
            </a:r>
          </a:p>
          <a:p>
            <a:r>
              <a:rPr lang="es-ES"/>
              <a:t>La experiencia es la misma en todas las plataformas.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 interfaz de Copilot Chat por zonas: menú de agentes, botón de nuevo chat, historial de conversaciones, cuadro de prompt, dictado, añadir contenido (archivos e imágenes), galería de prompts, prompts sugeridos y páginas de Copilot.</a:t>
            </a:r>
          </a:p>
          <a:p>
            <a:r>
              <a:rPr lang="es-ES"/>
              <a:t>Sugerencia didáctica: hacer una demo en vivo abriendo Copilot Chat y señalando cada elemento sobre la pantalla.</a:t>
            </a:r>
          </a:p>
          <a:p>
            <a:r>
              <a:rPr lang="es-ES"/>
              <a:t>Animar a los alumnos a explorar la galería de prompts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1: Primeros pasos con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Capacidades reservadas a los usuarios con licencia Microsoft 365 Copilot: Agentes (sin pago por uso) y Work mode (chat fundamentado en los datos de la organización).</a:t>
            </a:r>
          </a:p>
          <a:p>
            <a:r>
              <a:rPr lang="es-ES"/>
              <a:t>Agentes: asistentes especializados que combinan LLM, instrucciones, conocimiento y acciones para resolver tareas concretas. Pueden venir del marketplace de Microsoft, crearse con Copilot Studio o ser publicados por TI.</a:t>
            </a:r>
          </a:p>
          <a:p>
            <a:r>
              <a:rPr lang="es-ES"/>
              <a:t>Work mode: acceso a correos, archivos, chats y reuniones a través de Microsoft Graph, páginas de Copilot para colaborar en tiempo real y Copilot integrado en Word, Excel, PowerPoint y Outlook.</a:t>
            </a:r>
          </a:p>
          <a:p>
            <a:r>
              <a:rPr lang="es-ES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superprompt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es una indicación extensa y cuidadosamente diseñada que, en un único mensaje, condensa todos los elementos que el modelo necesita para resolver una tarea con precisión.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lugar de enviar varias preguntas o ir corrigiendo sobre la marcha, se anticipan los componentes clave desde el inicio: el papel que debe asumir el modelo, la situación en la que se enmarca la petición, el resultado que se espera, su estructura y las limitaciones que conviene respetar.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objetivo es obtener una respuesta útil a la primera, reducir las iteraciones y dejar pocas zonas grises a la hora de interpretar la solicitud.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37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Chain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Thought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 cadena de pensamiento, consiste en invitar explícitamente al modelo a desplegar su razonamiento paso a paso antes de concluir con la respuesta definitiva.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 verbalizar cada etapa intermedia, el modelo distribuye mejor la complejidad del problema, hace visibles los supuestos y reduce los errores en tareas de aritmética, lógica, planificación o decisiones con varios criterios.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Suele activarse con frases como «razona paso a paso», «explica tu lógica antes de responder» o «detalla cada cálculo intermedio» añadidas a la petición principal.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51989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29</a:t>
            </a:fld>
            <a:endParaRPr lang="es-E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2: Creación de </a:t>
            </a:r>
            <a:r>
              <a:rPr lang="es-ES" dirty="0" err="1">
                <a:hlinkClick r:id="rId3"/>
              </a:rPr>
              <a:t>prompts</a:t>
            </a:r>
            <a:r>
              <a:rPr lang="es-ES" dirty="0">
                <a:hlinkClick r:id="rId3"/>
              </a:rPr>
              <a:t> efectivos con el marco RCTF.md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Funcionalidad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Chat: generar documentos Word, presentaciones, hojas de cálculo, imágenes, gráficos y vídeos directamente desde el chat.</a:t>
            </a:r>
          </a:p>
          <a:p>
            <a:r>
              <a:rPr lang="es-ES" dirty="0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3: Crea contenido multimedia con “</a:t>
            </a:r>
            <a:r>
              <a:rPr lang="es-ES" dirty="0" err="1">
                <a:hlinkClick r:id="rId3"/>
              </a:rPr>
              <a:t>Create</a:t>
            </a:r>
            <a:r>
              <a:rPr lang="es-ES" dirty="0">
                <a:hlinkClick r:id="rId3"/>
              </a:rPr>
              <a:t>” en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Cuadernos de Copilot (Copilot Notebooks) son espacios de trabajo con IA donde se reúnen los archivos, páginas, notas de reuniones, enlaces y chats de un proyecto para que Copilot razone únicamente con ese contenido.</a:t>
            </a:r>
          </a:p>
          <a:p>
            <a:r>
              <a:rPr lang="es-ES"/>
              <a:t>Cuatro ideas clave: reúne tus fuentes en un único espacio; obtén respuestas con contexto basadas solo en las referencias del cuaderno, que se actualizan en tiempo real; genera un resumen en audio tipo pódcast para repasar el material; y colabora en equipo compartiendo el cuaderno.</a:t>
            </a:r>
          </a:p>
          <a:p>
            <a:r>
              <a:rPr lang="es-ES"/>
              <a:t>Recordar: requiere licencia Microsoft 365 Copilot y una licencia de SharePoint u OneDrive para crear cuadernos;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37</a:t>
            </a:fld>
            <a:endParaRPr lang="es-E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38</a:t>
            </a:fld>
            <a:endParaRPr lang="es-E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integrado en cinco aplicaciones M365:</a:t>
            </a:r>
          </a:p>
          <a:p>
            <a:r>
              <a:rPr lang="es-ES"/>
              <a:t>Word: borradores y resúmenes. Excel: análisis con lenguaje natural y fórmulas. PowerPoint: presentaciones desde temas o documentos. Outlook: resumen de hilos y borradores. Teams: actas automáticas y resúmenes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49343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IA generativa ya forma parte del día a día de millones de profesionales; lo que hoy parece un atajo puede tener consecuencias reales mañana.</a:t>
            </a:r>
          </a:p>
          <a:p>
            <a:r>
              <a:rPr lang="es-ES" dirty="0"/>
              <a:t>Cuatro ideas para apoyar la reflexión con los alumnos: afecta a personas reales (clientes, compañeros, comunidades), construye o destruye confianza en nuestro trabajo y nuestra marca, define la cultura del mañana (los hábitos de hoy fijan el uso futuro de la IA), y evita la dependencia excesiva (la "</a:t>
            </a:r>
            <a:r>
              <a:rPr lang="es-ES" dirty="0" err="1"/>
              <a:t>overreliance</a:t>
            </a:r>
            <a:r>
              <a:rPr lang="es-ES" dirty="0"/>
              <a:t>"): revisar y validar lo que genera la IA, recordando que el asistente apoya el criterio pero la decisión final es humana.</a:t>
            </a:r>
          </a:p>
          <a:p>
            <a:r>
              <a:rPr lang="es-ES" dirty="0"/>
              <a:t>Tono: este bloque no es una lista de prohibiciones, es una invitación a aplicar criterio profesional.</a:t>
            </a:r>
          </a:p>
          <a:p>
            <a:r>
              <a:rPr lang="es-ES" dirty="0"/>
              <a:t>Marco legal: recordar que el criterio profesional convive con obligaciones normativas. Mencionar el RGPD (protección de datos), el Reglamento de IA de la UE (AI </a:t>
            </a:r>
            <a:r>
              <a:rPr lang="es-ES" dirty="0" err="1"/>
              <a:t>Act</a:t>
            </a:r>
            <a:r>
              <a:rPr lang="es-ES" dirty="0"/>
              <a:t>) que clasifica los sistemas por nivel de riesgo, y marcos de referencia como el NIST AI RMF. La idea no es memorizarlos, sino saber que existen reglas que enmarcan el uso de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42</a:t>
            </a:fld>
            <a:endParaRPr lang="es-E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Seis </a:t>
            </a:r>
            <a:r>
              <a:rPr lang="es-ES" dirty="0"/>
              <a:t>principios de IA </a:t>
            </a:r>
            <a:r>
              <a:rPr lang="es-ES"/>
              <a:t>responsable </a:t>
            </a:r>
            <a:r>
              <a:rPr lang="es-ES" dirty="0"/>
              <a:t>de </a:t>
            </a:r>
            <a:r>
              <a:rPr lang="es-ES"/>
              <a:t>Microsoft aplicados al uso </a:t>
            </a:r>
            <a:r>
              <a:rPr lang="es-ES" dirty="0"/>
              <a:t>profesional</a:t>
            </a:r>
            <a:r>
              <a:rPr lang="es-ES"/>
              <a:t>:</a:t>
            </a:r>
            <a:endParaRPr lang="es-ES" dirty="0"/>
          </a:p>
          <a:p>
            <a:r>
              <a:rPr lang="es-ES" dirty="0"/>
              <a:t>Equidad: </a:t>
            </a:r>
            <a:r>
              <a:rPr lang="es-ES"/>
              <a:t>revisar </a:t>
            </a:r>
            <a:r>
              <a:rPr lang="es-ES" dirty="0"/>
              <a:t>sesgos. </a:t>
            </a:r>
            <a:r>
              <a:rPr lang="es-ES"/>
              <a:t>Fiabilidad: validar resultados críticos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Privacidad: no </a:t>
            </a:r>
            <a:r>
              <a:rPr lang="es-ES"/>
              <a:t>compartir </a:t>
            </a:r>
            <a:r>
              <a:rPr lang="es-ES" dirty="0"/>
              <a:t>datos confidenciales con IA </a:t>
            </a:r>
            <a:r>
              <a:rPr lang="es-ES"/>
              <a:t>pública. Inclusión: soluciones accesibles para todos</a:t>
            </a:r>
            <a:r>
              <a:rPr lang="es-ES" dirty="0"/>
              <a:t>. </a:t>
            </a:r>
            <a:r>
              <a:rPr lang="es-ES"/>
              <a:t>Transparencia: informar cuando se usa IA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Responsabilidad: tú </a:t>
            </a:r>
            <a:r>
              <a:rPr lang="es-ES"/>
              <a:t>validas el </a:t>
            </a:r>
            <a:r>
              <a:rPr lang="es-ES" dirty="0"/>
              <a:t>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Eliminar “mediante técnicas como RLHF”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4: Ética en la IA.md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Recordad que solo las puntuaciones 9 y 10 representan 'Satisfecho’. ¡Gracias 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globalknowledge.az1.qualtrics.com/jfe/form/SV_2l9xxtKvLOyJCKN?EVENTID=ES74105"/>
              </a:rPr>
              <a:t>https://globalknowledge.az1.qualtrics.com/jfe/form/SV_2l9xxtKvLOyJCKN?EVENTID=ES74105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18/06/2026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1.jpeg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4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Mayo 2026</a:t>
            </a:r>
          </a:p>
        </p:txBody>
      </p:sp>
      <p:pic>
        <p:nvPicPr>
          <p:cNvPr id="11" name="Image 0" descr="Imagen ilustrativa relacionada con IA Generativa 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 descr="Imagen ilustrativa relacionada con Carmela Quijano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 descr="Imagen ilustrativa relacionada con Carmela Quijano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 descr="Imagen ilustrativa relacionada con Carmela Quijano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Imagen ilustrativa relacionada con Carmela Quijano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 descr="Imagen ilustrativa relacionada con Carmela Quijano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 descr="Imagen ilustrativa relacionada con Carmela Quijano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Imagen ilustrativa relacionada con Carmela Quijano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Imagen ilustrativa relacionada con Carmela Quijano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magen ilustrativa relacionada con Carmela Quijano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Imagen ilustrativa relacionada con Carmela Quijano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Imagen ilustrativa relacionada con Carmela Quija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Carmela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2022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Especializada en datos: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www.linkedin.com/in/c-quijano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Encuesta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Icono ilustrativo en la diapositiva sobre Logística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Icono ilustrativo en la diapositiva sobre Logística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Icono ilustrativo en la diapositiva sobre Logística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Logística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23718" y="155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23718" y="247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23718" y="339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23718" y="431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23718" y="523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81143" y="173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81143" y="265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81143" y="357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81143" y="449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81143" y="541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71600" y="155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71600" y="247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71600" y="339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71600" y="431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71600" y="523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Imagen ilustrativa relacionada con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 descr="Imagen relacionada con ¿Qué es la inteligencia artificial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50" name="MLBand"/>
          <p:cNvSpPr/>
          <p:nvPr/>
        </p:nvSpPr>
        <p:spPr>
          <a:xfrm>
            <a:off x="1221249" y="2248030"/>
            <a:ext cx="10241280" cy="520000"/>
          </a:xfrm>
          <a:prstGeom prst="roundRect">
            <a:avLst>
              <a:gd name="adj" fmla="val 22000"/>
            </a:avLst>
          </a:prstGeom>
          <a:solidFill>
            <a:srgbClr val="F0FDFA"/>
          </a:solidFill>
          <a:ln w="12700">
            <a:solidFill>
              <a:srgbClr val="99F6E4"/>
            </a:solidFill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300" b="1">
                <a:solidFill>
                  <a:srgbClr val="0F766E"/>
                </a:solidFill>
                <a:latin typeface="Segoe UI Semibold"/>
                <a:cs typeface="Segoe UI Semibold"/>
              </a:rPr>
              <a:t>Aprendizaje automático (machine learning): </a:t>
            </a:r>
            <a:r>
              <a:rPr lang="es-ES" sz="1300">
                <a:solidFill>
                  <a:srgbClr val="334155"/>
                </a:solidFill>
                <a:latin typeface="Segoe UI"/>
                <a:cs typeface="Segoe UI"/>
              </a:rPr>
              <a:t>la IA aprende de los datos y mejora con la experiencia, sin programar cada regla a mano.</a:t>
            </a:r>
          </a:p>
        </p:txBody>
      </p:sp>
      <p:sp>
        <p:nvSpPr>
          <p:cNvPr id="21" name="Desc1"/>
          <p:cNvSpPr/>
          <p:nvPr/>
        </p:nvSpPr>
        <p:spPr>
          <a:xfrm>
            <a:off x="111758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7790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3822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Predice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109904" y="3429000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9854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 descr="Imagen relacionada con ¿Qué es la inteligencia artificial generativ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cantidades enormes de datos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Imagen ilustrativa relacionada con Casos de uso en el mundo profes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reunión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resumen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documentos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extensos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Imagen ilustrativa relacionada con Casos de uso en el mundo profesion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datos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creación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gráficos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análisis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tendencias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Imagen ilustrativa relacionada con Casos de uso en el mundo profesi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automática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adaptado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la audiencia,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clientes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FAQ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automatizadas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Profesiones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 descr="Imagen relacionada con IA en la somb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 descr="Icono ilustrativo en la diapositiva sobre IA en la sombra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236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 descr="Icono ilustrativo en la diapositiva sobre IA en la somb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238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Cifrado de datos en tránsito y en </a:t>
            </a:r>
            <a:r>
              <a:rPr lang="es-ES" sz="1400" b="1" dirty="0" err="1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resposo</a:t>
            </a:r>
            <a:endParaRPr lang="es-ES" sz="1400" b="1" dirty="0">
              <a:solidFill>
                <a:srgbClr val="1E293B"/>
              </a:solidFill>
              <a:latin typeface="Segoe UI Semibold" pitchFamily="34" charset="0"/>
              <a:cs typeface="Segoe UI Semibold" pitchFamily="34" charset="0"/>
            </a:endParaRP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Intro a la IA generativa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IA generativa no sustituye, amplifica al profesional: entender qué son los LLM y sus casos de uso permite identificar oportunidades reales y reconocer sus limitaciones.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Qué es la inteligencia artificial y cómo imita capacidades humanas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Modelos LLM (Large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Language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) como base de la IA generativa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Casos de uso profesionales: documentación, análisis y comunicación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Tareas automatizables frente a competencias humanas clave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Impacto en el mundo profesional y nuevos perfiles emergentes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Fundamentos de IA generativa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learn.microsoft.com/training/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paths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introduction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-generative-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Stanford CRFM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Opportunities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and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Risks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Foundation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/2108.07258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OpenAI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Research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GPT-4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Technical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Report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openai.com/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research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/gpt-4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 descr="Imagen ilustrativa relacionada con Copilot Chat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68154" y="1380675"/>
            <a:ext cx="146995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268154" y="1752029"/>
            <a:ext cx="2373065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 dirty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M365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Imagen ilustrativa relacionada con Copilot Chat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pic>
        <p:nvPicPr>
          <p:cNvPr id="4" name="Image 0" descr="Imagen ilustrativa relacionada con Copilot Chat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4="http://schemas.microsoft.com/office/powerpoint/2010/main" xmlns:p15="http://schemas.microsoft.com/office/powerpoint/2012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 descr="Imagen ilustrativa relacionada con Microsoft 365 Copilot Chat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Imagen ilustrativa relacionada con Acceso a Copilot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Imagen ilustrativa relacionada con Acceso a Copilot 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Imagen ilustrativa relacionada con Acceso a Copilot Chat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Imagen ilustrativa relacionada con Acceso a Copilot Chat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Imagen ilustrativa relacionada con Acceso a Copilot Chat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Imagen ilustrativa relacionada con Acceso a Copilot Chat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Imagen ilustrativa relacionada con Acceso a Copilot Cha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Interfaz de Microsoft 365 Copilot Chat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 descr="Imagen ilustrativa relacionada con Interfaz de Microsoft 365 Copilot Chat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Chat fundamentado en los datos de tu </a:t>
            </a: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organización</a:t>
            </a:r>
            <a:endParaRPr lang="es-ES" sz="15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Cuadernos </a:t>
            </a:r>
            <a:r>
              <a:rPr lang="es-ES" sz="1500" b="1">
                <a:solidFill>
                  <a:srgbClr val="1E293B"/>
                </a:solidFill>
                <a:latin typeface="Segoe UI Semibold"/>
              </a:rPr>
              <a:t>(Notebooks)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M365 Copilot en acción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>
              <a:spcBef>
                <a:spcPts val="200"/>
              </a:spcBef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</a:t>
            </a:r>
            <a:r>
              <a:rPr lang="es-ES" sz="1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 la vía segura y productiva frente a la IA en la sombra: el ecosistema Chat + Agentes cubre la mayoría de los casos profesionales con garantías de privacidad.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Ecosistema 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IA en la sombra: riesgos de usar herramientas no corporativas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Versión básica gratuita frente a licencia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Acceso desde navegador, escritorio y aplicación móvil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Interfaz, capacidades exclusivas premium y laboratorio práctico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Adopción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Centro de recursos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adoption.microsoft.com/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Lab — Primeros pasos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Imagen ilustrativa relacionada con ¿Qué es un prompt?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Personaliza Copilot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Superprompt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instrucción densa que integra rol, contexto, tarea, formato y restricciones.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010349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Indicación extensa que reúne en un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único mensaje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todo lo necesario para resolver la tarea con precisión.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Anticipa los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clave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rol, contexto, resultado esperado, estructura y restricciones.</a:t>
            </a:r>
          </a:p>
          <a:p>
            <a:pPr marL="285750" indent="-285750">
              <a:spcAft>
                <a:spcPts val="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Objetivo: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 útil a la primera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 menos iteraciones y menos ambigüedad.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nota interna sobre los resultados de una empresa SaaS.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Rol.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Actúa como analista financiero senior especializado en compañías tecnológicas cotizadas.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Formo parte de una gestora de fondos y preparo una nota interna para el equipo de inversión sobre el último trimestre de una empresa SaaS europea.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Tarea.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Resume el informe adjunto y señala los riesgos y las oportunidades más relevantes para los próximos doce meses.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Devuelve la respuesta en tres bloques: resumen ejecutivo en cinco viñetas, tres riesgos con su explicación breve y tres oportunidades con su impacto estimado.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Restricciones.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Lenguaje técnico pero claro, máximo 300 palabras, sin recomendaciones de inversión y citando los datos numéricos exactos del informe.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Estructura RCTF + restricciones · un único mensaje · respuesta más precisa a la primera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F9A4EB05-B878-9C2B-C3C3-92D51E5E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Chain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of</a:t>
            </a: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Thought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Pedir al modelo que razone paso a paso antes de ofrecer la respuesta final.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18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modelo despliega su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antes de la respuesta definitiva.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Verbaliza etapas, expone supuestos y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 errores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aritmética, lógica, planificación y decisiones multicriterio.</a:t>
            </a:r>
          </a:p>
          <a:p>
            <a:pPr marL="285750" indent="-285750">
              <a:spcAft>
                <a:spcPts val="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 activa con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instrucciones explícitas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«razona paso a paso», «explica tu lógica» o «detalla cada cálculo intermedio».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dimensionar el equipo logístico para una campaña de envíos.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tienda recibe 4.800 pedidos en 6 días. Cada operario procesa 60 pedidos por turno de 8 horas y trabaja como máximo 5 turnos por semana. ¿Cuántos operarios hacen falta para cumplir el plazo?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 paso a paso antes de dar la cifra final: identifica los datos relevantes, calcula los pedidos diarios, la capacidad por operario y por semana, y compara los totales.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Muestra cada operación intermedia (suma, división, redondeo) y explica brevemente por qué se aplica antes de avanzar a la siguiente.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Tras el razonamiento, indica en una línea aparte el número entero de operarios necesarios para cubrir la campaña.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Verificación.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Comprueba el resultado multiplicando hacia atrás (operarios × turnos × capacidad) y confirma que cubre o supera los 4.800 pedidos.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 · menos errores en tareas complejas · respuesta verificable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CF4BF73D-6560-BAB5-2707-C64E6FF20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67707"/>
              </p:ext>
            </p:extLst>
          </p:nvPr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of</a:t>
                      </a:r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Thought</a:t>
                      </a:r>
                      <a:endParaRPr lang="es-ES" sz="20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Imagen ilustrativa relacionada con Superprompts vs. Chain of Thoughts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 vs. Chain of Thoughts</a:t>
            </a:r>
            <a:endParaRPr lang="en-US" sz="360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El arte del prompting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Un buen prompt determina la calidad de la respuesta: claridad, contexto y formato marcan la diferencia. El marco RCTF y técnicas como Chain of Thought convierten a Copilot en un copiloto realmente productivo.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Qué es un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y diferencia entre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de sistema y de usuario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Personalización de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con instrucciones y perfil de trabajo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Historial de conversaciones y mantenimiento del contexto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Marco RCTF para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efectivos: Rol, Contexto, Tarea y Formato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Buenas prácticas y antipatrones al redactar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Técnicas avanzadas: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Diseño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para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prompting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Gallery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— biblioteca oficial de ejemplos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"Chain-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Thought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Prompting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" (Wei et al., 2022)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/2201.11903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Multimodalidad en 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Multimodalidad en 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Multimodalidad en 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Imagen ilustrativa relacionada con Multimodalidad en IA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Imagen relacionada con Create en Copilot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 descr="Imagen ilustrativa relacionada con Create en Copilot Chat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 contenido multimedia con “Create” en Microsoft 365 Copilot Chat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762000" y="418934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Cuadernos de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b="0" dirty="0">
              <a:solidFill>
                <a:srgbClr val="64748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5" name="DefinitionBand"/>
          <p:cNvSpPr/>
          <p:nvPr/>
        </p:nvSpPr>
        <p:spPr>
          <a:xfrm>
            <a:off x="609600" y="1240000"/>
            <a:ext cx="10972800" cy="9000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6" name="DefIcon"/>
          <p:cNvSpPr/>
          <p:nvPr/>
        </p:nvSpPr>
        <p:spPr>
          <a:xfrm>
            <a:off x="853440" y="1462000"/>
            <a:ext cx="456000" cy="456000"/>
          </a:xfrm>
          <a:prstGeom prst="ellipse">
            <a:avLst/>
          </a:prstGeom>
          <a:solidFill>
            <a:srgbClr val="4F46E5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000">
                <a:latin typeface="Segoe UI Emoji" pitchFamily="34" charset="0"/>
                <a:cs typeface="Segoe UI Emoji" pitchFamily="34" charset="0"/>
              </a:rPr>
              <a:t>📓</a:t>
            </a:r>
          </a:p>
        </p:txBody>
      </p:sp>
      <p:sp>
        <p:nvSpPr>
          <p:cNvPr id="7" name="DefText"/>
          <p:cNvSpPr/>
          <p:nvPr/>
        </p:nvSpPr>
        <p:spPr>
          <a:xfrm>
            <a:off x="1531440" y="1300000"/>
            <a:ext cx="9869760" cy="78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312E81"/>
                </a:solidFill>
                <a:latin typeface="Segoe UI Semibold" pitchFamily="34" charset="0"/>
                <a:cs typeface="Segoe UI Semibold" pitchFamily="34" charset="0"/>
              </a:rPr>
              <a:t>¿Qué son? </a:t>
            </a:r>
            <a:r>
              <a:rPr lang="es-ES" sz="1400">
                <a:solidFill>
                  <a:srgbClr val="334155"/>
                </a:solidFill>
                <a:latin typeface="Segoe UI" pitchFamily="34" charset="0"/>
                <a:cs typeface="Segoe UI" pitchFamily="34" charset="0"/>
              </a:rPr>
              <a:t>Espacios de trabajo con IA donde reúnes los archivos, páginas y fuentes de un proyecto para que Copilot razone solo con ese contenido y te dé respuestas más precisas y contextualizadas.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581000" y="2580000"/>
            <a:ext cx="560400" cy="5604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📁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Reúne tus fuentes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Agrupa documentos de Word, Excel y PowerPoint, páginas de Copilot, notas de reuniones y enlaces en un único espacio.</a:t>
            </a:r>
          </a:p>
        </p:txBody>
      </p:sp>
      <p:sp>
        <p:nvSpPr>
          <p:cNvPr id="20" name="Card2BG"/>
          <p:cNvSpPr/>
          <p:nvPr/>
        </p:nvSpPr>
        <p:spPr>
          <a:xfrm>
            <a:off x="34328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4404200" y="2580000"/>
            <a:ext cx="560400" cy="5604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💬</a:t>
            </a:r>
          </a:p>
        </p:txBody>
      </p:sp>
      <p:sp>
        <p:nvSpPr>
          <p:cNvPr id="22" name="Card2Title"/>
          <p:cNvSpPr/>
          <p:nvPr/>
        </p:nvSpPr>
        <p:spPr>
          <a:xfrm>
            <a:off x="35547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Respuestas con contexto</a:t>
            </a:r>
          </a:p>
        </p:txBody>
      </p:sp>
      <p:sp>
        <p:nvSpPr>
          <p:cNvPr id="23" name="Card2Text"/>
          <p:cNvSpPr/>
          <p:nvPr/>
        </p:nvSpPr>
        <p:spPr>
          <a:xfrm>
            <a:off x="35547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Copilot razona solo con las referencias del cuaderno y las mantiene al día en tiempo real conforme evoluciona el proyecto.</a:t>
            </a:r>
          </a:p>
        </p:txBody>
      </p:sp>
      <p:sp>
        <p:nvSpPr>
          <p:cNvPr id="30" name="Card3BG"/>
          <p:cNvSpPr/>
          <p:nvPr/>
        </p:nvSpPr>
        <p:spPr>
          <a:xfrm>
            <a:off x="62560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7227400" y="2580000"/>
            <a:ext cx="560400" cy="5604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🎧</a:t>
            </a:r>
          </a:p>
        </p:txBody>
      </p:sp>
      <p:sp>
        <p:nvSpPr>
          <p:cNvPr id="32" name="Card3Title"/>
          <p:cNvSpPr/>
          <p:nvPr/>
        </p:nvSpPr>
        <p:spPr>
          <a:xfrm>
            <a:off x="63779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Resumen en audio</a:t>
            </a:r>
          </a:p>
        </p:txBody>
      </p:sp>
      <p:sp>
        <p:nvSpPr>
          <p:cNvPr id="33" name="Card3Text"/>
          <p:cNvSpPr/>
          <p:nvPr/>
        </p:nvSpPr>
        <p:spPr>
          <a:xfrm>
            <a:off x="63779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Convierte el contenido del cuaderno en un resumen tipo pódcast para repasar el material allá donde estés.</a:t>
            </a:r>
          </a:p>
        </p:txBody>
      </p:sp>
      <p:sp>
        <p:nvSpPr>
          <p:cNvPr id="40" name="Card4BG"/>
          <p:cNvSpPr/>
          <p:nvPr/>
        </p:nvSpPr>
        <p:spPr>
          <a:xfrm>
            <a:off x="90792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10050600" y="2580000"/>
            <a:ext cx="560400" cy="5604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 dirty="0">
                <a:latin typeface="Segoe UI Emoji" pitchFamily="34" charset="0"/>
                <a:cs typeface="Segoe UI Emoji" pitchFamily="34" charset="0"/>
              </a:rPr>
              <a:t>👥</a:t>
            </a:r>
          </a:p>
        </p:txBody>
      </p:sp>
      <p:sp>
        <p:nvSpPr>
          <p:cNvPr id="42" name="Card4Title"/>
          <p:cNvSpPr/>
          <p:nvPr/>
        </p:nvSpPr>
        <p:spPr>
          <a:xfrm>
            <a:off x="92011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Colabora en equipo</a:t>
            </a:r>
          </a:p>
        </p:txBody>
      </p:sp>
      <p:sp>
        <p:nvSpPr>
          <p:cNvPr id="43" name="Card4Text"/>
          <p:cNvSpPr/>
          <p:nvPr/>
        </p:nvSpPr>
        <p:spPr>
          <a:xfrm>
            <a:off x="92011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Comparte el cuaderno con tu equipo para trabajar juntos, intercambiar conocimiento y crear con Copilot en tiempo real.</a:t>
            </a:r>
          </a:p>
        </p:txBody>
      </p:sp>
      <p:sp>
        <p:nvSpPr>
          <p:cNvPr id="4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algunas funciones avanzadas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Imagen ilustrativa relacionada con Copilot Voice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descr="Imagen relacionada con Copilot Voice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Imagen relacionada con Configura tus kits de marca en Cre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  <p:pic>
        <p:nvPicPr>
          <p:cNvPr id="4" name="Picture 3" descr="Imagen ilustrativa relacionada con Configura tus kits de marca en Create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Imagen ilustrativa relacionada con Configura tus kits de marca en Create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1" name="G1Header"/>
          <p:cNvSpPr/>
          <p:nvPr/>
        </p:nvSpPr>
        <p:spPr>
          <a:xfrm>
            <a:off x="6096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F6CBD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Asistente lite</a:t>
            </a:r>
          </a:p>
        </p:txBody>
      </p:sp>
      <p:sp>
        <p:nvSpPr>
          <p:cNvPr id="102" name="G1Panel"/>
          <p:cNvSpPr/>
          <p:nvPr/>
        </p:nvSpPr>
        <p:spPr>
          <a:xfrm>
            <a:off x="6096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03" name="G1A1Icon"/>
          <p:cNvSpPr/>
          <p:nvPr/>
        </p:nvSpPr>
        <p:spPr>
          <a:xfrm>
            <a:off x="8096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64B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400" b="1" dirty="0">
                <a:solidFill>
                  <a:srgbClr val="FFFFFF"/>
                </a:solidFill>
                <a:latin typeface="Segoe UI Symbol" pitchFamily="34" charset="0"/>
                <a:cs typeface="Segoe UI Symbol" pitchFamily="34" charset="0"/>
              </a:rPr>
              <a:t>O</a:t>
            </a:r>
          </a:p>
        </p:txBody>
      </p:sp>
      <p:sp>
        <p:nvSpPr>
          <p:cNvPr id="104" name="G1A1Name"/>
          <p:cNvSpPr/>
          <p:nvPr/>
        </p:nvSpPr>
        <p:spPr>
          <a:xfrm>
            <a:off x="16096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</a:rPr>
              <a:t>OneDrive</a:t>
            </a:r>
          </a:p>
        </p:txBody>
      </p:sp>
      <p:sp>
        <p:nvSpPr>
          <p:cNvPr id="105" name="G1A1Desc"/>
          <p:cNvSpPr/>
          <p:nvPr/>
        </p:nvSpPr>
        <p:spPr>
          <a:xfrm>
            <a:off x="16096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Pregunta y resume tus archivos sin abrirlos.</a:t>
            </a:r>
          </a:p>
        </p:txBody>
      </p:sp>
      <p:sp>
        <p:nvSpPr>
          <p:cNvPr id="106" name="G1A2Icon"/>
          <p:cNvSpPr/>
          <p:nvPr/>
        </p:nvSpPr>
        <p:spPr>
          <a:xfrm>
            <a:off x="8096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838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S</a:t>
            </a:r>
          </a:p>
        </p:txBody>
      </p:sp>
      <p:sp>
        <p:nvSpPr>
          <p:cNvPr id="107" name="G1A2Name"/>
          <p:cNvSpPr/>
          <p:nvPr/>
        </p:nvSpPr>
        <p:spPr>
          <a:xfrm>
            <a:off x="16096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SharePoint</a:t>
            </a:r>
          </a:p>
        </p:txBody>
      </p:sp>
      <p:sp>
        <p:nvSpPr>
          <p:cNvPr id="108" name="G1A2Desc"/>
          <p:cNvSpPr/>
          <p:nvPr/>
        </p:nvSpPr>
        <p:spPr>
          <a:xfrm>
            <a:off x="16096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Encuentra y resume contenido de tus sitios.</a:t>
            </a:r>
          </a:p>
        </p:txBody>
      </p:sp>
      <p:sp>
        <p:nvSpPr>
          <p:cNvPr id="109" name="G2Header"/>
          <p:cNvSpPr/>
          <p:nvPr/>
        </p:nvSpPr>
        <p:spPr>
          <a:xfrm>
            <a:off x="43472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7A4FBF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Creación de contenido</a:t>
            </a:r>
          </a:p>
        </p:txBody>
      </p:sp>
      <p:sp>
        <p:nvSpPr>
          <p:cNvPr id="110" name="G2Panel"/>
          <p:cNvSpPr/>
          <p:nvPr/>
        </p:nvSpPr>
        <p:spPr>
          <a:xfrm>
            <a:off x="43472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11" name="G2A1Icon"/>
          <p:cNvSpPr/>
          <p:nvPr/>
        </p:nvSpPr>
        <p:spPr>
          <a:xfrm>
            <a:off x="4547200" y="2311666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B579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12" name="G2A1Name"/>
          <p:cNvSpPr/>
          <p:nvPr/>
        </p:nvSpPr>
        <p:spPr>
          <a:xfrm>
            <a:off x="5347200" y="2301666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13" name="G2A1Desc"/>
          <p:cNvSpPr/>
          <p:nvPr/>
        </p:nvSpPr>
        <p:spPr>
          <a:xfrm>
            <a:off x="5347200" y="2621666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Redacta, resume y reescribe documentos.</a:t>
            </a:r>
          </a:p>
        </p:txBody>
      </p:sp>
      <p:sp>
        <p:nvSpPr>
          <p:cNvPr id="114" name="G2A2Icon"/>
          <p:cNvSpPr/>
          <p:nvPr/>
        </p:nvSpPr>
        <p:spPr>
          <a:xfrm>
            <a:off x="4547200" y="3574999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173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115" name="G2A2Name"/>
          <p:cNvSpPr/>
          <p:nvPr/>
        </p:nvSpPr>
        <p:spPr>
          <a:xfrm>
            <a:off x="5347200" y="3564999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116" name="G2A2Desc"/>
          <p:cNvSpPr/>
          <p:nvPr/>
        </p:nvSpPr>
        <p:spPr>
          <a:xfrm>
            <a:off x="5347200" y="3884999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Analiza datos y crea fórmulas y gráficos.</a:t>
            </a:r>
          </a:p>
        </p:txBody>
      </p:sp>
      <p:sp>
        <p:nvSpPr>
          <p:cNvPr id="117" name="G2A3Icon"/>
          <p:cNvSpPr/>
          <p:nvPr/>
        </p:nvSpPr>
        <p:spPr>
          <a:xfrm>
            <a:off x="4547200" y="4838332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D2472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118" name="G2A3Name"/>
          <p:cNvSpPr/>
          <p:nvPr/>
        </p:nvSpPr>
        <p:spPr>
          <a:xfrm>
            <a:off x="5347200" y="4828332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119" name="G2A3Desc"/>
          <p:cNvSpPr/>
          <p:nvPr/>
        </p:nvSpPr>
        <p:spPr>
          <a:xfrm>
            <a:off x="5347200" y="5148332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Genera presentaciones desde un documento.</a:t>
            </a:r>
          </a:p>
        </p:txBody>
      </p:sp>
      <p:sp>
        <p:nvSpPr>
          <p:cNvPr id="120" name="G3Header"/>
          <p:cNvSpPr/>
          <p:nvPr/>
        </p:nvSpPr>
        <p:spPr>
          <a:xfrm>
            <a:off x="80848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E7490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Comunicación</a:t>
            </a:r>
            <a:endParaRPr lang="es-ES" sz="1500" b="1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21" name="G3Panel"/>
          <p:cNvSpPr/>
          <p:nvPr/>
        </p:nvSpPr>
        <p:spPr>
          <a:xfrm>
            <a:off x="80848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22" name="G3A1Icon"/>
          <p:cNvSpPr/>
          <p:nvPr/>
        </p:nvSpPr>
        <p:spPr>
          <a:xfrm>
            <a:off x="82848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078D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123" name="G3A1Name"/>
          <p:cNvSpPr/>
          <p:nvPr/>
        </p:nvSpPr>
        <p:spPr>
          <a:xfrm>
            <a:off x="90848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124" name="G3A1Desc"/>
          <p:cNvSpPr/>
          <p:nvPr/>
        </p:nvSpPr>
        <p:spPr>
          <a:xfrm>
            <a:off x="90848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correos y redacta respuestas.</a:t>
            </a:r>
          </a:p>
        </p:txBody>
      </p:sp>
      <p:sp>
        <p:nvSpPr>
          <p:cNvPr id="125" name="G3A2Icon"/>
          <p:cNvSpPr/>
          <p:nvPr/>
        </p:nvSpPr>
        <p:spPr>
          <a:xfrm>
            <a:off x="82848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6264A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126" name="G3A2Name"/>
          <p:cNvSpPr/>
          <p:nvPr/>
        </p:nvSpPr>
        <p:spPr>
          <a:xfrm>
            <a:off x="90848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127" name="G3A2Desc"/>
          <p:cNvSpPr/>
          <p:nvPr/>
        </p:nvSpPr>
        <p:spPr>
          <a:xfrm>
            <a:off x="90848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reuniones y genera actas.</a:t>
            </a:r>
          </a:p>
        </p:txBody>
      </p:sp>
      <p:pic>
        <p:nvPicPr>
          <p:cNvPr id="2" name="Image 0" descr="Imagen ilustrativa relacionada con Copilot en aplicaciones de Microsoft 365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Multimodalidad en Copilot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multimodalidad expande las posibilidades creativas: texto, imágenes, voz y audio convergen en Copilot para generar contenido coherente con tu marca y acelerar la producción.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IA: texto, imágenes, voz y audio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casos de uso reales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Create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 para contenido visual y narrativo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Kits de marca con colores, tipografías y logotipos propios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Voice y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aplicaciones de Microsoft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Designer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Create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con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designer.microsoft.com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multimodal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/microsoft-365/multimodal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Brand Center — Kits de marca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brandcentral.microsoft.com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Imagen relacionada con Por qué importa usar la IA generativa con criter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470000"/>
            <a:ext cx="102412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600" b="1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Subtitle"/>
          <p:cNvSpPr/>
          <p:nvPr/>
        </p:nvSpPr>
        <p:spPr>
          <a:xfrm>
            <a:off x="975360" y="1120000"/>
            <a:ext cx="10241280" cy="43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  <a:cs typeface="Segoe UI"/>
              </a:rPr>
              <a:t>Lo que hoy parece un atajo puede convertirse mañana en una decisión con consecuencias reales para las personas, los datos y la propia organización.</a:t>
            </a:r>
          </a:p>
        </p:txBody>
      </p:sp>
      <p:sp>
        <p:nvSpPr>
          <p:cNvPr id="40" name="Card0BG"/>
          <p:cNvSpPr/>
          <p:nvPr/>
        </p:nvSpPr>
        <p:spPr>
          <a:xfrm>
            <a:off x="97536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Card0Band"/>
          <p:cNvSpPr/>
          <p:nvPr/>
        </p:nvSpPr>
        <p:spPr>
          <a:xfrm>
            <a:off x="975360" y="1760000"/>
            <a:ext cx="2410320" cy="60960"/>
          </a:xfrm>
          <a:prstGeom prst="rect">
            <a:avLst/>
          </a:prstGeom>
          <a:solidFill>
            <a:srgbClr val="6E2EB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Card0Icon"/>
          <p:cNvSpPr/>
          <p:nvPr/>
        </p:nvSpPr>
        <p:spPr>
          <a:xfrm>
            <a:off x="1175360" y="1960000"/>
            <a:ext cx="420000" cy="420000"/>
          </a:xfrm>
          <a:prstGeom prst="ellipse">
            <a:avLst/>
          </a:prstGeom>
          <a:solidFill>
            <a:srgbClr val="6E2EB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☺</a:t>
            </a:r>
          </a:p>
        </p:txBody>
      </p:sp>
      <p:sp>
        <p:nvSpPr>
          <p:cNvPr id="43" name="Card0Title"/>
          <p:cNvSpPr/>
          <p:nvPr/>
        </p:nvSpPr>
        <p:spPr>
          <a:xfrm>
            <a:off x="117536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Afecta a personas reales</a:t>
            </a:r>
          </a:p>
        </p:txBody>
      </p:sp>
      <p:sp>
        <p:nvSpPr>
          <p:cNvPr id="44" name="Card0Desc"/>
          <p:cNvSpPr/>
          <p:nvPr/>
        </p:nvSpPr>
        <p:spPr>
          <a:xfrm>
            <a:off x="117536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45" name="Card1BG"/>
          <p:cNvSpPr/>
          <p:nvPr/>
        </p:nvSpPr>
        <p:spPr>
          <a:xfrm>
            <a:off x="358568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6" name="Card1Band"/>
          <p:cNvSpPr/>
          <p:nvPr/>
        </p:nvSpPr>
        <p:spPr>
          <a:xfrm>
            <a:off x="3585680" y="1760000"/>
            <a:ext cx="2410320" cy="609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7" name="Card1Icon"/>
          <p:cNvSpPr/>
          <p:nvPr/>
        </p:nvSpPr>
        <p:spPr>
          <a:xfrm>
            <a:off x="3785680" y="1960000"/>
            <a:ext cx="420000" cy="4200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✧</a:t>
            </a:r>
          </a:p>
        </p:txBody>
      </p:sp>
      <p:sp>
        <p:nvSpPr>
          <p:cNvPr id="48" name="Card1Title"/>
          <p:cNvSpPr/>
          <p:nvPr/>
        </p:nvSpPr>
        <p:spPr>
          <a:xfrm>
            <a:off x="378568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Construye o destruye confianza</a:t>
            </a:r>
          </a:p>
        </p:txBody>
      </p:sp>
      <p:sp>
        <p:nvSpPr>
          <p:cNvPr id="49" name="Card1Desc"/>
          <p:cNvSpPr/>
          <p:nvPr/>
        </p:nvSpPr>
        <p:spPr>
          <a:xfrm>
            <a:off x="378568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50" name="Card2BG"/>
          <p:cNvSpPr/>
          <p:nvPr/>
        </p:nvSpPr>
        <p:spPr>
          <a:xfrm>
            <a:off x="619600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Card2Band"/>
          <p:cNvSpPr/>
          <p:nvPr/>
        </p:nvSpPr>
        <p:spPr>
          <a:xfrm>
            <a:off x="6196000" y="1760000"/>
            <a:ext cx="2410320" cy="609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2" name="Card2Icon"/>
          <p:cNvSpPr/>
          <p:nvPr/>
        </p:nvSpPr>
        <p:spPr>
          <a:xfrm>
            <a:off x="6396000" y="1960000"/>
            <a:ext cx="420000" cy="4200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➜</a:t>
            </a:r>
          </a:p>
        </p:txBody>
      </p:sp>
      <p:sp>
        <p:nvSpPr>
          <p:cNvPr id="53" name="Card2Title"/>
          <p:cNvSpPr/>
          <p:nvPr/>
        </p:nvSpPr>
        <p:spPr>
          <a:xfrm>
            <a:off x="639600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Define la cultura del mañana</a:t>
            </a:r>
          </a:p>
        </p:txBody>
      </p:sp>
      <p:sp>
        <p:nvSpPr>
          <p:cNvPr id="54" name="Card2Desc"/>
          <p:cNvSpPr/>
          <p:nvPr/>
        </p:nvSpPr>
        <p:spPr>
          <a:xfrm>
            <a:off x="639600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sp>
        <p:nvSpPr>
          <p:cNvPr id="55" name="Card3BG"/>
          <p:cNvSpPr/>
          <p:nvPr/>
        </p:nvSpPr>
        <p:spPr>
          <a:xfrm>
            <a:off x="880632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6" name="Card3Band"/>
          <p:cNvSpPr/>
          <p:nvPr/>
        </p:nvSpPr>
        <p:spPr>
          <a:xfrm>
            <a:off x="8806320" y="1760000"/>
            <a:ext cx="2410320" cy="609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7" name="Card3Icon"/>
          <p:cNvSpPr/>
          <p:nvPr/>
        </p:nvSpPr>
        <p:spPr>
          <a:xfrm>
            <a:off x="9006320" y="1960000"/>
            <a:ext cx="420000" cy="420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⚖</a:t>
            </a:r>
          </a:p>
        </p:txBody>
      </p:sp>
      <p:sp>
        <p:nvSpPr>
          <p:cNvPr id="58" name="Card3Title"/>
          <p:cNvSpPr/>
          <p:nvPr/>
        </p:nvSpPr>
        <p:spPr>
          <a:xfrm>
            <a:off x="900632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Cumplir la legislación vigente</a:t>
            </a:r>
          </a:p>
        </p:txBody>
      </p:sp>
      <p:sp>
        <p:nvSpPr>
          <p:cNvPr id="59" name="Card3Desc"/>
          <p:cNvSpPr/>
          <p:nvPr/>
        </p:nvSpPr>
        <p:spPr>
          <a:xfrm>
            <a:off x="900632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Respeta el marco legal: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RGPD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,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Reglamento de IA de la UE (AI Act)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 y marcos como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NIST AI RMF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60" name="LegalBG"/>
          <p:cNvSpPr/>
          <p:nvPr/>
        </p:nvSpPr>
        <p:spPr>
          <a:xfrm>
            <a:off x="975360" y="4640000"/>
            <a:ext cx="10241280" cy="1500000"/>
          </a:xfrm>
          <a:prstGeom prst="roundRect">
            <a:avLst>
              <a:gd name="adj" fmla="val 5405"/>
            </a:avLst>
          </a:prstGeom>
          <a:solidFill>
            <a:srgbClr val="FFF7ED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LegalAccent"/>
          <p:cNvSpPr/>
          <p:nvPr/>
        </p:nvSpPr>
        <p:spPr>
          <a:xfrm>
            <a:off x="975360" y="4640000"/>
            <a:ext cx="100000" cy="1500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2" name="LegalIcon"/>
          <p:cNvSpPr/>
          <p:nvPr/>
        </p:nvSpPr>
        <p:spPr>
          <a:xfrm>
            <a:off x="1295360" y="4920000"/>
            <a:ext cx="560000" cy="5600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400" b="1">
                <a:solidFill>
                  <a:srgbClr val="FFFFFF"/>
                </a:solidFill>
                <a:latin typeface="Segoe UI Symbol"/>
                <a:cs typeface="Segoe UI Symbol"/>
              </a:rPr>
              <a:t>⚠</a:t>
            </a:r>
          </a:p>
        </p:txBody>
      </p:sp>
      <p:sp>
        <p:nvSpPr>
          <p:cNvPr id="63" name="LegalTitle"/>
          <p:cNvSpPr/>
          <p:nvPr/>
        </p:nvSpPr>
        <p:spPr>
          <a:xfrm>
            <a:off x="2055360" y="4860000"/>
            <a:ext cx="900000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EA580C"/>
                </a:solidFill>
                <a:latin typeface="Segoe UI Semibold"/>
                <a:cs typeface="Segoe UI Semibold"/>
              </a:rPr>
              <a:t>Evita la dependencia excesiva de los asistentes de IA</a:t>
            </a:r>
          </a:p>
        </p:txBody>
      </p:sp>
      <p:sp>
        <p:nvSpPr>
          <p:cNvPr id="64" name="LegalDesc"/>
          <p:cNvSpPr/>
          <p:nvPr/>
        </p:nvSpPr>
        <p:spPr>
          <a:xfrm>
            <a:off x="2055360" y="5280000"/>
            <a:ext cx="9000000" cy="7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El asistente acelera el trabajo, pero no puede sustituir el juicio propio.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Revisa, cuestiona y valida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 siempre lo que genera la IA: contrasta los datos, detecta errores o sesgos y conserva tu criterio profesional. La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decisión final siempre es humana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Escenarios reales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Escenarios reales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Escenarios reales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Imagen ilustrativa relacionada con Escenarios reales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responsabilidad es la base que sostiene los demás principios al usar cualquier asistente de IA generativa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700000"/>
            <a:ext cx="19000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90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17536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500"/>
          </a:p>
        </p:txBody>
      </p:sp>
      <p:sp>
        <p:nvSpPr>
          <p:cNvPr id="104" name="Card0 Desc"/>
          <p:cNvSpPr/>
          <p:nvPr/>
        </p:nvSpPr>
        <p:spPr>
          <a:xfrm>
            <a:off x="1175360" y="3097101"/>
            <a:ext cx="16853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050" dirty="0"/>
          </a:p>
        </p:txBody>
      </p:sp>
      <p:sp>
        <p:nvSpPr>
          <p:cNvPr id="105" name="Card1 BG"/>
          <p:cNvSpPr/>
          <p:nvPr/>
        </p:nvSpPr>
        <p:spPr>
          <a:xfrm>
            <a:off x="306068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3060680" y="1700000"/>
            <a:ext cx="19000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3260680" y="190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326068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500"/>
          </a:p>
        </p:txBody>
      </p:sp>
      <p:sp>
        <p:nvSpPr>
          <p:cNvPr id="109" name="Card1 Desc"/>
          <p:cNvSpPr/>
          <p:nvPr/>
        </p:nvSpPr>
        <p:spPr>
          <a:xfrm>
            <a:off x="326068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050" dirty="0"/>
          </a:p>
        </p:txBody>
      </p:sp>
      <p:sp>
        <p:nvSpPr>
          <p:cNvPr id="110" name="Card2 BG"/>
          <p:cNvSpPr/>
          <p:nvPr/>
        </p:nvSpPr>
        <p:spPr>
          <a:xfrm>
            <a:off x="514600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5146000" y="1700000"/>
            <a:ext cx="19000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5346000" y="190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534600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500"/>
          </a:p>
        </p:txBody>
      </p:sp>
      <p:sp>
        <p:nvSpPr>
          <p:cNvPr id="114" name="Card2 Desc"/>
          <p:cNvSpPr/>
          <p:nvPr/>
        </p:nvSpPr>
        <p:spPr>
          <a:xfrm>
            <a:off x="534600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</a:t>
            </a:r>
            <a:r>
              <a:rPr lang="es-ES" sz="105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</a:t>
            </a:r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Sigue siempre la política de uso de IA y de datos de tu organización antes de pegar información sensible.</a:t>
            </a:r>
            <a:endParaRPr lang="es-ES" sz="1050" dirty="0"/>
          </a:p>
        </p:txBody>
      </p:sp>
      <p:sp>
        <p:nvSpPr>
          <p:cNvPr id="115" name="Card3 BG"/>
          <p:cNvSpPr/>
          <p:nvPr/>
        </p:nvSpPr>
        <p:spPr>
          <a:xfrm>
            <a:off x="723132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7231320" y="1700000"/>
            <a:ext cx="19000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7431320" y="190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743132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500"/>
          </a:p>
        </p:txBody>
      </p:sp>
      <p:sp>
        <p:nvSpPr>
          <p:cNvPr id="119" name="Card3 Desc"/>
          <p:cNvSpPr/>
          <p:nvPr/>
        </p:nvSpPr>
        <p:spPr>
          <a:xfrm>
            <a:off x="743132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de todas las capacidades, orígenes y contextos, y asegúrate de que las soluciones sean accesibles para todos.</a:t>
            </a:r>
            <a:endParaRPr lang="es-ES" sz="1050" dirty="0"/>
          </a:p>
        </p:txBody>
      </p:sp>
      <p:sp>
        <p:nvSpPr>
          <p:cNvPr id="120" name="Card4 BG"/>
          <p:cNvSpPr/>
          <p:nvPr/>
        </p:nvSpPr>
        <p:spPr>
          <a:xfrm>
            <a:off x="931664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9316640" y="1700000"/>
            <a:ext cx="19000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9516640" y="190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951664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500"/>
          </a:p>
        </p:txBody>
      </p:sp>
      <p:sp>
        <p:nvSpPr>
          <p:cNvPr id="124" name="Card4 Desc"/>
          <p:cNvSpPr/>
          <p:nvPr/>
        </p:nvSpPr>
        <p:spPr>
          <a:xfrm>
            <a:off x="951664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050" dirty="0"/>
          </a:p>
        </p:txBody>
      </p:sp>
      <p:sp>
        <p:nvSpPr>
          <p:cNvPr id="125" name="Card5 BG"/>
          <p:cNvSpPr/>
          <p:nvPr/>
        </p:nvSpPr>
        <p:spPr>
          <a:xfrm>
            <a:off x="975360" y="5036081"/>
            <a:ext cx="10241280" cy="139397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975360" y="5036081"/>
            <a:ext cx="1024128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1175360" y="5256081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★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1702080" y="5296081"/>
            <a:ext cx="931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 — la base de todos los principios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1175360" y="5886081"/>
            <a:ext cx="9841280" cy="54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 dirty="0"/>
          </a:p>
        </p:txBody>
      </p:sp>
      <p:pic>
        <p:nvPicPr>
          <p:cNvPr id="3" name="Image 0" descr="Imagen ilustrativa relacionada con Principios de uso responsable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Imagen ilustrativa relacionada con Human-in-the-Loop (HIT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Ética en el uso de la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responsabilidad final recae siempre en la persona: aplicar Human-in-the-Loop y los principios de uso responsable es innegociable para evitar errores reputacionales y legales.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Por qué importa usar la IA generativa con criterio profesional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Escenarios reales: Mata v. Avianca, Samsung Data Leak y CNET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Seis principios de uso responsable: equidad, fiabilidad, privacidad…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 (HITL): supervisión y validación humana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Laboratorio práctico de ética y reflexión final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AI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Act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de la Unión Europea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artificialintelligenceact.eu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NIST AI Risk Management Framework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nist.gov/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itl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ai-risk-management-framework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Hoy dejas de ser espectador de la IA y pasas a dirigirla: con un buen prompt, Copilot a tu lado y criterio responsable, lo aprendido aquí es la chispa para reinventar tu trabajo y, con él, lo que tu equipo es capaz de lograr.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Introducción a la IA generativa: fundamentos, LLM y casos de uso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acción: ecosistema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El arte del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prompting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marco RCTF,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texto, imágenes, voz y kits de marca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Ética en el uso de la IA: principios responsables y 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Hub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 descr="Imagen ilustrativa relacionada con Al responder a esta pregunta, por favor, reflexiona sobre tus respuestas anteriores. Tu respuesta debe reflejar tu impresión general sobre la calidad del curso y no un aspecto específico.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5291</TotalTime>
  <Words>7667</Words>
  <Application>Microsoft Office PowerPoint</Application>
  <PresentationFormat>Widescreen</PresentationFormat>
  <Paragraphs>713</Paragraphs>
  <Slides>49</Slides>
  <Notes>45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Aptos</vt:lpstr>
      <vt:lpstr>Aptos Display</vt:lpstr>
      <vt:lpstr>Arial</vt:lpstr>
      <vt:lpstr>Segoe Sans Text</vt:lpstr>
      <vt:lpstr>Segoe UI</vt:lpstr>
      <vt:lpstr>Segoe UI Emoji</vt:lpstr>
      <vt:lpstr>Segoe UI Semibold</vt:lpstr>
      <vt:lpstr>Segoe UI Symbol</vt:lpstr>
      <vt:lpstr>Wingdings</vt:lpstr>
      <vt:lpstr>Wingdings 2</vt:lpstr>
      <vt:lpstr>Office Theme</vt:lpstr>
      <vt:lpstr>IA Generativa para profesionales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MOD Administrator</cp:lastModifiedBy>
  <cp:revision>65</cp:revision>
  <dcterms:created xsi:type="dcterms:W3CDTF">2026-06-04T08:20:33Z</dcterms:created>
  <dcterms:modified xsi:type="dcterms:W3CDTF">2026-06-18T07:20:40Z</dcterms:modified>
</cp:coreProperties>
</file>