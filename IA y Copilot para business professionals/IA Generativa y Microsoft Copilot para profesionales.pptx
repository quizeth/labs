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657" r:id="rId13"/>
    <p:sldId id="2147482589" r:id="rId14"/>
    <p:sldId id="2147478584" r:id="rId15"/>
    <p:sldId id="2147482609" r:id="rId16"/>
    <p:sldId id="2147479900" r:id="rId17"/>
    <p:sldId id="2147482596" r:id="rId18"/>
    <p:sldId id="2147482610" r:id="rId19"/>
    <p:sldId id="2147482613" r:id="rId20"/>
    <p:sldId id="2147482590" r:id="rId21"/>
    <p:sldId id="2147482638" r:id="rId22"/>
    <p:sldId id="2147482600" r:id="rId23"/>
    <p:sldId id="2147482611" r:id="rId24"/>
    <p:sldId id="2147482614" r:id="rId25"/>
    <p:sldId id="2147482623" r:id="rId26"/>
    <p:sldId id="2147482619" r:id="rId27"/>
    <p:sldId id="2147482621" r:id="rId28"/>
    <p:sldId id="2147482631" r:id="rId29"/>
    <p:sldId id="2147482632" r:id="rId30"/>
    <p:sldId id="2147482633" r:id="rId31"/>
    <p:sldId id="2147482602" r:id="rId32"/>
    <p:sldId id="2147482637" r:id="rId33"/>
    <p:sldId id="2147482592" r:id="rId34"/>
    <p:sldId id="288" r:id="rId35"/>
    <p:sldId id="2147482624" r:id="rId36"/>
    <p:sldId id="2147482642" r:id="rId37"/>
    <p:sldId id="2147482612" r:id="rId38"/>
    <p:sldId id="2147482591" r:id="rId39"/>
    <p:sldId id="2147482580" r:id="rId40"/>
    <p:sldId id="2147482626" r:id="rId41"/>
    <p:sldId id="2147482636" r:id="rId42"/>
    <p:sldId id="2147482601" r:id="rId43"/>
    <p:sldId id="2147482627" r:id="rId44"/>
    <p:sldId id="2147482628" r:id="rId45"/>
    <p:sldId id="294" r:id="rId46"/>
    <p:sldId id="2147482629" r:id="rId47"/>
    <p:sldId id="2147482603" r:id="rId48"/>
    <p:sldId id="2147482635" r:id="rId49"/>
    <p:sldId id="2147482643" r:id="rId50"/>
    <p:sldId id="2147482644" r:id="rId51"/>
    <p:sldId id="2147482645" r:id="rId52"/>
    <p:sldId id="2147482646" r:id="rId53"/>
    <p:sldId id="2147482647" r:id="rId54"/>
    <p:sldId id="2147482648" r:id="rId55"/>
    <p:sldId id="2147482649" r:id="rId56"/>
    <p:sldId id="2147482650" r:id="rId57"/>
    <p:sldId id="2147482651" r:id="rId58"/>
    <p:sldId id="2147482652" r:id="rId59"/>
    <p:sldId id="2147482653" r:id="rId60"/>
    <p:sldId id="2147482654" r:id="rId61"/>
    <p:sldId id="2147482655" r:id="rId62"/>
    <p:sldId id="2147482656" r:id="rId63"/>
    <p:sldId id="2147482594" r:id="rId64"/>
    <p:sldId id="2147482595" r:id="rId6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  <p14:sldId id="2147482657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613"/>
            <p14:sldId id="2147482590"/>
            <p14:sldId id="2147482638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1"/>
            <p14:sldId id="2147482632"/>
            <p14:sldId id="2147482633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642"/>
            <p14:sldId id="2147482612"/>
            <p14:sldId id="2147482591"/>
            <p14:sldId id="2147482580"/>
            <p14:sldId id="2147482626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Agentes de IA" id="{A6E27C41-3B5D-4F8A-9C12-7E0D5B3A9F44}">
          <p14:sldIdLst>
            <p14:sldId id="2147482643"/>
            <p14:sldId id="2147482644"/>
            <p14:sldId id="2147482645"/>
            <p14:sldId id="2147482646"/>
            <p14:sldId id="2147482647"/>
            <p14:sldId id="2147482648"/>
            <p14:sldId id="2147482649"/>
          </p14:sldIdLst>
        </p14:section>
        <p14:section name="Copilot CoWork" id="{B7F38D52-4E6C-5A9B-AD23-8F1E6C4BA055}">
          <p14:sldIdLst>
            <p14:sldId id="2147482650"/>
            <p14:sldId id="2147482651"/>
            <p14:sldId id="2147482652"/>
            <p14:sldId id="2147482653"/>
            <p14:sldId id="2147482654"/>
            <p14:sldId id="2147482655"/>
            <p14:sldId id="2147482656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EDBB9A-2922-4046-B99D-0545AA58121F}" v="5" dt="2026-07-01T08:04:51.7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0" autoAdjust="0"/>
    <p:restoredTop sz="62543" autoAdjust="0"/>
  </p:normalViewPr>
  <p:slideViewPr>
    <p:cSldViewPr snapToGrid="0">
      <p:cViewPr varScale="1">
        <p:scale>
          <a:sx n="73" d="100"/>
          <a:sy n="73" d="100"/>
        </p:scale>
        <p:origin x="1932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Quijano" userId="8fd70a15eeb99ef6" providerId="LiveId" clId="{A2C67731-1E1D-405D-96E6-2D1D11C2529B}"/>
    <pc:docChg chg="undo custSel addSld modSld sldOrd addSection modSection">
      <pc:chgData name="Juan Quijano" userId="8fd70a15eeb99ef6" providerId="LiveId" clId="{A2C67731-1E1D-405D-96E6-2D1D11C2529B}" dt="2026-07-02T12:17:20.169" v="144"/>
      <pc:docMkLst>
        <pc:docMk/>
      </pc:docMkLst>
      <pc:sldChg chg="modSp mod">
        <pc:chgData name="Juan Quijano" userId="8fd70a15eeb99ef6" providerId="LiveId" clId="{A2C67731-1E1D-405D-96E6-2D1D11C2529B}" dt="2026-07-02T07:06:04.088" v="135" actId="20577"/>
        <pc:sldMkLst>
          <pc:docMk/>
          <pc:sldMk cId="2990949632" sldId="257"/>
        </pc:sldMkLst>
        <pc:spChg chg="mod">
          <ac:chgData name="Juan Quijano" userId="8fd70a15eeb99ef6" providerId="LiveId" clId="{A2C67731-1E1D-405D-96E6-2D1D11C2529B}" dt="2026-07-02T07:06:04.088" v="135" actId="20577"/>
          <ac:spMkLst>
            <pc:docMk/>
            <pc:sldMk cId="2990949632" sldId="257"/>
            <ac:spMk id="3" creationId="{89C41FFC-98DE-D88F-0E7B-C6C97F2B6D99}"/>
          </ac:spMkLst>
        </pc:spChg>
      </pc:sldChg>
      <pc:sldChg chg="addSp modSp mod modNotesTx">
        <pc:chgData name="Juan Quijano" userId="8fd70a15eeb99ef6" providerId="LiveId" clId="{A2C67731-1E1D-405D-96E6-2D1D11C2529B}" dt="2026-07-01T07:18:21.237" v="127" actId="122"/>
        <pc:sldMkLst>
          <pc:docMk/>
          <pc:sldMk cId="2823399482" sldId="279"/>
        </pc:sldMkLst>
        <pc:spChg chg="add 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3" creationId="{BCA23890-64B5-761E-25DF-74B13B42D16C}"/>
          </ac:spMkLst>
        </pc:spChg>
        <pc:spChg chg="add mod">
          <ac:chgData name="Juan Quijano" userId="8fd70a15eeb99ef6" providerId="LiveId" clId="{A2C67731-1E1D-405D-96E6-2D1D11C2529B}" dt="2026-06-30T06:58:09.921" v="45" actId="20577"/>
          <ac:spMkLst>
            <pc:docMk/>
            <pc:sldMk cId="2823399482" sldId="279"/>
            <ac:spMk id="5" creationId="{D8EE3016-F7EC-FE54-C497-FCA4D69370CA}"/>
          </ac:spMkLst>
        </pc:spChg>
        <pc:spChg chg="add mod">
          <ac:chgData name="Juan Quijano" userId="8fd70a15eeb99ef6" providerId="LiveId" clId="{A2C67731-1E1D-405D-96E6-2D1D11C2529B}" dt="2026-06-30T07:29:03.054" v="88" actId="26606"/>
          <ac:spMkLst>
            <pc:docMk/>
            <pc:sldMk cId="2823399482" sldId="279"/>
            <ac:spMk id="7" creationId="{894691CA-C655-6589-71CE-CE47B8A9CFE6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0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2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6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8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0" creationId="{00000000-0000-0000-0000-000000000000}"/>
          </ac:spMkLst>
        </pc:spChg>
        <pc:spChg chg="mod">
          <ac:chgData name="Juan Quijano" userId="8fd70a15eeb99ef6" providerId="LiveId" clId="{A2C67731-1E1D-405D-96E6-2D1D11C2529B}" dt="2026-06-30T06:58:06.944" v="43" actId="1076"/>
          <ac:spMkLst>
            <pc:docMk/>
            <pc:sldMk cId="2823399482" sldId="279"/>
            <ac:spMk id="21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2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3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4" creationId="{00000000-0000-0000-0000-000000000000}"/>
          </ac:spMkLst>
        </pc:spChg>
        <pc:spChg chg="add mod">
          <ac:chgData name="Juan Quijano" userId="8fd70a15eeb99ef6" providerId="LiveId" clId="{A2C67731-1E1D-405D-96E6-2D1D11C2529B}" dt="2026-07-01T07:18:21.237" v="127" actId="122"/>
          <ac:spMkLst>
            <pc:docMk/>
            <pc:sldMk cId="2823399482" sldId="279"/>
            <ac:spMk id="201" creationId="{D8EE3016-F7EC-FE54-C497-FCA4D69370DA}"/>
          </ac:spMkLst>
        </pc:spChg>
      </pc:sldChg>
      <pc:sldChg chg="modSp mod modNotesTx">
        <pc:chgData name="Juan Quijano" userId="8fd70a15eeb99ef6" providerId="LiveId" clId="{A2C67731-1E1D-405D-96E6-2D1D11C2529B}" dt="2026-06-29T06:55:17.759" v="38" actId="20577"/>
        <pc:sldMkLst>
          <pc:docMk/>
          <pc:sldMk cId="0" sldId="296"/>
        </pc:sldMkLst>
        <pc:spChg chg="mod">
          <ac:chgData name="Juan Quijano" userId="8fd70a15eeb99ef6" providerId="LiveId" clId="{A2C67731-1E1D-405D-96E6-2D1D11C2529B}" dt="2026-06-29T06:54:53.591" v="26"/>
          <ac:spMkLst>
            <pc:docMk/>
            <pc:sldMk cId="0" sldId="296"/>
            <ac:spMk id="17" creationId="{9C0C8499-9354-BF50-BD40-299FDE2CD005}"/>
          </ac:spMkLst>
        </pc:spChg>
      </pc:sldChg>
      <pc:sldChg chg="ord">
        <pc:chgData name="Juan Quijano" userId="8fd70a15eeb99ef6" providerId="LiveId" clId="{A2C67731-1E1D-405D-96E6-2D1D11C2529B}" dt="2026-07-02T12:17:20.169" v="144"/>
        <pc:sldMkLst>
          <pc:docMk/>
          <pc:sldMk cId="426861932" sldId="2147482580"/>
        </pc:sldMkLst>
      </pc:sldChg>
      <pc:sldChg chg="mod modShow">
        <pc:chgData name="Juan Quijano" userId="8fd70a15eeb99ef6" providerId="LiveId" clId="{A2C67731-1E1D-405D-96E6-2D1D11C2529B}" dt="2026-06-29T06:56:21.295" v="40" actId="729"/>
        <pc:sldMkLst>
          <pc:docMk/>
          <pc:sldMk cId="0" sldId="2147482585"/>
        </pc:sldMkLst>
      </pc:sldChg>
      <pc:sldChg chg="ord">
        <pc:chgData name="Juan Quijano" userId="8fd70a15eeb99ef6" providerId="LiveId" clId="{A2C67731-1E1D-405D-96E6-2D1D11C2529B}" dt="2026-07-02T10:19:06.220" v="138" actId="20578"/>
        <pc:sldMkLst>
          <pc:docMk/>
          <pc:sldMk cId="668563675" sldId="2147482608"/>
        </pc:sldMkLst>
      </pc:sldChg>
      <pc:sldChg chg="ord">
        <pc:chgData name="Juan Quijano" userId="8fd70a15eeb99ef6" providerId="LiveId" clId="{A2C67731-1E1D-405D-96E6-2D1D11C2529B}" dt="2026-07-02T10:19:12.726" v="140"/>
        <pc:sldMkLst>
          <pc:docMk/>
          <pc:sldMk cId="0" sldId="2147482613"/>
        </pc:sldMkLst>
      </pc:sldChg>
      <pc:sldChg chg="ord">
        <pc:chgData name="Juan Quijano" userId="8fd70a15eeb99ef6" providerId="LiveId" clId="{A2C67731-1E1D-405D-96E6-2D1D11C2529B}" dt="2026-07-02T12:17:10.826" v="142"/>
        <pc:sldMkLst>
          <pc:docMk/>
          <pc:sldMk cId="426861933" sldId="2147482642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4166406280" sldId="2147482643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1317048943" sldId="2147482644"/>
        </pc:sldMkLst>
      </pc:sldChg>
      <pc:sldChg chg="modSp add mod">
        <pc:chgData name="Juan Quijano" userId="8fd70a15eeb99ef6" providerId="LiveId" clId="{A2C67731-1E1D-405D-96E6-2D1D11C2529B}" dt="2026-06-30T08:54:09.035" v="122" actId="20577"/>
        <pc:sldMkLst>
          <pc:docMk/>
          <pc:sldMk cId="0" sldId="2147482645"/>
        </pc:sldMkLst>
        <pc:spChg chg="mod">
          <ac:chgData name="Juan Quijano" userId="8fd70a15eeb99ef6" providerId="LiveId" clId="{A2C67731-1E1D-405D-96E6-2D1D11C2529B}" dt="2026-06-30T08:54:09.035" v="122" actId="20577"/>
          <ac:spMkLst>
            <pc:docMk/>
            <pc:sldMk cId="0" sldId="2147482645"/>
            <ac:spMk id="22" creationId="{00000000-0000-0000-0000-000000000000}"/>
          </ac:spMkLst>
        </pc:spChg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2987356401" sldId="2147482646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674540213" sldId="2147482647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113264384" sldId="2147482648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0" sldId="2147482649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4166406280" sldId="2147482650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1317048943" sldId="2147482651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0" sldId="2147482652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2987356401" sldId="2147482653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674540213" sldId="2147482654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113264384" sldId="2147482655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0" sldId="2147482656"/>
        </pc:sldMkLst>
      </pc:sldChg>
      <pc:sldChg chg="addSp delSp modSp new mod">
        <pc:chgData name="Juan Quijano" userId="8fd70a15eeb99ef6" providerId="LiveId" clId="{A2C67731-1E1D-405D-96E6-2D1D11C2529B}" dt="2026-07-01T08:04:51.716" v="133"/>
        <pc:sldMkLst>
          <pc:docMk/>
          <pc:sldMk cId="2636134843" sldId="2147482657"/>
        </pc:sldMkLst>
        <pc:grpChg chg="del mod">
          <ac:chgData name="Juan Quijano" userId="8fd70a15eeb99ef6" providerId="LiveId" clId="{A2C67731-1E1D-405D-96E6-2D1D11C2529B}" dt="2026-07-01T08:04:51.716" v="132"/>
          <ac:grpSpMkLst>
            <pc:docMk/>
            <pc:sldMk cId="2636134843" sldId="2147482657"/>
            <ac:grpSpMk id="4" creationId="{F754B426-8FB1-B401-D54C-65B22C2F7F77}"/>
          </ac:grpSpMkLst>
        </pc:grpChg>
        <pc:inkChg chg="add del mod">
          <ac:chgData name="Juan Quijano" userId="8fd70a15eeb99ef6" providerId="LiveId" clId="{A2C67731-1E1D-405D-96E6-2D1D11C2529B}" dt="2026-07-01T08:04:51.716" v="133"/>
          <ac:inkMkLst>
            <pc:docMk/>
            <pc:sldMk cId="2636134843" sldId="2147482657"/>
            <ac:inkMk id="2" creationId="{3189B0A9-2881-CF5E-7A11-CB185CD81AC6}"/>
          </ac:inkMkLst>
        </pc:inkChg>
        <pc:inkChg chg="add del mod">
          <ac:chgData name="Juan Quijano" userId="8fd70a15eeb99ef6" providerId="LiveId" clId="{A2C67731-1E1D-405D-96E6-2D1D11C2529B}" dt="2026-07-01T08:04:51.716" v="132"/>
          <ac:inkMkLst>
            <pc:docMk/>
            <pc:sldMk cId="2636134843" sldId="2147482657"/>
            <ac:inkMk id="3" creationId="{9A0A54DE-3E52-6919-5A3A-0C797567759C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knowledge.az1.qualtrics.com/jfe/form/SV_2l9xxtKvLOyJCKN?EVENTID=ES74105" TargetMode="External"/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Juan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Horario: 9 a 15</a:t>
            </a:r>
          </a:p>
          <a:p>
            <a:r>
              <a:rPr lang="es-ES" dirty="0"/>
              <a:t>Descansos: ~11:00 (30 min), ~13:15 (15 min)</a:t>
            </a:r>
          </a:p>
          <a:p>
            <a:r>
              <a:rPr lang="es-ES" dirty="0" err="1"/>
              <a:t>Mics</a:t>
            </a:r>
            <a:r>
              <a:rPr lang="es-ES" dirty="0"/>
              <a:t> y video apagados, levantar la mano para preguntas (son grupos grandes)</a:t>
            </a:r>
          </a:p>
          <a:p>
            <a:r>
              <a:rPr lang="es-ES" dirty="0"/>
              <a:t>Les paso la evaluación con el último </a:t>
            </a:r>
            <a:r>
              <a:rPr lang="es-ES" dirty="0" err="1"/>
              <a:t>lab</a:t>
            </a:r>
            <a:r>
              <a:rPr lang="es-ES" dirty="0"/>
              <a:t> y de nuevo para cerrar la clase</a:t>
            </a:r>
          </a:p>
          <a:p>
            <a:endParaRPr lang="es-ES" dirty="0"/>
          </a:p>
          <a:p>
            <a:r>
              <a:rPr lang="es-ES" dirty="0"/>
              <a:t>Recursos: </a:t>
            </a:r>
            <a:br>
              <a:rPr lang="es-ES" dirty="0"/>
            </a:br>
            <a:r>
              <a:rPr lang="es-ES" dirty="0"/>
              <a:t>- Materiales: https://github.com/quizeth/Labs/tree/main/IA%20y%20Copilot%20para%20business%20professionals</a:t>
            </a:r>
          </a:p>
          <a:p>
            <a:r>
              <a:rPr lang="es-ES" dirty="0"/>
              <a:t>- PPT: https://github.com/quizeth/Labs/blob/main/IA%20y%20Copilot%20para%20business%20professionals/IA%20Generativa%20y%20Microsoft%20Copilot%20para%20profesionales.pptx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Presentar los cinco bloques del curso:</a:t>
            </a:r>
          </a:p>
          <a:p>
            <a:pPr marL="228600" indent="-228600">
              <a:buAutoNum type="arabicParenR"/>
            </a:pPr>
            <a:r>
              <a:rPr lang="es-ES" dirty="0"/>
              <a:t>Introducción a la IA generativa. 2) Microsoft 365 </a:t>
            </a:r>
            <a:r>
              <a:rPr lang="es-ES" dirty="0" err="1"/>
              <a:t>Copilot</a:t>
            </a:r>
            <a:r>
              <a:rPr lang="es-ES" dirty="0"/>
              <a:t> en acción. 3) El arte del </a:t>
            </a:r>
            <a:r>
              <a:rPr lang="es-ES" dirty="0" err="1"/>
              <a:t>prompting</a:t>
            </a:r>
            <a:r>
              <a:rPr lang="es-ES" dirty="0"/>
              <a:t>. 4) Multimodalidad en la IA. 5) Ética en el uso de la IA. 6) Agentes y </a:t>
            </a:r>
            <a:r>
              <a:rPr lang="es-ES" dirty="0" err="1"/>
              <a:t>Cowork</a:t>
            </a:r>
            <a:endParaRPr lang="es-ES" dirty="0"/>
          </a:p>
          <a:p>
            <a:pPr marL="0" indent="0">
              <a:buNone/>
            </a:pPr>
            <a:endParaRPr lang="es-ES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Fuente: </a:t>
            </a:r>
            <a:br>
              <a:rPr lang="es-ES" dirty="0"/>
            </a:br>
            <a:r>
              <a:rPr lang="es-ES" dirty="0"/>
              <a:t>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Comparar Shadow AI (herramientas no autorizadas) frente a </a:t>
            </a:r>
            <a:r>
              <a:rPr lang="es-ES" dirty="0" err="1"/>
              <a:t>Copilot</a:t>
            </a:r>
            <a:r>
              <a:rPr lang="es-ES" dirty="0"/>
              <a:t> empresarial.</a:t>
            </a:r>
          </a:p>
          <a:p>
            <a:r>
              <a:rPr lang="es-ES" dirty="0"/>
              <a:t>Riesgos de Shadow AI: fuga de datos, sin cumplimiento legal, datos que entrenan modelos externos.</a:t>
            </a:r>
          </a:p>
          <a:p>
            <a:r>
              <a:rPr lang="es-ES" dirty="0" err="1"/>
              <a:t>Copilot</a:t>
            </a:r>
            <a:r>
              <a:rPr lang="es-ES" dirty="0"/>
              <a:t>: datos seguros en tu entorno, cumple GDPR, control total para TI y tus datos nunca entrenan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7/2/2026 8:59 AM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Repasar el cuadro comparativo entre la versión básica (gratuita) y la versión con licencia de Microsoft 365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 dirty="0"/>
              <a:t>Versión con licencia: todo lo anterior más chat fundamentado en los datos de la organización, </a:t>
            </a:r>
            <a:r>
              <a:rPr lang="es-ES" dirty="0" err="1"/>
              <a:t>Copilot</a:t>
            </a:r>
            <a:r>
              <a:rPr lang="es-ES" dirty="0"/>
              <a:t> integrado en Word, Excel, PowerPoint, Outlook y </a:t>
            </a:r>
            <a:r>
              <a:rPr lang="es-ES" dirty="0" err="1"/>
              <a:t>Teams</a:t>
            </a:r>
            <a:r>
              <a:rPr lang="es-ES" dirty="0"/>
              <a:t>, agentes sin pago por consumo y administración y análisis avanzados.</a:t>
            </a:r>
          </a:p>
          <a:p>
            <a:r>
              <a:rPr lang="es-ES" dirty="0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15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7/2/2026 8:59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- Incidir en que la app de escritorio es Microsoft 365 </a:t>
            </a:r>
            <a:r>
              <a:rPr lang="es-ES" dirty="0" err="1"/>
              <a:t>Copilot</a:t>
            </a:r>
            <a:r>
              <a:rPr lang="es-ES" dirty="0"/>
              <a:t>, no </a:t>
            </a:r>
            <a:r>
              <a:rPr lang="es-ES" dirty="0" err="1"/>
              <a:t>Copilot</a:t>
            </a:r>
            <a:r>
              <a:rPr lang="es-ES" dirty="0"/>
              <a:t> a secas.</a:t>
            </a:r>
          </a:p>
          <a:p>
            <a:endParaRPr lang="es-ES" dirty="0"/>
          </a:p>
          <a:p>
            <a:r>
              <a:rPr lang="es-ES" dirty="0"/>
              <a:t>Acceso desde escritorio (</a:t>
            </a:r>
            <a:r>
              <a:rPr lang="es-ES" dirty="0" err="1"/>
              <a:t>Teams</a:t>
            </a:r>
            <a:r>
              <a:rPr lang="es-ES" dirty="0"/>
              <a:t> o app Microsoft 365 en Windows/macOS) y desde móvil (app Microsoft 365 </a:t>
            </a:r>
            <a:r>
              <a:rPr lang="es-ES" dirty="0" err="1"/>
              <a:t>Copilot</a:t>
            </a:r>
            <a:r>
              <a:rPr lang="es-ES" dirty="0"/>
              <a:t> en iOS/Android).</a:t>
            </a:r>
          </a:p>
          <a:p>
            <a:r>
              <a:rPr lang="es-ES" dirty="0"/>
              <a:t>La experiencia es la misma en todas las plataformas.</a:t>
            </a:r>
          </a:p>
          <a:p>
            <a:endParaRPr lang="es-ES" dirty="0"/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DEMO – CUENTA BÁSICA</a:t>
            </a:r>
          </a:p>
          <a:p>
            <a:pPr marL="171450" indent="-171450">
              <a:buFontTx/>
              <a:buChar char="-"/>
            </a:pPr>
            <a:r>
              <a:rPr lang="es-ES" dirty="0"/>
              <a:t>Explicar qué son las páginas, que salen en el </a:t>
            </a:r>
            <a:r>
              <a:rPr lang="es-ES" dirty="0" err="1"/>
              <a:t>lab</a:t>
            </a:r>
            <a:endParaRPr lang="es-ES" dirty="0"/>
          </a:p>
          <a:p>
            <a:pPr marL="0" indent="0">
              <a:buFontTx/>
              <a:buNone/>
            </a:pPr>
            <a:endParaRPr lang="es-ES" dirty="0"/>
          </a:p>
          <a:p>
            <a:r>
              <a:rPr lang="es-ES" dirty="0"/>
              <a:t>Recorrer la interfaz de </a:t>
            </a:r>
            <a:r>
              <a:rPr lang="es-ES" dirty="0" err="1"/>
              <a:t>Copilot</a:t>
            </a:r>
            <a:r>
              <a:rPr lang="es-ES" dirty="0"/>
              <a:t> Chat por zonas: menú de agentes, botón de nuevo chat, historial de conversaciones, cuadro de </a:t>
            </a:r>
            <a:r>
              <a:rPr lang="es-ES" dirty="0" err="1"/>
              <a:t>prompt</a:t>
            </a:r>
            <a:r>
              <a:rPr lang="es-ES" dirty="0"/>
              <a:t>, dictado, añadir contenido (archivos e imágenes), galería de </a:t>
            </a:r>
            <a:r>
              <a:rPr lang="es-ES" dirty="0" err="1"/>
              <a:t>prompts</a:t>
            </a:r>
            <a:r>
              <a:rPr lang="es-ES" dirty="0"/>
              <a:t>, </a:t>
            </a:r>
            <a:r>
              <a:rPr lang="es-ES" dirty="0" err="1"/>
              <a:t>prompts</a:t>
            </a:r>
            <a:r>
              <a:rPr lang="es-ES" dirty="0"/>
              <a:t> sugeridos y páginas de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Sugerencia didáctica: hacer una demo en vivo abriendo </a:t>
            </a:r>
            <a:r>
              <a:rPr lang="es-ES" dirty="0" err="1"/>
              <a:t>Copilot</a:t>
            </a:r>
            <a:r>
              <a:rPr lang="es-ES" dirty="0"/>
              <a:t> Chat y señalando cada elemento sobre la pantalla.</a:t>
            </a:r>
          </a:p>
          <a:p>
            <a:r>
              <a:rPr lang="es-ES" dirty="0"/>
              <a:t>Animar a los alumnos a explorar la galería de </a:t>
            </a:r>
            <a:r>
              <a:rPr lang="es-ES" dirty="0" err="1"/>
              <a:t>prompts</a:t>
            </a:r>
            <a:r>
              <a:rPr lang="es-ES" dirty="0"/>
              <a:t>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DEMO – REQUIERE CUENTA PREMIUM</a:t>
            </a:r>
          </a:p>
          <a:p>
            <a:endParaRPr lang="es-ES" dirty="0"/>
          </a:p>
          <a:p>
            <a:r>
              <a:rPr lang="es-ES" dirty="0"/>
              <a:t>Capacidades reservadas a los usuarios con licencia Microsoft 365 </a:t>
            </a:r>
            <a:r>
              <a:rPr lang="es-ES" dirty="0" err="1"/>
              <a:t>Copilot</a:t>
            </a:r>
            <a:r>
              <a:rPr lang="es-ES" dirty="0"/>
              <a:t>: Agentes (sin pago por uso) y Work </a:t>
            </a:r>
            <a:r>
              <a:rPr lang="es-ES" dirty="0" err="1"/>
              <a:t>mode</a:t>
            </a:r>
            <a:r>
              <a:rPr lang="es-ES" dirty="0"/>
              <a:t> (chat fundamentado en los datos de la organización).</a:t>
            </a:r>
          </a:p>
          <a:p>
            <a:r>
              <a:rPr lang="es-ES" dirty="0"/>
              <a:t>Agentes: asistentes especializados que combinan LLM, instrucciones, conocimiento y acciones para resolver tareas concretas. Pueden venir del </a:t>
            </a:r>
            <a:r>
              <a:rPr lang="es-ES" dirty="0" err="1"/>
              <a:t>marketplace</a:t>
            </a:r>
            <a:r>
              <a:rPr lang="es-ES" dirty="0"/>
              <a:t> de Microsoft, crearse con </a:t>
            </a:r>
            <a:r>
              <a:rPr lang="es-ES" dirty="0" err="1"/>
              <a:t>Copilot</a:t>
            </a:r>
            <a:r>
              <a:rPr lang="es-ES" dirty="0"/>
              <a:t> Studio o ser publicados por TI.</a:t>
            </a:r>
          </a:p>
          <a:p>
            <a:r>
              <a:rPr lang="es-ES" dirty="0"/>
              <a:t>Work </a:t>
            </a:r>
            <a:r>
              <a:rPr lang="es-ES" dirty="0" err="1"/>
              <a:t>mode</a:t>
            </a:r>
            <a:r>
              <a:rPr lang="es-ES" dirty="0"/>
              <a:t>: acceso a correos, archivos, chats y reuniones a través de Microsoft Graph, páginas de </a:t>
            </a:r>
            <a:r>
              <a:rPr lang="es-ES" dirty="0" err="1"/>
              <a:t>Copilot</a:t>
            </a:r>
            <a:r>
              <a:rPr lang="es-ES" dirty="0"/>
              <a:t> para colaborar en tiempo real y </a:t>
            </a:r>
            <a:r>
              <a:rPr lang="es-ES" dirty="0" err="1"/>
              <a:t>Copilot</a:t>
            </a:r>
            <a:r>
              <a:rPr lang="es-ES" dirty="0"/>
              <a:t> integrado en Word, Excel, PowerPoint y Outlook.</a:t>
            </a:r>
          </a:p>
          <a:p>
            <a:r>
              <a:rPr lang="es-ES" dirty="0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https://github.com/quizeth/Labs/blob/main/IA%20y%20Copilot%20para%20business%20professionals/Lab%201%3A%20Primeros%20pasos%20con%20Microsoft%20365%20Copilot%20Chat.md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27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28</a:t>
            </a:fld>
            <a:endParaRPr lang="es-E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https://github.com/quizeth/Labs/blob/main/IA%20y%20Copilot%20para%20business%20professionals/Lab%202%3A%20Creaci%C3%B3n%20de%20prompts%20efectivos%20con%20el%20marco%20RCTF.md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https://m365.cloud.microsoft/create</a:t>
            </a:r>
          </a:p>
          <a:p>
            <a:endParaRPr lang="es-ES" dirty="0"/>
          </a:p>
          <a:p>
            <a:r>
              <a:rPr lang="es-ES" dirty="0"/>
              <a:t>DEMO – CUENTA BÁSICA</a:t>
            </a:r>
          </a:p>
          <a:p>
            <a:r>
              <a:rPr lang="es-ES" dirty="0"/>
              <a:t>- </a:t>
            </a:r>
            <a:r>
              <a:rPr lang="es-ES" dirty="0" err="1"/>
              <a:t>Prompt</a:t>
            </a:r>
            <a:r>
              <a:rPr lang="es-ES" dirty="0"/>
              <a:t> de una funcionalidad (yo hago una imagen)</a:t>
            </a:r>
          </a:p>
          <a:p>
            <a:r>
              <a:rPr lang="es-ES" dirty="0"/>
              <a:t>- Mismo </a:t>
            </a:r>
            <a:r>
              <a:rPr lang="es-ES" dirty="0" err="1"/>
              <a:t>prompt</a:t>
            </a:r>
            <a:r>
              <a:rPr lang="es-ES" dirty="0"/>
              <a:t> con o sin kit de marca (para crear el kit de marca, se necesita premium)</a:t>
            </a:r>
          </a:p>
          <a:p>
            <a:endParaRPr lang="es-ES" dirty="0"/>
          </a:p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NO EXIGE LICENCIA PREMIUM, pero su disponibilidad entre Indra parece que es inconsistente, así que lo hacemos como demo.</a:t>
            </a:r>
          </a:p>
          <a:p>
            <a:r>
              <a:rPr lang="es-ES" dirty="0"/>
              <a:t>https://m365.cloud.microsoft/notebooks</a:t>
            </a:r>
          </a:p>
          <a:p>
            <a:endParaRPr lang="es-ES" dirty="0"/>
          </a:p>
          <a:p>
            <a:r>
              <a:rPr lang="es-ES" dirty="0"/>
              <a:t>Los Cuadernos de </a:t>
            </a:r>
            <a:r>
              <a:rPr lang="es-ES" dirty="0" err="1"/>
              <a:t>Copilot</a:t>
            </a:r>
            <a:r>
              <a:rPr lang="es-ES" dirty="0"/>
              <a:t> (</a:t>
            </a:r>
            <a:r>
              <a:rPr lang="es-ES" dirty="0" err="1"/>
              <a:t>Copilot</a:t>
            </a:r>
            <a:r>
              <a:rPr lang="es-ES" dirty="0"/>
              <a:t> Notebooks) son espacios de trabajo con IA donde se reúnen los archivos, páginas, notas de reuniones, enlaces y chats de un proyecto para que </a:t>
            </a:r>
            <a:r>
              <a:rPr lang="es-ES" dirty="0" err="1"/>
              <a:t>Copilot</a:t>
            </a:r>
            <a:r>
              <a:rPr lang="es-ES" dirty="0"/>
              <a:t> razone únicamente con ese contenido.</a:t>
            </a:r>
          </a:p>
          <a:p>
            <a:r>
              <a:rPr lang="es-ES" dirty="0"/>
              <a:t>Cuatro ideas clave: reúne tus fuentes en un único espacio; obtén respuestas con contexto basadas solo en las referencias del cuaderno, que se actualizan en tiempo real; genera un resumen en audio tipo pódcast para repasar el material; y colabora en equipo compartiendo el cuaderno.</a:t>
            </a:r>
          </a:p>
          <a:p>
            <a:endParaRPr lang="es-ES" dirty="0"/>
          </a:p>
          <a:p>
            <a:r>
              <a:rPr lang="es-ES" dirty="0"/>
              <a:t>Recordar: requiere licencia Microsoft 365 </a:t>
            </a:r>
            <a:r>
              <a:rPr lang="es-ES" dirty="0" err="1"/>
              <a:t>Copilot</a:t>
            </a:r>
            <a:r>
              <a:rPr lang="es-ES" dirty="0"/>
              <a:t> y una licencia de SharePoint u OneDrive para crear cuadernos;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37</a:t>
            </a:fld>
            <a:endParaRPr lang="es-E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/>
              <a:t>https://github.com/quizeth/Labs/blob/main/IA%20y%20Copilot%20para%20business%20professionals/Lab%203%3A%20Crea%20contenido%20multimedia%20con%20%E2%80%9CCreate%E2%80%9D%20en%20Microsoft%20365%20Copilot%20Chat.md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Si tenemos tiempo, les hago una demo en Word.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Incido en que para usar una plantilla corporativa, hay que crear un documento en blanco con esa plantilla.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En la versión online, tenemos que ser propietarios del doc.</a:t>
            </a:r>
          </a:p>
          <a:p>
            <a:endParaRPr lang="es-ES" dirty="0"/>
          </a:p>
          <a:p>
            <a:r>
              <a:rPr lang="es-ES" dirty="0" err="1"/>
              <a:t>Copilot</a:t>
            </a:r>
            <a:r>
              <a:rPr lang="es-ES" dirty="0"/>
              <a:t> integrado en cinco aplicaciones M365:</a:t>
            </a:r>
          </a:p>
          <a:p>
            <a:r>
              <a:rPr lang="es-ES" dirty="0"/>
              <a:t>Word: borradores y resúmenes. Excel: análisis con lenguaje natural y fórmulas. PowerPoint: presentaciones desde temas o documentos. Outlook: resumen de hilos y borradores. </a:t>
            </a:r>
            <a:r>
              <a:rPr lang="es-ES" dirty="0" err="1"/>
              <a:t>Teams</a:t>
            </a:r>
            <a:r>
              <a:rPr lang="es-ES" dirty="0"/>
              <a:t>: actas automáticas y resúmenes en tiempo real.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40</a:t>
            </a:fld>
            <a:endParaRPr lang="es-E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49343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IA generativa ya forma parte del día a día de millones de profesionales; lo que hoy parece un atajo puede tener consecuencias reales mañana.</a:t>
            </a:r>
          </a:p>
          <a:p>
            <a:r>
              <a:rPr lang="es-ES" dirty="0"/>
              <a:t>Cuatro ideas para apoyar la reflexión con los alumnos: afecta a personas reales (clientes, compañeros, comunidades), construye o destruye confianza en nuestro trabajo y nuestra marca, define la cultura del mañana (los hábitos de hoy fijan el uso futuro de la IA), y evita la dependencia excesiva (la "</a:t>
            </a:r>
            <a:r>
              <a:rPr lang="es-ES" dirty="0" err="1"/>
              <a:t>overreliance</a:t>
            </a:r>
            <a:r>
              <a:rPr lang="es-ES" dirty="0"/>
              <a:t>"): revisar y validar lo que genera la IA, recordando que el asistente apoya el criterio pero la decisión final es humana.</a:t>
            </a:r>
          </a:p>
          <a:p>
            <a:r>
              <a:rPr lang="es-ES" dirty="0"/>
              <a:t>Tono: este bloque no es una lista de prohibiciones, es una invitación a aplicar criterio profesional.</a:t>
            </a:r>
          </a:p>
          <a:p>
            <a:r>
              <a:rPr lang="es-ES" dirty="0"/>
              <a:t>Marco legal: recordar que el criterio profesional convive con obligaciones normativas. Mencionar el RGPD (protección de datos), el Reglamento de IA de la UE (AI </a:t>
            </a:r>
            <a:r>
              <a:rPr lang="es-ES" dirty="0" err="1"/>
              <a:t>Act</a:t>
            </a:r>
            <a:r>
              <a:rPr lang="es-ES" dirty="0"/>
              <a:t>) que clasifica los sistemas por nivel de riesgo, y marcos de referencia como el NIST AI RMF. La idea no es memorizarlos, sino saber que existen reglas que enmarcan el uso de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43</a:t>
            </a:fld>
            <a:endParaRPr lang="es-E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Seis principios de IA responsable de Microsoft aplicados al uso profesional. Nos pueden hacer de </a:t>
            </a:r>
            <a:r>
              <a:rPr lang="es-ES" dirty="0" err="1"/>
              <a:t>checklist</a:t>
            </a:r>
            <a:r>
              <a:rPr lang="es-ES" dirty="0"/>
              <a:t> al revisar el resultado generado.</a:t>
            </a:r>
          </a:p>
          <a:p>
            <a:endParaRPr lang="es-ES" dirty="0"/>
          </a:p>
          <a:p>
            <a:r>
              <a:rPr lang="es-ES" dirty="0"/>
              <a:t>Equidad: revisar sesgos. Fiabilidad: validar resultados críticos. Privacidad: no compartir datos confidenciales con IA pública. Inclusión: soluciones accesibles para todos. Transparencia: informar cuando se usa IA. Responsabilidad: tú validas el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https://github.com/quizeth/Labs/blob/main/IA%20y%20Copilot%20para%20business%20professionals/Lab%204%3A%20%C3%89tica%20en%20la%20IA.md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14002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globalknowledge.az1.qualtrics.com/jfe/form/SV_2l9xxtKvLOyJCKN?EVENTID=ES74105"/>
              </a:rPr>
              <a:t>https://globalknowledge.az1.qualtrics.com/jfe/form/SV_2l9xxtKvLOyJCKN?EVENTID=ES74105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18" Type="http://schemas.openxmlformats.org/officeDocument/2006/relationships/hyperlink" Target="https://www.linkedin.com/in/juanquijano/" TargetMode="External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3.jpeg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Julio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Juan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2018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Especializado en </a:t>
            </a:r>
            <a:r>
              <a:rPr lang="es-ES" sz="16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Azure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, 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18"/>
              </a:rPr>
              <a:t>https://www.linkedin.com/in/juanquijano/</a:t>
            </a:r>
            <a:endParaRPr lang="es-ES" sz="14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Evaluación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10070" y="12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10070" y="20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10070" y="28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10070" y="36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10070" y="44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67495" y="13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67495" y="21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67495" y="29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67495" y="37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67495" y="45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57952" y="12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57952" y="20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57952" y="28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57952" y="36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57952" y="44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  <p:sp>
        <p:nvSpPr>
          <p:cNvPr id="3" name="Bg4">
            <a:extLst>
              <a:ext uri="{FF2B5EF4-FFF2-40B4-BE49-F238E27FC236}">
                <a16:creationId xmlns:a16="http://schemas.microsoft.com/office/drawing/2014/main" id="{BCA23890-64B5-761E-25DF-74B13B42D16C}"/>
              </a:ext>
            </a:extLst>
          </p:cNvPr>
          <p:cNvSpPr/>
          <p:nvPr/>
        </p:nvSpPr>
        <p:spPr>
          <a:xfrm>
            <a:off x="339640" y="52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Pill4">
            <a:extLst>
              <a:ext uri="{FF2B5EF4-FFF2-40B4-BE49-F238E27FC236}">
                <a16:creationId xmlns:a16="http://schemas.microsoft.com/office/drawing/2014/main" id="{D8EE3016-F7EC-FE54-C497-FCA4D69370CA}"/>
              </a:ext>
            </a:extLst>
          </p:cNvPr>
          <p:cNvSpPr txBox="1"/>
          <p:nvPr/>
        </p:nvSpPr>
        <p:spPr>
          <a:xfrm>
            <a:off x="497065" y="53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 dirty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6</a:t>
            </a:r>
          </a:p>
        </p:txBody>
      </p:sp>
      <p:sp>
        <p:nvSpPr>
          <p:cNvPr id="7" name="Text4">
            <a:extLst>
              <a:ext uri="{FF2B5EF4-FFF2-40B4-BE49-F238E27FC236}">
                <a16:creationId xmlns:a16="http://schemas.microsoft.com/office/drawing/2014/main" id="{894691CA-C655-6589-71CE-CE47B8A9CFE6}"/>
              </a:ext>
            </a:extLst>
          </p:cNvPr>
          <p:cNvSpPr txBox="1">
            <a:spLocks/>
          </p:cNvSpPr>
          <p:nvPr/>
        </p:nvSpPr>
        <p:spPr>
          <a:xfrm>
            <a:off x="1387522" y="52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Agentes </a:t>
            </a: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IA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00" name="Bg5">
            <a:extLst>
              <a:ext uri="{FF2B5EF4-FFF2-40B4-BE49-F238E27FC236}">
                <a16:creationId xmlns:a16="http://schemas.microsoft.com/office/drawing/2014/main" id="{BCA23890-64B5-761E-25DF-74B13B42D17C}"/>
              </a:ext>
            </a:extLst>
          </p:cNvPr>
          <p:cNvSpPr/>
          <p:nvPr/>
        </p:nvSpPr>
        <p:spPr>
          <a:xfrm>
            <a:off x="339640" y="60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201" name="Pill5">
            <a:extLst>
              <a:ext uri="{FF2B5EF4-FFF2-40B4-BE49-F238E27FC236}">
                <a16:creationId xmlns:a16="http://schemas.microsoft.com/office/drawing/2014/main" id="{D8EE3016-F7EC-FE54-C497-FCA4D69370DA}"/>
              </a:ext>
            </a:extLst>
          </p:cNvPr>
          <p:cNvSpPr txBox="1"/>
          <p:nvPr/>
        </p:nvSpPr>
        <p:spPr>
          <a:xfrm>
            <a:off x="497065" y="61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600" b="0" i="0" strike="noStrike" cap="none" baseline="0" dirty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7</a:t>
            </a:r>
          </a:p>
        </p:txBody>
      </p:sp>
      <p:sp>
        <p:nvSpPr>
          <p:cNvPr id="202" name="Text5">
            <a:extLst>
              <a:ext uri="{FF2B5EF4-FFF2-40B4-BE49-F238E27FC236}">
                <a16:creationId xmlns:a16="http://schemas.microsoft.com/office/drawing/2014/main" id="{894691CA-C655-6589-71CE-CE47B8A9CFE7}"/>
              </a:ext>
            </a:extLst>
          </p:cNvPr>
          <p:cNvSpPr txBox="1">
            <a:spLocks/>
          </p:cNvSpPr>
          <p:nvPr/>
        </p:nvSpPr>
        <p:spPr>
          <a:xfrm>
            <a:off x="1387522" y="60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 CoWork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50" name="MLBand"/>
          <p:cNvSpPr/>
          <p:nvPr/>
        </p:nvSpPr>
        <p:spPr>
          <a:xfrm>
            <a:off x="1221249" y="2248030"/>
            <a:ext cx="10241280" cy="520000"/>
          </a:xfrm>
          <a:prstGeom prst="roundRect">
            <a:avLst>
              <a:gd name="adj" fmla="val 22000"/>
            </a:avLst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300" b="1">
                <a:solidFill>
                  <a:srgbClr val="0F766E"/>
                </a:solidFill>
                <a:latin typeface="Segoe UI Semibold"/>
                <a:cs typeface="Segoe UI Semibold"/>
              </a:rPr>
              <a:t>Aprendizaje automático (machine learning): </a:t>
            </a:r>
            <a:r>
              <a:rPr lang="es-ES" sz="1300">
                <a:solidFill>
                  <a:srgbClr val="334155"/>
                </a:solidFill>
                <a:latin typeface="Segoe UI"/>
                <a:cs typeface="Segoe UI"/>
              </a:rPr>
              <a:t>la IA aprende de los datos y mejora con la experiencia, sin programar cada regla a mano.</a:t>
            </a:r>
          </a:p>
        </p:txBody>
      </p:sp>
      <p:sp>
        <p:nvSpPr>
          <p:cNvPr id="21" name="Desc1"/>
          <p:cNvSpPr/>
          <p:nvPr/>
        </p:nvSpPr>
        <p:spPr>
          <a:xfrm>
            <a:off x="111758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7790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3822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109904" y="3429000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9854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reunión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resumen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documentos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extensos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datos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gráficos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análisis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tendencias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automática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adaptado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la audiencia,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clientes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FAQ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automatizadas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236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238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Cifrado de datos en tránsito y en </a:t>
            </a:r>
            <a:r>
              <a:rPr lang="es-ES" sz="1400" b="1" dirty="0" err="1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resposo</a:t>
            </a:r>
            <a:endParaRPr lang="es-ES" sz="1400" b="1" dirty="0">
              <a:solidFill>
                <a:srgbClr val="1E293B"/>
              </a:solidFill>
              <a:latin typeface="Segoe UI Semibold" pitchFamily="34" charset="0"/>
              <a:cs typeface="Segoe UI Semibold" pitchFamily="34" charset="0"/>
            </a:endParaRP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Modelos LLM (Large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Language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learn.microsoft.com/training/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paths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introduction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-generative-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Stanford CRFM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Opportunities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and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Risks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Foundation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OpenAI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Research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GPT-4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Technical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Report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openai.com/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research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6134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68154" y="1380675"/>
            <a:ext cx="146995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268154" y="1752029"/>
            <a:ext cx="2373065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 dirty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M365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4="http://schemas.microsoft.com/office/powerpoint/2010/main" xmlns:p15="http://schemas.microsoft.com/office/powerpoint/2012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Cuadernos </a:t>
            </a:r>
            <a:r>
              <a:rPr lang="es-ES" sz="1500" b="1">
                <a:solidFill>
                  <a:srgbClr val="1E293B"/>
                </a:solidFill>
                <a:latin typeface="Segoe UI Semibold"/>
              </a:rPr>
              <a:t>(Notebooks)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>
              <a:spcBef>
                <a:spcPts val="200"/>
              </a:spcBef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</a:t>
            </a:r>
            <a:r>
              <a:rPr lang="es-ES" sz="1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67707"/>
              </p:ext>
            </p:extLst>
          </p:nvPr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of</a:t>
                      </a:r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Thought</a:t>
                      </a:r>
                      <a:endParaRPr lang="es-ES" sz="20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</a:t>
            </a:r>
            <a:r>
              <a:rPr lang="es-ES" sz="3600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 vs. Chain </a:t>
            </a:r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of</a:t>
            </a:r>
            <a:r>
              <a:rPr lang="es-ES" sz="3600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Thought</a:t>
            </a:r>
            <a:endParaRPr lang="en-US" sz="3600" dirty="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762000" y="418934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Cuadernos de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b="0" dirty="0">
              <a:solidFill>
                <a:srgbClr val="64748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5" name="DefinitionBand"/>
          <p:cNvSpPr/>
          <p:nvPr/>
        </p:nvSpPr>
        <p:spPr>
          <a:xfrm>
            <a:off x="609600" y="1240000"/>
            <a:ext cx="10972800" cy="9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6" name="DefIcon"/>
          <p:cNvSpPr/>
          <p:nvPr/>
        </p:nvSpPr>
        <p:spPr>
          <a:xfrm>
            <a:off x="853440" y="1462000"/>
            <a:ext cx="456000" cy="456000"/>
          </a:xfrm>
          <a:prstGeom prst="ellipse">
            <a:avLst/>
          </a:prstGeom>
          <a:solidFill>
            <a:srgbClr val="4F46E5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000">
                <a:latin typeface="Segoe UI Emoji" pitchFamily="34" charset="0"/>
                <a:cs typeface="Segoe UI Emoji" pitchFamily="34" charset="0"/>
              </a:rPr>
              <a:t>📓</a:t>
            </a:r>
          </a:p>
        </p:txBody>
      </p:sp>
      <p:sp>
        <p:nvSpPr>
          <p:cNvPr id="7" name="DefText"/>
          <p:cNvSpPr/>
          <p:nvPr/>
        </p:nvSpPr>
        <p:spPr>
          <a:xfrm>
            <a:off x="1531440" y="1300000"/>
            <a:ext cx="9869760" cy="78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312E81"/>
                </a:solidFill>
                <a:latin typeface="Segoe UI Semibold" pitchFamily="34" charset="0"/>
                <a:cs typeface="Segoe UI Semibold" pitchFamily="34" charset="0"/>
              </a:rPr>
              <a:t>¿Qué son? 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cs typeface="Segoe UI" pitchFamily="34" charset="0"/>
              </a:rPr>
              <a:t>Espacios de trabajo con IA donde reúnes los archivos, páginas y fuentes de un proyecto para que Copilot razone solo con ese contenido y te dé respuestas más precisas y contextualizadas.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581000" y="2580000"/>
            <a:ext cx="560400" cy="5604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📁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Reúne tus fuentes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Agrupa documentos de Word, Excel y PowerPoint, páginas de Copilot, notas de reuniones y enlaces en un único espacio.</a:t>
            </a:r>
          </a:p>
        </p:txBody>
      </p:sp>
      <p:sp>
        <p:nvSpPr>
          <p:cNvPr id="20" name="Card2BG"/>
          <p:cNvSpPr/>
          <p:nvPr/>
        </p:nvSpPr>
        <p:spPr>
          <a:xfrm>
            <a:off x="34328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4404200" y="2580000"/>
            <a:ext cx="560400" cy="5604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💬</a:t>
            </a:r>
          </a:p>
        </p:txBody>
      </p:sp>
      <p:sp>
        <p:nvSpPr>
          <p:cNvPr id="22" name="Card2Title"/>
          <p:cNvSpPr/>
          <p:nvPr/>
        </p:nvSpPr>
        <p:spPr>
          <a:xfrm>
            <a:off x="35547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Respuestas con contexto</a:t>
            </a:r>
          </a:p>
        </p:txBody>
      </p:sp>
      <p:sp>
        <p:nvSpPr>
          <p:cNvPr id="23" name="Card2Text"/>
          <p:cNvSpPr/>
          <p:nvPr/>
        </p:nvSpPr>
        <p:spPr>
          <a:xfrm>
            <a:off x="35547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Copilot razona solo con las referencias del cuaderno y las mantiene al día en tiempo real conforme evoluciona el proyecto.</a:t>
            </a:r>
          </a:p>
        </p:txBody>
      </p:sp>
      <p:sp>
        <p:nvSpPr>
          <p:cNvPr id="30" name="Card3BG"/>
          <p:cNvSpPr/>
          <p:nvPr/>
        </p:nvSpPr>
        <p:spPr>
          <a:xfrm>
            <a:off x="62560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7227400" y="2580000"/>
            <a:ext cx="560400" cy="5604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🎧</a:t>
            </a:r>
          </a:p>
        </p:txBody>
      </p:sp>
      <p:sp>
        <p:nvSpPr>
          <p:cNvPr id="32" name="Card3Title"/>
          <p:cNvSpPr/>
          <p:nvPr/>
        </p:nvSpPr>
        <p:spPr>
          <a:xfrm>
            <a:off x="63779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Resumen en audio</a:t>
            </a:r>
          </a:p>
        </p:txBody>
      </p:sp>
      <p:sp>
        <p:nvSpPr>
          <p:cNvPr id="33" name="Card3Text"/>
          <p:cNvSpPr/>
          <p:nvPr/>
        </p:nvSpPr>
        <p:spPr>
          <a:xfrm>
            <a:off x="63779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Convierte el contenido del cuaderno en un resumen tipo pódcast para repasar el material allá donde estés.</a:t>
            </a:r>
          </a:p>
        </p:txBody>
      </p:sp>
      <p:sp>
        <p:nvSpPr>
          <p:cNvPr id="40" name="Card4BG"/>
          <p:cNvSpPr/>
          <p:nvPr/>
        </p:nvSpPr>
        <p:spPr>
          <a:xfrm>
            <a:off x="90792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10050600" y="2580000"/>
            <a:ext cx="560400" cy="5604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 dirty="0">
                <a:latin typeface="Segoe UI Emoji" pitchFamily="34" charset="0"/>
                <a:cs typeface="Segoe UI Emoji" pitchFamily="34" charset="0"/>
              </a:rPr>
              <a:t>👥</a:t>
            </a:r>
          </a:p>
        </p:txBody>
      </p:sp>
      <p:sp>
        <p:nvSpPr>
          <p:cNvPr id="42" name="Card4Title"/>
          <p:cNvSpPr/>
          <p:nvPr/>
        </p:nvSpPr>
        <p:spPr>
          <a:xfrm>
            <a:off x="92011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Colabora en equipo</a:t>
            </a:r>
          </a:p>
        </p:txBody>
      </p:sp>
      <p:sp>
        <p:nvSpPr>
          <p:cNvPr id="43" name="Card4Text"/>
          <p:cNvSpPr/>
          <p:nvPr/>
        </p:nvSpPr>
        <p:spPr>
          <a:xfrm>
            <a:off x="92011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Comparte el cuaderno con tu equipo para trabajar juntos, intercambiar conocimiento y crear con Copilot en tiempo real.</a:t>
            </a:r>
          </a:p>
        </p:txBody>
      </p:sp>
      <p:sp>
        <p:nvSpPr>
          <p:cNvPr id="4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algunas funciones avanzadas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esta capacidad requiere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1" name="G1Header"/>
          <p:cNvSpPr/>
          <p:nvPr/>
        </p:nvSpPr>
        <p:spPr>
          <a:xfrm>
            <a:off x="6096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F6CBD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Asistente lite</a:t>
            </a:r>
          </a:p>
        </p:txBody>
      </p:sp>
      <p:sp>
        <p:nvSpPr>
          <p:cNvPr id="102" name="G1Panel"/>
          <p:cNvSpPr/>
          <p:nvPr/>
        </p:nvSpPr>
        <p:spPr>
          <a:xfrm>
            <a:off x="6096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03" name="G1A1Icon"/>
          <p:cNvSpPr/>
          <p:nvPr/>
        </p:nvSpPr>
        <p:spPr>
          <a:xfrm>
            <a:off x="8096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64B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400" b="1" dirty="0">
                <a:solidFill>
                  <a:srgbClr val="FFFFFF"/>
                </a:solidFill>
                <a:latin typeface="Segoe UI Symbol" pitchFamily="34" charset="0"/>
                <a:cs typeface="Segoe UI Symbol" pitchFamily="34" charset="0"/>
              </a:rPr>
              <a:t>O</a:t>
            </a:r>
          </a:p>
        </p:txBody>
      </p:sp>
      <p:sp>
        <p:nvSpPr>
          <p:cNvPr id="104" name="G1A1Name"/>
          <p:cNvSpPr/>
          <p:nvPr/>
        </p:nvSpPr>
        <p:spPr>
          <a:xfrm>
            <a:off x="16096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</a:rPr>
              <a:t>OneDrive</a:t>
            </a:r>
          </a:p>
        </p:txBody>
      </p:sp>
      <p:sp>
        <p:nvSpPr>
          <p:cNvPr id="105" name="G1A1Desc"/>
          <p:cNvSpPr/>
          <p:nvPr/>
        </p:nvSpPr>
        <p:spPr>
          <a:xfrm>
            <a:off x="16096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Pregunta y resume tus archivos sin abrirlos.</a:t>
            </a:r>
          </a:p>
        </p:txBody>
      </p:sp>
      <p:sp>
        <p:nvSpPr>
          <p:cNvPr id="106" name="G1A2Icon"/>
          <p:cNvSpPr/>
          <p:nvPr/>
        </p:nvSpPr>
        <p:spPr>
          <a:xfrm>
            <a:off x="8096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838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S</a:t>
            </a:r>
          </a:p>
        </p:txBody>
      </p:sp>
      <p:sp>
        <p:nvSpPr>
          <p:cNvPr id="107" name="G1A2Name"/>
          <p:cNvSpPr/>
          <p:nvPr/>
        </p:nvSpPr>
        <p:spPr>
          <a:xfrm>
            <a:off x="16096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SharePoint</a:t>
            </a:r>
          </a:p>
        </p:txBody>
      </p:sp>
      <p:sp>
        <p:nvSpPr>
          <p:cNvPr id="108" name="G1A2Desc"/>
          <p:cNvSpPr/>
          <p:nvPr/>
        </p:nvSpPr>
        <p:spPr>
          <a:xfrm>
            <a:off x="16096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Encuentra y resume contenido de tus sitios.</a:t>
            </a:r>
          </a:p>
        </p:txBody>
      </p:sp>
      <p:sp>
        <p:nvSpPr>
          <p:cNvPr id="109" name="G2Header"/>
          <p:cNvSpPr/>
          <p:nvPr/>
        </p:nvSpPr>
        <p:spPr>
          <a:xfrm>
            <a:off x="43472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7A4FBF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Creación de contenido</a:t>
            </a:r>
          </a:p>
        </p:txBody>
      </p:sp>
      <p:sp>
        <p:nvSpPr>
          <p:cNvPr id="110" name="G2Panel"/>
          <p:cNvSpPr/>
          <p:nvPr/>
        </p:nvSpPr>
        <p:spPr>
          <a:xfrm>
            <a:off x="43472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11" name="G2A1Icon"/>
          <p:cNvSpPr/>
          <p:nvPr/>
        </p:nvSpPr>
        <p:spPr>
          <a:xfrm>
            <a:off x="4547200" y="2311666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B579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12" name="G2A1Name"/>
          <p:cNvSpPr/>
          <p:nvPr/>
        </p:nvSpPr>
        <p:spPr>
          <a:xfrm>
            <a:off x="5347200" y="2301666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13" name="G2A1Desc"/>
          <p:cNvSpPr/>
          <p:nvPr/>
        </p:nvSpPr>
        <p:spPr>
          <a:xfrm>
            <a:off x="5347200" y="2621666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Redacta, resume y reescribe documentos.</a:t>
            </a:r>
          </a:p>
        </p:txBody>
      </p:sp>
      <p:sp>
        <p:nvSpPr>
          <p:cNvPr id="114" name="G2A2Icon"/>
          <p:cNvSpPr/>
          <p:nvPr/>
        </p:nvSpPr>
        <p:spPr>
          <a:xfrm>
            <a:off x="4547200" y="3574999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173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115" name="G2A2Name"/>
          <p:cNvSpPr/>
          <p:nvPr/>
        </p:nvSpPr>
        <p:spPr>
          <a:xfrm>
            <a:off x="5347200" y="3564999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116" name="G2A2Desc"/>
          <p:cNvSpPr/>
          <p:nvPr/>
        </p:nvSpPr>
        <p:spPr>
          <a:xfrm>
            <a:off x="5347200" y="3884999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Analiza datos y crea fórmulas y gráficos.</a:t>
            </a:r>
          </a:p>
        </p:txBody>
      </p:sp>
      <p:sp>
        <p:nvSpPr>
          <p:cNvPr id="117" name="G2A3Icon"/>
          <p:cNvSpPr/>
          <p:nvPr/>
        </p:nvSpPr>
        <p:spPr>
          <a:xfrm>
            <a:off x="4547200" y="4838332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D2472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118" name="G2A3Name"/>
          <p:cNvSpPr/>
          <p:nvPr/>
        </p:nvSpPr>
        <p:spPr>
          <a:xfrm>
            <a:off x="5347200" y="4828332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119" name="G2A3Desc"/>
          <p:cNvSpPr/>
          <p:nvPr/>
        </p:nvSpPr>
        <p:spPr>
          <a:xfrm>
            <a:off x="5347200" y="5148332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Genera presentaciones desde un documento.</a:t>
            </a:r>
          </a:p>
        </p:txBody>
      </p:sp>
      <p:sp>
        <p:nvSpPr>
          <p:cNvPr id="120" name="G3Header"/>
          <p:cNvSpPr/>
          <p:nvPr/>
        </p:nvSpPr>
        <p:spPr>
          <a:xfrm>
            <a:off x="80848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E7490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Comunicación</a:t>
            </a:r>
            <a:endParaRPr lang="es-ES" sz="15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21" name="G3Panel"/>
          <p:cNvSpPr/>
          <p:nvPr/>
        </p:nvSpPr>
        <p:spPr>
          <a:xfrm>
            <a:off x="80848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22" name="G3A1Icon"/>
          <p:cNvSpPr/>
          <p:nvPr/>
        </p:nvSpPr>
        <p:spPr>
          <a:xfrm>
            <a:off x="82848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078D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123" name="G3A1Name"/>
          <p:cNvSpPr/>
          <p:nvPr/>
        </p:nvSpPr>
        <p:spPr>
          <a:xfrm>
            <a:off x="90848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124" name="G3A1Desc"/>
          <p:cNvSpPr/>
          <p:nvPr/>
        </p:nvSpPr>
        <p:spPr>
          <a:xfrm>
            <a:off x="90848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correos y redacta respuestas.</a:t>
            </a:r>
          </a:p>
        </p:txBody>
      </p:sp>
      <p:sp>
        <p:nvSpPr>
          <p:cNvPr id="125" name="G3A2Icon"/>
          <p:cNvSpPr/>
          <p:nvPr/>
        </p:nvSpPr>
        <p:spPr>
          <a:xfrm>
            <a:off x="82848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6264A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126" name="G3A2Name"/>
          <p:cNvSpPr/>
          <p:nvPr/>
        </p:nvSpPr>
        <p:spPr>
          <a:xfrm>
            <a:off x="90848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127" name="G3A2Desc"/>
          <p:cNvSpPr/>
          <p:nvPr/>
        </p:nvSpPr>
        <p:spPr>
          <a:xfrm>
            <a:off x="90848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reuniones y genera actas.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470000"/>
            <a:ext cx="102412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600" b="1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Subtitle"/>
          <p:cNvSpPr/>
          <p:nvPr/>
        </p:nvSpPr>
        <p:spPr>
          <a:xfrm>
            <a:off x="975360" y="1120000"/>
            <a:ext cx="10241280" cy="43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  <a:cs typeface="Segoe UI"/>
              </a:rPr>
              <a:t>Lo que hoy parece un atajo puede convertirse mañana en una decisión con consecuencias reales para las personas, los datos y la propia organización.</a:t>
            </a:r>
          </a:p>
        </p:txBody>
      </p:sp>
      <p:sp>
        <p:nvSpPr>
          <p:cNvPr id="40" name="Card0BG"/>
          <p:cNvSpPr/>
          <p:nvPr/>
        </p:nvSpPr>
        <p:spPr>
          <a:xfrm>
            <a:off x="97536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Card0Band"/>
          <p:cNvSpPr/>
          <p:nvPr/>
        </p:nvSpPr>
        <p:spPr>
          <a:xfrm>
            <a:off x="975360" y="1760000"/>
            <a:ext cx="2410320" cy="60960"/>
          </a:xfrm>
          <a:prstGeom prst="rect">
            <a:avLst/>
          </a:prstGeom>
          <a:solidFill>
            <a:srgbClr val="6E2EB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ard0Icon"/>
          <p:cNvSpPr/>
          <p:nvPr/>
        </p:nvSpPr>
        <p:spPr>
          <a:xfrm>
            <a:off x="1175360" y="1960000"/>
            <a:ext cx="420000" cy="420000"/>
          </a:xfrm>
          <a:prstGeom prst="ellipse">
            <a:avLst/>
          </a:prstGeom>
          <a:solidFill>
            <a:srgbClr val="6E2EB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☺</a:t>
            </a:r>
          </a:p>
        </p:txBody>
      </p:sp>
      <p:sp>
        <p:nvSpPr>
          <p:cNvPr id="43" name="Card0Title"/>
          <p:cNvSpPr/>
          <p:nvPr/>
        </p:nvSpPr>
        <p:spPr>
          <a:xfrm>
            <a:off x="117536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Afecta a personas reales</a:t>
            </a:r>
          </a:p>
        </p:txBody>
      </p:sp>
      <p:sp>
        <p:nvSpPr>
          <p:cNvPr id="44" name="Card0Desc"/>
          <p:cNvSpPr/>
          <p:nvPr/>
        </p:nvSpPr>
        <p:spPr>
          <a:xfrm>
            <a:off x="117536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45" name="Card1BG"/>
          <p:cNvSpPr/>
          <p:nvPr/>
        </p:nvSpPr>
        <p:spPr>
          <a:xfrm>
            <a:off x="358568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6" name="Card1Band"/>
          <p:cNvSpPr/>
          <p:nvPr/>
        </p:nvSpPr>
        <p:spPr>
          <a:xfrm>
            <a:off x="3585680" y="1760000"/>
            <a:ext cx="2410320" cy="609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Card1Icon"/>
          <p:cNvSpPr/>
          <p:nvPr/>
        </p:nvSpPr>
        <p:spPr>
          <a:xfrm>
            <a:off x="3785680" y="1960000"/>
            <a:ext cx="420000" cy="4200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✧</a:t>
            </a:r>
          </a:p>
        </p:txBody>
      </p:sp>
      <p:sp>
        <p:nvSpPr>
          <p:cNvPr id="48" name="Card1Title"/>
          <p:cNvSpPr/>
          <p:nvPr/>
        </p:nvSpPr>
        <p:spPr>
          <a:xfrm>
            <a:off x="378568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Construye o destruye confianza</a:t>
            </a:r>
          </a:p>
        </p:txBody>
      </p:sp>
      <p:sp>
        <p:nvSpPr>
          <p:cNvPr id="49" name="Card1Desc"/>
          <p:cNvSpPr/>
          <p:nvPr/>
        </p:nvSpPr>
        <p:spPr>
          <a:xfrm>
            <a:off x="378568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50" name="Card2BG"/>
          <p:cNvSpPr/>
          <p:nvPr/>
        </p:nvSpPr>
        <p:spPr>
          <a:xfrm>
            <a:off x="619600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Card2Band"/>
          <p:cNvSpPr/>
          <p:nvPr/>
        </p:nvSpPr>
        <p:spPr>
          <a:xfrm>
            <a:off x="6196000" y="1760000"/>
            <a:ext cx="2410320" cy="609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2" name="Card2Icon"/>
          <p:cNvSpPr/>
          <p:nvPr/>
        </p:nvSpPr>
        <p:spPr>
          <a:xfrm>
            <a:off x="6396000" y="1960000"/>
            <a:ext cx="420000" cy="4200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➜</a:t>
            </a:r>
          </a:p>
        </p:txBody>
      </p:sp>
      <p:sp>
        <p:nvSpPr>
          <p:cNvPr id="53" name="Card2Title"/>
          <p:cNvSpPr/>
          <p:nvPr/>
        </p:nvSpPr>
        <p:spPr>
          <a:xfrm>
            <a:off x="639600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Define la cultura del mañana</a:t>
            </a:r>
          </a:p>
        </p:txBody>
      </p:sp>
      <p:sp>
        <p:nvSpPr>
          <p:cNvPr id="54" name="Card2Desc"/>
          <p:cNvSpPr/>
          <p:nvPr/>
        </p:nvSpPr>
        <p:spPr>
          <a:xfrm>
            <a:off x="639600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sp>
        <p:nvSpPr>
          <p:cNvPr id="55" name="Card3BG"/>
          <p:cNvSpPr/>
          <p:nvPr/>
        </p:nvSpPr>
        <p:spPr>
          <a:xfrm>
            <a:off x="880632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6" name="Card3Band"/>
          <p:cNvSpPr/>
          <p:nvPr/>
        </p:nvSpPr>
        <p:spPr>
          <a:xfrm>
            <a:off x="8806320" y="1760000"/>
            <a:ext cx="2410320" cy="609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7" name="Card3Icon"/>
          <p:cNvSpPr/>
          <p:nvPr/>
        </p:nvSpPr>
        <p:spPr>
          <a:xfrm>
            <a:off x="9006320" y="1960000"/>
            <a:ext cx="420000" cy="420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⚖</a:t>
            </a:r>
          </a:p>
        </p:txBody>
      </p:sp>
      <p:sp>
        <p:nvSpPr>
          <p:cNvPr id="58" name="Card3Title"/>
          <p:cNvSpPr/>
          <p:nvPr/>
        </p:nvSpPr>
        <p:spPr>
          <a:xfrm>
            <a:off x="900632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Cumplir la legislación vigente</a:t>
            </a:r>
          </a:p>
        </p:txBody>
      </p:sp>
      <p:sp>
        <p:nvSpPr>
          <p:cNvPr id="59" name="Card3Desc"/>
          <p:cNvSpPr/>
          <p:nvPr/>
        </p:nvSpPr>
        <p:spPr>
          <a:xfrm>
            <a:off x="900632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Respeta el marco legal: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RGPD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,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Reglamento de IA de la UE (AI Act)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 y marcos como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NIST AI RMF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60" name="LegalBG"/>
          <p:cNvSpPr/>
          <p:nvPr/>
        </p:nvSpPr>
        <p:spPr>
          <a:xfrm>
            <a:off x="975360" y="4640000"/>
            <a:ext cx="10241280" cy="1500000"/>
          </a:xfrm>
          <a:prstGeom prst="roundRect">
            <a:avLst>
              <a:gd name="adj" fmla="val 5405"/>
            </a:avLst>
          </a:prstGeom>
          <a:solidFill>
            <a:srgbClr val="FFF7ED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LegalAccent"/>
          <p:cNvSpPr/>
          <p:nvPr/>
        </p:nvSpPr>
        <p:spPr>
          <a:xfrm>
            <a:off x="975360" y="4640000"/>
            <a:ext cx="100000" cy="1500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2" name="LegalIcon"/>
          <p:cNvSpPr/>
          <p:nvPr/>
        </p:nvSpPr>
        <p:spPr>
          <a:xfrm>
            <a:off x="1295360" y="4920000"/>
            <a:ext cx="560000" cy="5600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400" b="1">
                <a:solidFill>
                  <a:srgbClr val="FFFFFF"/>
                </a:solidFill>
                <a:latin typeface="Segoe UI Symbol"/>
                <a:cs typeface="Segoe UI Symbol"/>
              </a:rPr>
              <a:t>⚠</a:t>
            </a:r>
          </a:p>
        </p:txBody>
      </p:sp>
      <p:sp>
        <p:nvSpPr>
          <p:cNvPr id="63" name="LegalTitle"/>
          <p:cNvSpPr/>
          <p:nvPr/>
        </p:nvSpPr>
        <p:spPr>
          <a:xfrm>
            <a:off x="2055360" y="4860000"/>
            <a:ext cx="900000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EA580C"/>
                </a:solidFill>
                <a:latin typeface="Segoe UI Semibold"/>
                <a:cs typeface="Segoe UI Semibold"/>
              </a:rPr>
              <a:t>Evita la dependencia excesiva de los asistentes de IA</a:t>
            </a:r>
          </a:p>
        </p:txBody>
      </p:sp>
      <p:sp>
        <p:nvSpPr>
          <p:cNvPr id="64" name="LegalDesc"/>
          <p:cNvSpPr/>
          <p:nvPr/>
        </p:nvSpPr>
        <p:spPr>
          <a:xfrm>
            <a:off x="2055360" y="5280000"/>
            <a:ext cx="9000000" cy="7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El asistente acelera el trabajo, pero no puede sustituir el juicio propio.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Revisa, cuestiona y valida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 siempre lo que genera la IA: contrasta los datos, detecta errores o sesgos y conserva tu criterio profesional. La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decisión final siempre es humana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Agentes de IA</a:t>
            </a:r>
            <a:endParaRPr kumimoji="0" lang="en-US" sz="5200" b="0" i="0" u="none" strike="noStrike" kern="1200" cap="none" spc="300" normalizeH="0" baseline="0" noProof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/>
          </a:p>
        </p:txBody>
      </p:sp>
      <p:pic>
        <p:nvPicPr>
          <p:cNvPr id="2" name="TopBar" descr="Imagen relacionada con ¿Qué es un agente de I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>
                <a:latin typeface="Segoe UI Semibold"/>
                <a:ea typeface="Segoe UI Semibold"/>
                <a:cs typeface="Segoe UI Semibold"/>
              </a:rPr>
              <a:t>¿Qué es un </a:t>
            </a:r>
            <a:r>
              <a:rPr lang="es-ES" sz="320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agente de IA</a:t>
            </a:r>
            <a:r>
              <a:rPr lang="es-ES" sz="3200" b="1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Definen el propósito, el comportamiento y el tono del agente, y las reglas que debe seguir al responder.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>
                <a:solidFill>
                  <a:srgbClr val="FFFFFF"/>
                </a:solidFill>
                <a:latin typeface="Segoe UI Semibold"/>
                <a:cs typeface="Segoe UI Semibold"/>
              </a:rPr>
              <a:t>Asistente especializado</a:t>
            </a:r>
            <a:endParaRPr lang="es-ES" sz="1600" b="1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Combina el LLM de Copilot con instrucciones, conocimiento y acciones.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Datos y fuentes que el agente consulta: archivos de SharePoint, Microsoft Graph, sitios web o bases internas.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un agente de IA?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Instrucciones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Conocimiento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Acciones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Conectores y APIs que permiten al agente actuar: enviar correos, crear tareas o actualizar registros.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>
                <a:solidFill>
                  <a:srgbClr val="1E293B"/>
                </a:solidFill>
                <a:latin typeface="Segoe UI Semibold"/>
                <a:cs typeface="Segoe UI Semibold"/>
              </a:rPr>
              <a:t>Tipos de agentes en Microsoft 365 Copilot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Dos enfoques para construir agentes según el grado de control y personalización que necesites.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Agentes declarativos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Mismo orquestador y modelos que Copilot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Tú aportas instrucciones, conocimiento y acciones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Se crean sin código en Copilot Studio</a:t>
            </a:r>
            <a:endParaRPr lang="es-ES" sz="160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Adaptan Copilot a un dominio concreto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Rápidos de publicar y mantener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Heredan la seguridad de Copilot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Agentes con motor propio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Aportas tus propios modelos y orquestación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 total del comportamiento y la lógica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Se construyen en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Foundry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o con código en Agent Framework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escenarios complejos o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multiagente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Se publican y gobiernan desde el Agent Store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Recuerda: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ambos tipos respetan los permisos de cada usuario en Microsoft Graph y la protección de datos empresariales.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>
                <a:solidFill>
                  <a:srgbClr val="1E293B"/>
                </a:solidFill>
                <a:latin typeface="Segoe UI Semibold"/>
              </a:rPr>
              <a:t>Crea un agente con </a:t>
            </a:r>
            <a:r>
              <a:rPr lang="es-ES" sz="3000" b="1">
                <a:latin typeface="Segoe UI Semibold"/>
              </a:rPr>
              <a:t>Copilot Studio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Una plataforma low-code para diseñar, probar y publicar agentes en pocos pasos.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De la idea al agente en producción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Describe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Conecta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Activa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Publica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Define el propósito y las instrucciones del agente en lenguaje natural.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Añade conocimiento: SharePoint, Microsoft Graph, sitios web o tus datos.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Conecta acciones y herramientas mediante conectores, APIs y flujos.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Prueba el agente y publícalo en el Agent Store para tu organización.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Gobernanza y control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Autonomía bajo control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Permisos acotados y respeto a Microsoft Graph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Agentes autónomos con disparadores y guardarraíles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Supervisión y ciclo de vida con Agent 365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Agentes de razonamiento: </a:t>
            </a:r>
            <a:r>
              <a:rPr lang="es-ES" sz="32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Researcher y Analyst</a:t>
            </a:r>
            <a:endParaRPr lang="es-ES" sz="320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Dos agentes de razonamiento incluidos con licencia de Microsoft 365 Copilot que analizan tus datos de trabajo y la web para resolver tareas complejas de varios pasos.</a:t>
            </a:r>
            <a:endParaRPr lang="es-ES" sz="160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R</a:t>
            </a:r>
            <a:endParaRPr lang="en-US" sz="280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Researcher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Aborda investigaciones complejas combinando el modelo de deep research de OpenAI con la orquestación y la búsqueda profunda de Copilot.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“Crea un plan de entrada al mercado analizando mis correos, reuniones y archivos junto con datos públicos del sector.”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A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Analyst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Razona sobre tus datos como un analista experto: convierte información en bruto en perspectivas y ejecuta análisis avanzados con Python.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“Analiza estas hojas de cálculo de ventas, detecta tendencias y genera un resumen con las cifras clave del trimestre.”</a:t>
            </a:r>
            <a:endParaRPr lang="es-ES" sz="1300"/>
          </a:p>
        </p:txBody>
      </p:sp>
      <p:pic>
        <p:nvPicPr>
          <p:cNvPr id="16" name="Image 0" descr="Banda decorativa superior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uso de agentes por área</a:t>
            </a:r>
            <a:endParaRPr lang="en-US" sz="32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Los agentes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automatizan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lo rutinario; la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decisión final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es siempre humana</a:t>
            </a:r>
            <a:r>
              <a:rPr lang="es-ES" sz="16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286075"/>
              </p:ext>
            </p:extLst>
          </p:nvPr>
        </p:nvGraphicFramePr>
        <p:xfrm>
          <a:off x="1915807" y="1219200"/>
          <a:ext cx="8360385" cy="301362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Área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Agente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Qué automatiza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Responde consultas frecuentes y crea tickets automáticamente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Ventas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Prospección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Investiga cuentas, prepara reuniones y redacta seguimientos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Recursos Humanos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Onboarding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Resuelve dudas de empleados y guía sus primeros pasos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TI y 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Help desk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Atiende incidencias y automatiza tareas repetitivas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Finanzas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Informes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 datos y genera resúmenes e informes periódicos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Contenido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Investiga tendencias y prepara borradores de campañas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Área</a:t>
            </a:r>
            <a:endParaRPr lang="es-ES" sz="160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Agente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Qué automatiza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Agentes de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Los agentes llevan a Copilot de asistente a colaborador: combinan instrucciones, conocimiento y acciones para automatizar tareas completas, siempre bajo los permisos y el gobierno de tu organización.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es un agente de IA: LLM más instrucciones, conocimiento y acciones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Tipos de agentes: declarativos y con motor propio (custom engine)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Creación de agentes con Copilot Studio y publicación en el Agent Store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Agentes de razonamiento: Researcher y Analyst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Casos de uso por área y gobierno con Microsoft Graph y Agent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Learn — Agentes para Microsoft 365 Copilot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learn.microsoft.com/microsoft-365/copilot/extensibility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Copilot Studio — Crea tus agentes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microsoft.com/microsoft-copilot/microsoft-copilot-studio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Agent Store en Microsoft 365 Copilot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learn.microsoft.com/microsoft-365/copilot/copilot-agent-store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Copilot CoWork</a:t>
            </a:r>
            <a:endParaRPr kumimoji="0" lang="en-US" sz="5200" b="0" i="0" u="none" strike="noStrike" kern="1200" cap="none" spc="300" normalizeH="0" baseline="0" noProof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/>
          </a:p>
        </p:txBody>
      </p:sp>
      <p:pic>
        <p:nvPicPr>
          <p:cNvPr id="2" name="TopBar" descr="Imagen relacionada con ¿Qué es un agente de I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>
                <a:latin typeface="Segoe UI Semibold"/>
                <a:ea typeface="Segoe UI Semibold"/>
                <a:cs typeface="Segoe UI Semibold"/>
              </a:rPr>
              <a:t>¿Qué es </a:t>
            </a:r>
            <a:r>
              <a:rPr lang="es-ES" sz="320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Copilot Cowork</a:t>
            </a:r>
            <a:r>
              <a:rPr lang="es-ES" sz="3200" b="1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Describes en lenguaje natural el resultado que necesitas y Cowork lo convierte en un plan.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>
                <a:solidFill>
                  <a:srgbClr val="FFFFFF"/>
                </a:solidFill>
                <a:latin typeface="Segoe UI Semibold"/>
                <a:cs typeface="Segoe UI Semibold"/>
              </a:rPr>
              <a:t>De asistente a compañero de trabajo</a:t>
            </a:r>
            <a:endParaRPr lang="es-ES" sz="1600" b="1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Planifica, ejecuta y entrega trabajo de varios pasos en Microsoft 365.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Trabaja en segundo plano entre Outlook, Teams, Word y Excel, encadenando los pasos necesarios.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un agente de IA?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Delegas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Planifica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Entrega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Devuelve el trabajo terminado; tú revisas y apruebas cada acción antes de que ocurra.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>
                <a:solidFill>
                  <a:srgbClr val="1E293B"/>
                </a:solidFill>
                <a:latin typeface="Segoe UI Semibold"/>
                <a:cs typeface="Segoe UI Semibold"/>
              </a:rPr>
              <a:t>Qué puede hacer Copilot Cowork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Cowork ejecuta tareas reales de principio a fin en tus aplicaciones de Microsoft 365.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Comunicación y coordinación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Redacta y envía correos en Outlook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Programa reuniones y gestiona tu calendario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Publica mensajes en canales y chats de Teams</a:t>
            </a:r>
            <a:endParaRPr lang="es-ES" sz="160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Busca información en toda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Prepara briefings diarios y resúmenes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Redacta comunicaciones para tus interlocutores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Documentos e investigación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>
                <a:solidFill>
                  <a:srgbClr val="7C3AED"/>
                </a:solidFill>
                <a:latin typeface="Segoe UI Semibold"/>
              </a:rPr>
              <a:t>Crea documentos de Word, Excel, PowerPoint y PDF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Gestiona archivos en OneDrive y SharePoint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err="1">
                <a:solidFill>
                  <a:srgbClr val="1E293B"/>
                </a:solidFill>
                <a:latin typeface="Segoe UI"/>
              </a:rPr>
              <a:t>Realiza investigación profunda en varias fuentes</a:t>
            </a:r>
            <a:endParaRPr lang="es-ES" sz="160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Compila análisis completos y estructurados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Compara y procesa grandes volúmenes de archivos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Recuerda: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Cowork hereda los permisos de cada usuario y tú apruebas cada acción antes de que se ejecute.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>
                <a:solidFill>
                  <a:srgbClr val="1E293B"/>
                </a:solidFill>
                <a:latin typeface="Segoe UI Semibold"/>
              </a:rPr>
              <a:t>Cómo trabajas con </a:t>
            </a:r>
            <a:r>
              <a:rPr lang="es-ES" sz="3000" b="1">
                <a:latin typeface="Segoe UI Semibold"/>
              </a:rPr>
              <a:t>Copilot Cowork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Delegas una tarea y Cowork la lleva a cabo de principio a fin, sin perder el control.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De la intención a la acción en cuatro pasos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Activa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Delega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Ejecuta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Aprueba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Activa el modo Cowork con el conmutador Chat / Cowork en la app de Copilot.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Describe en lenguaje natural el resultado que necesitas obtener.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Cowork crea un plan y trabaja en segundo plano entre tus aplicaciones.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Revisas cada paso y apruebas las acciones antes de que ocurran.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Gobernanza y control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Confianza y supervisión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Hereda los permisos de cada usuario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Apruebas cada acción antes de ejecutarse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Límites de gasto, alertas y controles de administración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 que impulsa a </a:t>
            </a:r>
            <a:r>
              <a:rPr lang="es-ES" sz="32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 Cowork</a:t>
            </a:r>
            <a:endParaRPr lang="es-ES" sz="320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Dos piezas hacen que Cowork actúe con criterio: el contexto de Work IQ y un motor multimodelo que ejecuta.</a:t>
            </a:r>
            <a:endParaRPr lang="es-ES" sz="160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W</a:t>
            </a:r>
            <a:endParaRPr lang="en-US" sz="280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Work IQ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capa de inteligencia que entiende tus datos, herramientas y organización a partir de tu actividad en Microsoft 365.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“Conecta señales de Outlook, Teams, Excel y SharePoint para fundamentar cada tarea.”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M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Multimodelo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Elige el modelo más eficiente para cada tarea; en disponibilidad general usa Opus 4.8 y Sonnet 4.6 de Anthropic.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“Diseño multimodelo: hasta un 30-40% más eficiente por tarea, con el modelo propio Cowork 1 en camino.”</a:t>
            </a:r>
            <a:endParaRPr lang="es-ES" sz="1300"/>
          </a:p>
        </p:txBody>
      </p:sp>
      <p:pic>
        <p:nvPicPr>
          <p:cNvPr id="16" name="Image 0" descr="Banda decorativa superior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uso de Copilot Cowork por área</a:t>
            </a:r>
            <a:endParaRPr lang="en-US" sz="32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Cowork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ejecuta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el trabajo de varios pasos;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tú apruebas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cada acción</a:t>
            </a:r>
            <a:r>
              <a:rPr lang="es-ES" sz="16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86055"/>
              </p:ext>
            </p:extLst>
          </p:nvPr>
        </p:nvGraphicFramePr>
        <p:xfrm>
          <a:off x="1915807" y="1219200"/>
          <a:ext cx="8360385" cy="301362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Área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Tarea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Qué hace Cowork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Ventas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Pipeline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Prioriza oportunidades en riesgo y propone el siguiente paso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Investigación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 tendencias y prepara borradores de campañas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Recursos Humanos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Onboarding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Resuelve dudas de empleados y reúne su documentación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TI y 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Operaciones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Compara archivos entre versiones y documenta los cambios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Finanzas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Informes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 datos y genera resúmenes e informes periódicos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Dirección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Briefings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 informes diarios y resúmenes de reuniones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Área</a:t>
            </a:r>
            <a:endParaRPr lang="es-ES" sz="160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Tarea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Qué hace Cowork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Copilot CoWork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 Cowork lleva a Copilot del chat a la acción: planifica y ejecuta tareas de varios pasos en Microsoft 365, siempre con tu aprobación y bajo el gobierno de tu organización.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es Cowork: de asistente a compañero que planifica, ejecuta y entrega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puede hacer: correos, reuniones, Teams, documentos e investigación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Cómo trabajas con Cowork: activa, delega, ejecuta y aprueba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Lo que lo impulsa: Work IQ para el contexto y un motor multimodelo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Casos de uso por área y gobierno con permisos y aprobaciones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Learn — Copilot Cowork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learn.microsoft.com/microsoft-365/copilot/cowork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365 Blog — Cowork ya disponible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microsoft.com/microsoft-365/blog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Adoption — Escenarios de Cowork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adoption.microsoft.com/copilot/cowork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5978</TotalTime>
  <Words>9378</Words>
  <Application>Microsoft Office PowerPoint</Application>
  <PresentationFormat>Panorámica</PresentationFormat>
  <Paragraphs>931</Paragraphs>
  <Slides>64</Slides>
  <Notes>46</Notes>
  <HiddenSlides>3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64</vt:i4>
      </vt:variant>
    </vt:vector>
  </HeadingPairs>
  <TitlesOfParts>
    <vt:vector size="75" baseType="lpstr">
      <vt:lpstr>Aptos</vt:lpstr>
      <vt:lpstr>Aptos Display</vt:lpstr>
      <vt:lpstr>Arial</vt:lpstr>
      <vt:lpstr>Segoe Sans Text</vt:lpstr>
      <vt:lpstr>Segoe UI</vt:lpstr>
      <vt:lpstr>Segoe UI Emoji</vt:lpstr>
      <vt:lpstr>Segoe UI Semibold</vt:lpstr>
      <vt:lpstr>Segoe UI Symbol</vt:lpstr>
      <vt:lpstr>Wingdings</vt:lpstr>
      <vt:lpstr>Wingdings 2</vt:lpstr>
      <vt:lpstr>Office Theme</vt:lpstr>
      <vt:lpstr>IA Generativa para profesionales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Juan Quijano</cp:lastModifiedBy>
  <cp:revision>67</cp:revision>
  <dcterms:created xsi:type="dcterms:W3CDTF">2026-06-04T08:20:33Z</dcterms:created>
  <dcterms:modified xsi:type="dcterms:W3CDTF">2026-07-02T12:17:20Z</dcterms:modified>
</cp:coreProperties>
</file>